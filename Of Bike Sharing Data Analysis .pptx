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6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7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8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drawings/drawing2.xml" ContentType="application/vnd.openxmlformats-officedocument.drawingml.chartshapes+xml"/>
  <Override PartName="/ppt/notesSlides/notesSlide9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drawings/drawing3.xml" ContentType="application/vnd.openxmlformats-officedocument.drawingml.chartshapes+xml"/>
  <Override PartName="/ppt/notesSlides/notesSlide10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6" r:id="rId6"/>
    <p:sldId id="288" r:id="rId7"/>
    <p:sldId id="277" r:id="rId8"/>
    <p:sldId id="278" r:id="rId9"/>
    <p:sldId id="279" r:id="rId10"/>
    <p:sldId id="280" r:id="rId11"/>
    <p:sldId id="281" r:id="rId12"/>
    <p:sldId id="283" r:id="rId13"/>
    <p:sldId id="282" r:id="rId14"/>
    <p:sldId id="28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52" autoAdjust="0"/>
  </p:normalViewPr>
  <p:slideViewPr>
    <p:cSldViewPr snapToGrid="0" showGuides="1">
      <p:cViewPr varScale="1">
        <p:scale>
          <a:sx n="80" d="100"/>
          <a:sy n="80" d="100"/>
        </p:scale>
        <p:origin x="58" y="110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ni Mor" userId="136ad9d37017ea8a" providerId="LiveId" clId="{2D46EBE9-59D9-4EEC-B737-7A8D751916D7}"/>
    <pc:docChg chg="custSel modSld">
      <pc:chgData name="Roshni Mor" userId="136ad9d37017ea8a" providerId="LiveId" clId="{2D46EBE9-59D9-4EEC-B737-7A8D751916D7}" dt="2025-10-15T20:58:34.129" v="38" actId="255"/>
      <pc:docMkLst>
        <pc:docMk/>
      </pc:docMkLst>
      <pc:sldChg chg="delSp modSp mod">
        <pc:chgData name="Roshni Mor" userId="136ad9d37017ea8a" providerId="LiveId" clId="{2D46EBE9-59D9-4EEC-B737-7A8D751916D7}" dt="2025-10-15T20:58:34.129" v="38" actId="255"/>
        <pc:sldMkLst>
          <pc:docMk/>
          <pc:sldMk cId="2387849042" sldId="256"/>
        </pc:sldMkLst>
        <pc:spChg chg="mod">
          <ac:chgData name="Roshni Mor" userId="136ad9d37017ea8a" providerId="LiveId" clId="{2D46EBE9-59D9-4EEC-B737-7A8D751916D7}" dt="2025-10-15T20:58:34.129" v="38" actId="255"/>
          <ac:spMkLst>
            <pc:docMk/>
            <pc:sldMk cId="2387849042" sldId="256"/>
            <ac:spMk id="2" creationId="{C4300AEF-1595-4419-801B-6E36A33BB8CF}"/>
          </ac:spMkLst>
        </pc:spChg>
        <pc:spChg chg="mod">
          <ac:chgData name="Roshni Mor" userId="136ad9d37017ea8a" providerId="LiveId" clId="{2D46EBE9-59D9-4EEC-B737-7A8D751916D7}" dt="2025-10-15T20:57:35.575" v="1" actId="1076"/>
          <ac:spMkLst>
            <pc:docMk/>
            <pc:sldMk cId="2387849042" sldId="256"/>
            <ac:spMk id="4" creationId="{1C59176D-59A8-4C02-B448-EE01232FB3E7}"/>
          </ac:spMkLst>
        </pc:spChg>
        <pc:spChg chg="mod">
          <ac:chgData name="Roshni Mor" userId="136ad9d37017ea8a" providerId="LiveId" clId="{2D46EBE9-59D9-4EEC-B737-7A8D751916D7}" dt="2025-10-15T20:57:31.801" v="0" actId="1076"/>
          <ac:spMkLst>
            <pc:docMk/>
            <pc:sldMk cId="2387849042" sldId="256"/>
            <ac:spMk id="5" creationId="{A50B1817-3C7F-41BC-8557-7A00C928EE16}"/>
          </ac:spMkLst>
        </pc:spChg>
        <pc:picChg chg="del">
          <ac:chgData name="Roshni Mor" userId="136ad9d37017ea8a" providerId="LiveId" clId="{2D46EBE9-59D9-4EEC-B737-7A8D751916D7}" dt="2025-10-15T20:57:40.878" v="2" actId="478"/>
          <ac:picMkLst>
            <pc:docMk/>
            <pc:sldMk cId="2387849042" sldId="256"/>
            <ac:picMk id="10" creationId="{D7D6377A-A12B-4809-B24A-008F2A7B6DE7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36ad9d37017ea8a/Documents/Complete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36ad9d37017ea8a/Documents/Complete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36ad9d37017ea8a/Documents/Complete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36ad9d37017ea8a/Documents/Complete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36ad9d37017ea8a/Documents/Complete%20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36ad9d37017ea8a/Documents/Complete%20projec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36ad9d37017ea8a/Documents/Complete%20projec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36ad9d37017ea8a/Documents/Complete%20projec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36ad9d37017ea8a/Documents/Complete%20projec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36ad9d37017ea8a/Documents/Complete%20project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36ad9d37017ea8a/Documents/Complete%20project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36ad9d37017ea8a/Documents/Complete%20project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36ad9d37017ea8a/Documents/Complete%20project.xlsx" TargetMode="Externa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chartUserShapes" Target="../drawings/drawing2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36ad9d37017ea8a/Documents/Complete%20project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36ad9d37017ea8a/Documents/Complete%20project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36ad9d37017ea8a/Documents/Complete%20project.xlsx" TargetMode="External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chartUserShapes" Target="../drawings/drawing3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36ad9d37017ea8a/Documents/Complete%20project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lt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Riders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lt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680-48A2-B4F0-3012B1DF83DF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680-48A2-B4F0-3012B1DF83D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effectLst>
                      <a:glow rad="228600">
                        <a:schemeClr val="accent1">
                          <a:satMod val="175000"/>
                          <a:alpha val="40000"/>
                        </a:schemeClr>
                      </a:glo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'charts &amp; tables for entire data'!$A$1002:$B$1002</c:f>
              <c:numCache>
                <c:formatCode>General</c:formatCode>
                <c:ptCount val="2"/>
                <c:pt idx="0">
                  <c:v>4921</c:v>
                </c:pt>
                <c:pt idx="1">
                  <c:v>53383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680-48A2-B4F0-3012B1DF83DF}"/>
            </c:ext>
          </c:extLst>
        </c:ser>
        <c:ser>
          <c:idx val="1"/>
          <c:order val="1"/>
          <c:tx>
            <c:strRef>
              <c:f>'charts &amp; tables for entire data'!$A$1:$B$1</c:f>
              <c:strCache>
                <c:ptCount val="2"/>
                <c:pt idx="0">
                  <c:v>casual</c:v>
                </c:pt>
                <c:pt idx="1">
                  <c:v>registered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A680-48A2-B4F0-3012B1DF83D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effectLst>
                      <a:glow rad="228600">
                        <a:schemeClr val="accent1">
                          <a:satMod val="175000"/>
                          <a:alpha val="40000"/>
                        </a:schemeClr>
                      </a:glo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Lit>
              <c:formatCode>General</c:formatCode>
              <c:ptCount val="1"/>
              <c:pt idx="0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07-A680-48A2-B4F0-3012B1DF83DF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lt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7000"/>
          </a:schemeClr>
        </a:gs>
        <a:gs pos="48000">
          <a:schemeClr val="dk1">
            <a:lumMod val="97000"/>
            <a:lumOff val="3000"/>
          </a:schemeClr>
        </a:gs>
        <a:gs pos="100000">
          <a:schemeClr val="dk1">
            <a:lumMod val="60000"/>
            <a:lumOff val="40000"/>
          </a:schemeClr>
        </a:gs>
      </a:gsLst>
      <a:lin ang="16200000" scaled="1"/>
      <a:tileRect/>
    </a:gradFill>
    <a:ln w="9525" cap="flat" cmpd="sng" algn="ctr">
      <a:noFill/>
      <a:round/>
    </a:ln>
    <a:effectLst/>
  </c:spPr>
  <c:txPr>
    <a:bodyPr/>
    <a:lstStyle/>
    <a:p>
      <a:pPr>
        <a:defRPr>
          <a:solidFill>
            <a:schemeClr val="lt1"/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[Complete project.xlsx]charts &amp; tables for entire data!PivotTable7</c:name>
    <c:fmtId val="62"/>
  </c:pivotSource>
  <c:chart>
    <c:autoTitleDeleted val="0"/>
    <c:pivotFmts>
      <c:pivotFmt>
        <c:idx val="0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cap="none" spc="0" baseline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'charts &amp; tables for entire data'!$O$15</c:f>
              <c:strCache>
                <c:ptCount val="1"/>
                <c:pt idx="0">
                  <c:v>Sum of casual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cap="none" spc="0" baseline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'charts &amp; tables for entire data'!$N$16:$N$23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'charts &amp; tables for entire data'!$O$16:$O$23</c:f>
              <c:numCache>
                <c:formatCode>General</c:formatCode>
                <c:ptCount val="7"/>
                <c:pt idx="0">
                  <c:v>1467</c:v>
                </c:pt>
                <c:pt idx="1">
                  <c:v>532</c:v>
                </c:pt>
                <c:pt idx="2">
                  <c:v>473</c:v>
                </c:pt>
                <c:pt idx="3">
                  <c:v>360</c:v>
                </c:pt>
                <c:pt idx="4">
                  <c:v>326</c:v>
                </c:pt>
                <c:pt idx="5">
                  <c:v>537</c:v>
                </c:pt>
                <c:pt idx="6">
                  <c:v>1226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5F-481B-9DFA-5C1BF40CC17B}"/>
            </c:ext>
          </c:extLst>
        </c:ser>
        <c:ser>
          <c:idx val="1"/>
          <c:order val="1"/>
          <c:tx>
            <c:strRef>
              <c:f>'charts &amp; tables for entire data'!$P$15</c:f>
              <c:strCache>
                <c:ptCount val="1"/>
                <c:pt idx="0">
                  <c:v>Sum of registered</c:v>
                </c:pt>
              </c:strCache>
            </c:strRef>
          </c:tx>
          <c:spPr>
            <a:noFill/>
            <a:ln w="9525" cap="flat" cmpd="sng" algn="ctr">
              <a:solidFill>
                <a:schemeClr val="accent2"/>
              </a:solidFill>
              <a:miter lim="800000"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cap="none" spc="0" baseline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'charts &amp; tables for entire data'!$N$16:$N$23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'charts &amp; tables for entire data'!$P$16:$P$23</c:f>
              <c:numCache>
                <c:formatCode>General</c:formatCode>
                <c:ptCount val="7"/>
                <c:pt idx="0">
                  <c:v>6605</c:v>
                </c:pt>
                <c:pt idx="1">
                  <c:v>7776</c:v>
                </c:pt>
                <c:pt idx="2">
                  <c:v>8149</c:v>
                </c:pt>
                <c:pt idx="3">
                  <c:v>8103</c:v>
                </c:pt>
                <c:pt idx="4">
                  <c:v>8236</c:v>
                </c:pt>
                <c:pt idx="5">
                  <c:v>7981</c:v>
                </c:pt>
                <c:pt idx="6">
                  <c:v>6533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5F-481B-9DFA-5C1BF40CC1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15"/>
        <c:overlap val="-40"/>
        <c:axId val="622053168"/>
        <c:axId val="622065168"/>
      </c:barChart>
      <c:catAx>
        <c:axId val="622053168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baseline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2065168"/>
        <c:crosses val="autoZero"/>
        <c:auto val="1"/>
        <c:lblAlgn val="ctr"/>
        <c:lblOffset val="100"/>
        <c:noMultiLvlLbl val="0"/>
      </c:catAx>
      <c:valAx>
        <c:axId val="622065168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baseline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2053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876271126033871"/>
          <c:y val="7.658344105938257E-2"/>
          <c:w val="0.17597431929641635"/>
          <c:h val="0.1992896014656310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cap="none" spc="0" baseline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b="0" cap="none" spc="0">
          <a:ln w="0"/>
          <a:solidFill>
            <a:schemeClr val="accent1"/>
          </a:solidFill>
          <a:effectLst>
            <a:outerShdw blurRad="38100" dist="25400" dir="5400000" algn="ctr" rotWithShape="0">
              <a:srgbClr val="6E747A">
                <a:alpha val="43000"/>
              </a:srgbClr>
            </a:outerShdw>
          </a:effectLst>
        </a:defRPr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Sunday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0A6-4A85-8DC6-AFB409D6DA35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0A6-4A85-8DC6-AFB409D6DA3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effectLst>
                      <a:glow rad="228600">
                        <a:schemeClr val="accent1">
                          <a:satMod val="175000"/>
                          <a:alpha val="40000"/>
                        </a:schemeClr>
                      </a:glo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'charts &amp; tables for entire data'!$V$5:$W$5</c:f>
              <c:numCache>
                <c:formatCode>0.00%</c:formatCode>
                <c:ptCount val="2"/>
                <c:pt idx="0">
                  <c:v>0.18173934588701685</c:v>
                </c:pt>
                <c:pt idx="1">
                  <c:v>0.8182606541129831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A6-4A85-8DC6-AFB409D6DA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>
          <a:effectLst>
            <a:glow rad="228600">
              <a:schemeClr val="accent1">
                <a:satMod val="175000"/>
                <a:alpha val="40000"/>
              </a:schemeClr>
            </a:glow>
          </a:effectLst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Monday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C1F-4559-80DF-97973F275A4C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C1F-4559-80DF-97973F275A4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effectLst>
                      <a:glow rad="228600">
                        <a:schemeClr val="accent1">
                          <a:satMod val="175000"/>
                          <a:alpha val="40000"/>
                        </a:schemeClr>
                      </a:glo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'charts &amp; tables for entire data'!$V$6:$W$6</c:f>
              <c:numCache>
                <c:formatCode>0.00%</c:formatCode>
                <c:ptCount val="2"/>
                <c:pt idx="0">
                  <c:v>6.4034665382763603E-2</c:v>
                </c:pt>
                <c:pt idx="1">
                  <c:v>0.93596533461723641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C1F-4559-80DF-97973F275A4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>
          <a:effectLst>
            <a:glow rad="228600">
              <a:schemeClr val="accent1">
                <a:satMod val="175000"/>
                <a:alpha val="40000"/>
              </a:schemeClr>
            </a:glow>
          </a:effectLst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Tuesday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2F9-42D8-B4A7-CB4554BCDF75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2F9-42D8-B4A7-CB4554BCDF7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effectLst>
                      <a:glow rad="228600">
                        <a:schemeClr val="accent1">
                          <a:satMod val="175000"/>
                          <a:alpha val="40000"/>
                        </a:schemeClr>
                      </a:glo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'charts &amp; tables for entire data'!$V$7:$W$7</c:f>
              <c:numCache>
                <c:formatCode>0.00%</c:formatCode>
                <c:ptCount val="2"/>
                <c:pt idx="0">
                  <c:v>5.4859661331477613E-2</c:v>
                </c:pt>
                <c:pt idx="1">
                  <c:v>0.94514033866852243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2F9-42D8-B4A7-CB4554BCDF75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>
          <a:effectLst>
            <a:glow rad="228600">
              <a:schemeClr val="accent1">
                <a:satMod val="175000"/>
                <a:alpha val="40000"/>
              </a:schemeClr>
            </a:glow>
          </a:effectLst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Wednesday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FE3-4F93-B02C-8298A3DD06B9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1FE3-4F93-B02C-8298A3DD06B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effectLst>
                      <a:glow rad="228600">
                        <a:schemeClr val="accent1">
                          <a:satMod val="175000"/>
                          <a:alpha val="40000"/>
                        </a:schemeClr>
                      </a:glo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'charts &amp; tables for entire data'!$V$8:$W$8</c:f>
              <c:numCache>
                <c:formatCode>0.00%</c:formatCode>
                <c:ptCount val="2"/>
                <c:pt idx="0">
                  <c:v>4.2538107054236086E-2</c:v>
                </c:pt>
                <c:pt idx="1">
                  <c:v>0.95746189294576389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FE3-4F93-B02C-8298A3DD06B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>
          <a:effectLst>
            <a:glow rad="228600">
              <a:schemeClr val="accent1">
                <a:satMod val="175000"/>
                <a:alpha val="40000"/>
              </a:schemeClr>
            </a:glow>
          </a:effectLst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Thursday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D5D-4097-8988-391D07438A1E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D5D-4097-8988-391D07438A1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effectLst>
                      <a:glow rad="228600">
                        <a:schemeClr val="accent1">
                          <a:satMod val="175000"/>
                          <a:alpha val="40000"/>
                        </a:schemeClr>
                      </a:glo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'charts &amp; tables for entire data'!$V$9:$W$9</c:f>
              <c:numCache>
                <c:formatCode>0.00%</c:formatCode>
                <c:ptCount val="2"/>
                <c:pt idx="0">
                  <c:v>3.8075216071011449E-2</c:v>
                </c:pt>
                <c:pt idx="1">
                  <c:v>0.9619247839289885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D5D-4097-8988-391D07438A1E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>
          <a:effectLst>
            <a:glow rad="228600">
              <a:schemeClr val="accent1">
                <a:satMod val="175000"/>
                <a:alpha val="40000"/>
              </a:schemeClr>
            </a:glow>
          </a:effectLst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Friday</a:t>
            </a:r>
          </a:p>
        </c:rich>
      </c:tx>
      <c:layout>
        <c:manualLayout>
          <c:xMode val="edge"/>
          <c:yMode val="edge"/>
          <c:x val="0.3815473958612316"/>
          <c:y val="4.866180048661800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9E1-4515-B916-1E09EB478F89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9E1-4515-B916-1E09EB478F8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effectLst>
                      <a:glow rad="228600">
                        <a:schemeClr val="accent1">
                          <a:satMod val="175000"/>
                          <a:alpha val="40000"/>
                        </a:schemeClr>
                      </a:glo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'charts &amp; tables for entire data'!$V$10:$W$10</c:f>
              <c:numCache>
                <c:formatCode>0.00%</c:formatCode>
                <c:ptCount val="2"/>
                <c:pt idx="0">
                  <c:v>6.3042967832824606E-2</c:v>
                </c:pt>
                <c:pt idx="1">
                  <c:v>0.93695703216717541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9E1-4515-B916-1E09EB478F8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>
          <a:effectLst>
            <a:glow rad="228600">
              <a:schemeClr val="accent1">
                <a:satMod val="175000"/>
                <a:alpha val="40000"/>
              </a:schemeClr>
            </a:glow>
          </a:effectLst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Saturday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7AC-43B6-99F0-42AFCF5A195F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7AC-43B6-99F0-42AFCF5A195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effectLst>
                      <a:glow rad="228600">
                        <a:schemeClr val="accent1">
                          <a:satMod val="175000"/>
                          <a:alpha val="40000"/>
                        </a:schemeClr>
                      </a:glo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'charts &amp; tables for entire data'!$V$11:$W$11</c:f>
              <c:numCache>
                <c:formatCode>0.00%</c:formatCode>
                <c:ptCount val="2"/>
                <c:pt idx="0">
                  <c:v>0.15801005284186107</c:v>
                </c:pt>
                <c:pt idx="1">
                  <c:v>0.84198994715813891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7AC-43B6-99F0-42AFCF5A195F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>
          <a:effectLst>
            <a:glow rad="228600">
              <a:schemeClr val="accent1">
                <a:satMod val="175000"/>
                <a:alpha val="40000"/>
              </a:schemeClr>
            </a:glow>
          </a:effectLst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0" baseline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Tempareture</a:t>
            </a:r>
            <a:r>
              <a:rPr lang="en-US" baseline="0"/>
              <a:t> chart</a:t>
            </a:r>
          </a:p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0" baseline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'charts &amp; tables for entire data'!$AZ$4</c:f>
              <c:strCache>
                <c:ptCount val="1"/>
                <c:pt idx="0">
                  <c:v>0.02 - 0.08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'charts &amp; tables for entire data'!$BA$3:$BB$3</c:f>
              <c:strCache>
                <c:ptCount val="2"/>
                <c:pt idx="0">
                  <c:v>Registered riders</c:v>
                </c:pt>
                <c:pt idx="1">
                  <c:v>Casual Riders</c:v>
                </c:pt>
              </c:strCache>
            </c:strRef>
          </c:cat>
          <c:val>
            <c:numRef>
              <c:f>'charts &amp; tables for entire data'!$BA$4:$BB$4</c:f>
              <c:numCache>
                <c:formatCode>General</c:formatCode>
                <c:ptCount val="2"/>
                <c:pt idx="0">
                  <c:v>1425</c:v>
                </c:pt>
                <c:pt idx="1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E3-4E3E-AF66-6D4059E6D889}"/>
            </c:ext>
          </c:extLst>
        </c:ser>
        <c:ser>
          <c:idx val="1"/>
          <c:order val="1"/>
          <c:tx>
            <c:strRef>
              <c:f>'charts &amp; tables for entire data'!$AZ$5</c:f>
              <c:strCache>
                <c:ptCount val="1"/>
                <c:pt idx="0">
                  <c:v>0.1 - 0.18</c:v>
                </c:pt>
              </c:strCache>
            </c:strRef>
          </c:tx>
          <c:spPr>
            <a:noFill/>
            <a:ln w="9525" cap="flat" cmpd="sng" algn="ctr">
              <a:solidFill>
                <a:schemeClr val="accent2"/>
              </a:solidFill>
              <a:miter lim="800000"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'charts &amp; tables for entire data'!$BA$3:$BB$3</c:f>
              <c:strCache>
                <c:ptCount val="2"/>
                <c:pt idx="0">
                  <c:v>Registered riders</c:v>
                </c:pt>
                <c:pt idx="1">
                  <c:v>Casual Riders</c:v>
                </c:pt>
              </c:strCache>
            </c:strRef>
          </c:cat>
          <c:val>
            <c:numRef>
              <c:f>'charts &amp; tables for entire data'!$BA$5:$BB$5</c:f>
              <c:numCache>
                <c:formatCode>General</c:formatCode>
                <c:ptCount val="2"/>
                <c:pt idx="0">
                  <c:v>17871</c:v>
                </c:pt>
                <c:pt idx="1">
                  <c:v>884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E3-4E3E-AF66-6D4059E6D889}"/>
            </c:ext>
          </c:extLst>
        </c:ser>
        <c:ser>
          <c:idx val="2"/>
          <c:order val="2"/>
          <c:tx>
            <c:strRef>
              <c:f>'charts &amp; tables for entire data'!$AZ$6</c:f>
              <c:strCache>
                <c:ptCount val="1"/>
                <c:pt idx="0">
                  <c:v>0.2 - 0.28</c:v>
                </c:pt>
              </c:strCache>
            </c:strRef>
          </c:tx>
          <c:spPr>
            <a:noFill/>
            <a:ln w="9525" cap="flat" cmpd="sng" algn="ctr">
              <a:solidFill>
                <a:schemeClr val="accent3"/>
              </a:solidFill>
              <a:miter lim="800000"/>
            </a:ln>
            <a:effectLst>
              <a:glow rad="63500">
                <a:schemeClr val="accent3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'charts &amp; tables for entire data'!$BA$3:$BB$3</c:f>
              <c:strCache>
                <c:ptCount val="2"/>
                <c:pt idx="0">
                  <c:v>Registered riders</c:v>
                </c:pt>
                <c:pt idx="1">
                  <c:v>Casual Riders</c:v>
                </c:pt>
              </c:strCache>
            </c:strRef>
          </c:cat>
          <c:val>
            <c:numRef>
              <c:f>'charts &amp; tables for entire data'!$BA$6:$BB$6</c:f>
              <c:numCache>
                <c:formatCode>General</c:formatCode>
                <c:ptCount val="2"/>
                <c:pt idx="0">
                  <c:v>24099</c:v>
                </c:pt>
                <c:pt idx="1">
                  <c:v>1984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7E3-4E3E-AF66-6D4059E6D889}"/>
            </c:ext>
          </c:extLst>
        </c:ser>
        <c:ser>
          <c:idx val="3"/>
          <c:order val="3"/>
          <c:tx>
            <c:strRef>
              <c:f>'charts &amp; tables for entire data'!$AZ$7</c:f>
              <c:strCache>
                <c:ptCount val="1"/>
                <c:pt idx="0">
                  <c:v>0.3 - 0.38</c:v>
                </c:pt>
              </c:strCache>
            </c:strRef>
          </c:tx>
          <c:spPr>
            <a:noFill/>
            <a:ln w="9525" cap="flat" cmpd="sng" algn="ctr">
              <a:solidFill>
                <a:schemeClr val="accent4"/>
              </a:solidFill>
              <a:miter lim="800000"/>
            </a:ln>
            <a:effectLst>
              <a:glow rad="63500">
                <a:schemeClr val="accent4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'charts &amp; tables for entire data'!$BA$3:$BB$3</c:f>
              <c:strCache>
                <c:ptCount val="2"/>
                <c:pt idx="0">
                  <c:v>Registered riders</c:v>
                </c:pt>
                <c:pt idx="1">
                  <c:v>Casual Riders</c:v>
                </c:pt>
              </c:strCache>
            </c:strRef>
          </c:cat>
          <c:val>
            <c:numRef>
              <c:f>'charts &amp; tables for entire data'!$BA$7:$BB$7</c:f>
              <c:numCache>
                <c:formatCode>General</c:formatCode>
                <c:ptCount val="2"/>
                <c:pt idx="0">
                  <c:v>8298</c:v>
                </c:pt>
                <c:pt idx="1">
                  <c:v>1462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7E3-4E3E-AF66-6D4059E6D889}"/>
            </c:ext>
          </c:extLst>
        </c:ser>
        <c:ser>
          <c:idx val="4"/>
          <c:order val="4"/>
          <c:tx>
            <c:strRef>
              <c:f>'charts &amp; tables for entire data'!$AZ$8</c:f>
              <c:strCache>
                <c:ptCount val="1"/>
                <c:pt idx="0">
                  <c:v>0.4 - 0.46</c:v>
                </c:pt>
              </c:strCache>
            </c:strRef>
          </c:tx>
          <c:spPr>
            <a:noFill/>
            <a:ln w="9525" cap="flat" cmpd="sng" algn="ctr">
              <a:solidFill>
                <a:schemeClr val="accent5"/>
              </a:solidFill>
              <a:miter lim="800000"/>
            </a:ln>
            <a:effectLst>
              <a:glow rad="63500">
                <a:schemeClr val="accent5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'charts &amp; tables for entire data'!$BA$3:$BB$3</c:f>
              <c:strCache>
                <c:ptCount val="2"/>
                <c:pt idx="0">
                  <c:v>Registered riders</c:v>
                </c:pt>
                <c:pt idx="1">
                  <c:v>Casual Riders</c:v>
                </c:pt>
              </c:strCache>
            </c:strRef>
          </c:cat>
          <c:val>
            <c:numRef>
              <c:f>'charts &amp; tables for entire data'!$BA$8:$BB$8</c:f>
              <c:numCache>
                <c:formatCode>General</c:formatCode>
                <c:ptCount val="2"/>
                <c:pt idx="0">
                  <c:v>1463</c:v>
                </c:pt>
                <c:pt idx="1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E3-4E3E-AF66-6D4059E6D8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5"/>
        <c:overlap val="-40"/>
        <c:axId val="1800870544"/>
        <c:axId val="1800871504"/>
      </c:barChart>
      <c:catAx>
        <c:axId val="180087054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baseline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0871504"/>
        <c:crosses val="autoZero"/>
        <c:auto val="1"/>
        <c:lblAlgn val="ctr"/>
        <c:lblOffset val="100"/>
        <c:noMultiLvlLbl val="0"/>
      </c:catAx>
      <c:valAx>
        <c:axId val="1800871504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baseline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0870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cap="none" spc="0" baseline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b="0" cap="none" spc="0">
          <a:ln w="0"/>
          <a:solidFill>
            <a:schemeClr val="accent1"/>
          </a:solidFill>
          <a:effectLst>
            <a:outerShdw blurRad="38100" dist="25400" dir="5400000" algn="ctr" rotWithShape="0">
              <a:srgbClr val="6E747A">
                <a:alpha val="43000"/>
              </a:srgbClr>
            </a:outerShdw>
          </a:effectLst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Registered riders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'charts &amp; tables for entire data'!$BP$5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3653-425C-8CEF-54C86F8FD91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3653-425C-8CEF-54C86F8FD91C}"/>
              </c:ext>
            </c:extLst>
          </c:dPt>
          <c:cat>
            <c:strRef>
              <c:f>'charts &amp; tables for entire data'!$BQ$4:$BR$4</c:f>
              <c:strCache>
                <c:ptCount val="2"/>
                <c:pt idx="0">
                  <c:v>Weekdays</c:v>
                </c:pt>
                <c:pt idx="1">
                  <c:v>Weekends</c:v>
                </c:pt>
              </c:strCache>
            </c:strRef>
          </c:cat>
          <c:val>
            <c:numRef>
              <c:f>'charts &amp; tables for entire data'!$BQ$5:$BR$5</c:f>
              <c:numCache>
                <c:formatCode>General</c:formatCode>
                <c:ptCount val="2"/>
                <c:pt idx="0">
                  <c:v>40245</c:v>
                </c:pt>
                <c:pt idx="1">
                  <c:v>13138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653-425C-8CEF-54C86F8FD9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Casual</a:t>
            </a:r>
            <a:r>
              <a:rPr lang="en-US" baseline="0"/>
              <a:t> riders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'charts &amp; tables for entire data'!$BT$5</c:f>
              <c:strCache>
                <c:ptCount val="1"/>
                <c:pt idx="0">
                  <c:v>Casuals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7A68-4F86-AA3F-3B240A94D49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7A68-4F86-AA3F-3B240A94D494}"/>
              </c:ext>
            </c:extLst>
          </c:dPt>
          <c:cat>
            <c:strRef>
              <c:f>'charts &amp; tables for entire data'!$BU$4:$BV$4</c:f>
              <c:strCache>
                <c:ptCount val="2"/>
                <c:pt idx="0">
                  <c:v>Weekdays</c:v>
                </c:pt>
                <c:pt idx="1">
                  <c:v>Weekends</c:v>
                </c:pt>
              </c:strCache>
            </c:strRef>
          </c:cat>
          <c:val>
            <c:numRef>
              <c:f>'charts &amp; tables for entire data'!$BU$5:$BV$5</c:f>
              <c:numCache>
                <c:formatCode>General</c:formatCode>
                <c:ptCount val="2"/>
                <c:pt idx="0">
                  <c:v>2228</c:v>
                </c:pt>
                <c:pt idx="1">
                  <c:v>2693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68-4F86-AA3F-3B240A94D4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[Complete project.xlsx]charts &amp; tables for entire data!PivotTable8</c:name>
    <c:fmtId val="2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Weather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4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6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7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8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9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2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3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4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7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8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9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2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3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4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7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8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9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'charts &amp; tables for entire data'!$CB$15</c:f>
              <c:strCache>
                <c:ptCount val="1"/>
                <c:pt idx="0">
                  <c:v>Sum of Registered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27F-443D-B63F-B37487318DD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27F-443D-B63F-B37487318DD2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327F-443D-B63F-B37487318DD2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6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327F-443D-B63F-B37487318DD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1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'charts &amp; tables for entire data'!$CA$16:$CA$20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'charts &amp; tables for entire data'!$CB$16:$CB$20</c:f>
              <c:numCache>
                <c:formatCode>General</c:formatCode>
                <c:ptCount val="4"/>
                <c:pt idx="0">
                  <c:v>34162</c:v>
                </c:pt>
                <c:pt idx="1">
                  <c:v>16568</c:v>
                </c:pt>
                <c:pt idx="2">
                  <c:v>2618</c:v>
                </c:pt>
                <c:pt idx="3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27F-443D-B63F-B37487318DD2}"/>
            </c:ext>
          </c:extLst>
        </c:ser>
        <c:ser>
          <c:idx val="1"/>
          <c:order val="1"/>
          <c:tx>
            <c:strRef>
              <c:f>'charts &amp; tables for entire data'!$CC$15</c:f>
              <c:strCache>
                <c:ptCount val="1"/>
                <c:pt idx="0">
                  <c:v>Sum of Casual 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327F-443D-B63F-B37487318DD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327F-443D-B63F-B37487318DD2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327F-443D-B63F-B37487318DD2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6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327F-443D-B63F-B37487318DD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'charts &amp; tables for entire data'!$CA$16:$CA$20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'charts &amp; tables for entire data'!$CC$16:$CC$20</c:f>
              <c:numCache>
                <c:formatCode>General</c:formatCode>
                <c:ptCount val="4"/>
                <c:pt idx="0">
                  <c:v>3211</c:v>
                </c:pt>
                <c:pt idx="1">
                  <c:v>1538</c:v>
                </c:pt>
                <c:pt idx="2">
                  <c:v>171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327F-443D-B63F-B37487318D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0" baseline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'charts &amp; tables for entire data'!$CP$4</c:f>
              <c:strCache>
                <c:ptCount val="1"/>
                <c:pt idx="0">
                  <c:v>Non-holiday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cap="none" spc="0" baseline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'charts &amp; tables for entire data'!$CQ$3:$CR$3</c:f>
              <c:strCache>
                <c:ptCount val="2"/>
                <c:pt idx="0">
                  <c:v>Casual</c:v>
                </c:pt>
                <c:pt idx="1">
                  <c:v>Registered</c:v>
                </c:pt>
              </c:strCache>
            </c:strRef>
          </c:cat>
          <c:val>
            <c:numRef>
              <c:f>'charts &amp; tables for entire data'!$CQ$4:$CR$4</c:f>
              <c:numCache>
                <c:formatCode>General</c:formatCode>
                <c:ptCount val="2"/>
                <c:pt idx="0">
                  <c:v>4804</c:v>
                </c:pt>
                <c:pt idx="1">
                  <c:v>52500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35-459B-AAF2-81EAA49BD6B2}"/>
            </c:ext>
          </c:extLst>
        </c:ser>
        <c:ser>
          <c:idx val="1"/>
          <c:order val="1"/>
          <c:tx>
            <c:strRef>
              <c:f>'charts &amp; tables for entire data'!$CP$5</c:f>
              <c:strCache>
                <c:ptCount val="1"/>
                <c:pt idx="0">
                  <c:v>Holiday</c:v>
                </c:pt>
              </c:strCache>
            </c:strRef>
          </c:tx>
          <c:spPr>
            <a:noFill/>
            <a:ln w="9525" cap="flat" cmpd="sng" algn="ctr">
              <a:solidFill>
                <a:schemeClr val="accent2"/>
              </a:solidFill>
              <a:miter lim="800000"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cap="none" spc="0" baseline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'charts &amp; tables for entire data'!$CQ$3:$CR$3</c:f>
              <c:strCache>
                <c:ptCount val="2"/>
                <c:pt idx="0">
                  <c:v>Casual</c:v>
                </c:pt>
                <c:pt idx="1">
                  <c:v>Registered</c:v>
                </c:pt>
              </c:strCache>
            </c:strRef>
          </c:cat>
          <c:val>
            <c:numRef>
              <c:f>'charts &amp; tables for entire data'!$CQ$5:$CR$5</c:f>
              <c:numCache>
                <c:formatCode>General</c:formatCode>
                <c:ptCount val="2"/>
                <c:pt idx="0">
                  <c:v>117</c:v>
                </c:pt>
                <c:pt idx="1">
                  <c:v>883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35-459B-AAF2-81EAA49BD6B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15"/>
        <c:overlap val="-40"/>
        <c:axId val="194586671"/>
        <c:axId val="194604431"/>
      </c:barChart>
      <c:catAx>
        <c:axId val="194586671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baseline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604431"/>
        <c:crosses val="autoZero"/>
        <c:auto val="1"/>
        <c:lblAlgn val="ctr"/>
        <c:lblOffset val="100"/>
        <c:noMultiLvlLbl val="0"/>
      </c:catAx>
      <c:valAx>
        <c:axId val="194604431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baseline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586671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dk1">
                <a:lumMod val="50000"/>
                <a:lumOff val="50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cap="none" spc="0" baseline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cap="none" spc="0" baseline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b="0" cap="none" spc="0">
          <a:ln w="0"/>
          <a:solidFill>
            <a:schemeClr val="accent1"/>
          </a:solidFill>
          <a:effectLst>
            <a:outerShdw blurRad="38100" dist="25400" dir="5400000" algn="ctr" rotWithShape="0">
              <a:srgbClr val="6E747A">
                <a:alpha val="43000"/>
              </a:srgbClr>
            </a:outerShdw>
          </a:effectLst>
        </a:defRPr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[Complete project.xlsx]Weekday pivot!PivotTable15</c:name>
    <c:fmtId val="2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Registered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4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5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6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7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8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0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1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2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3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4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5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6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8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9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0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1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2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3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'Weekday pivot'!$J$3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noFill/>
              <a:ln w="9525" cap="flat" cmpd="sng" algn="ctr">
                <a:solidFill>
                  <a:schemeClr val="accent1"/>
                </a:solidFill>
                <a:miter lim="800000"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1-E1B9-4A85-9CFD-0CE89B413F72}"/>
              </c:ext>
            </c:extLst>
          </c:dPt>
          <c:dPt>
            <c:idx val="1"/>
            <c:bubble3D val="0"/>
            <c:spPr>
              <a:noFill/>
              <a:ln w="9525" cap="flat" cmpd="sng" algn="ctr">
                <a:solidFill>
                  <a:schemeClr val="accent2"/>
                </a:solidFill>
                <a:miter lim="800000"/>
              </a:ln>
              <a:effectLst>
                <a:glow rad="63500">
                  <a:schemeClr val="accent2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3-E1B9-4A85-9CFD-0CE89B413F72}"/>
              </c:ext>
            </c:extLst>
          </c:dPt>
          <c:dPt>
            <c:idx val="2"/>
            <c:bubble3D val="0"/>
            <c:spPr>
              <a:noFill/>
              <a:ln w="9525" cap="flat" cmpd="sng" algn="ctr">
                <a:solidFill>
                  <a:schemeClr val="accent3"/>
                </a:solidFill>
                <a:miter lim="800000"/>
              </a:ln>
              <a:effectLst>
                <a:glow rad="63500">
                  <a:schemeClr val="accent3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5-E1B9-4A85-9CFD-0CE89B413F72}"/>
              </c:ext>
            </c:extLst>
          </c:dPt>
          <c:dPt>
            <c:idx val="3"/>
            <c:bubble3D val="0"/>
            <c:spPr>
              <a:noFill/>
              <a:ln w="9525" cap="flat" cmpd="sng" algn="ctr">
                <a:solidFill>
                  <a:schemeClr val="accent4"/>
                </a:solidFill>
                <a:miter lim="800000"/>
              </a:ln>
              <a:effectLst>
                <a:glow rad="63500">
                  <a:schemeClr val="accent4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7-E1B9-4A85-9CFD-0CE89B413F72}"/>
              </c:ext>
            </c:extLst>
          </c:dPt>
          <c:dPt>
            <c:idx val="4"/>
            <c:bubble3D val="0"/>
            <c:spPr>
              <a:noFill/>
              <a:ln w="9525" cap="flat" cmpd="sng" algn="ctr">
                <a:solidFill>
                  <a:schemeClr val="accent5"/>
                </a:solidFill>
                <a:miter lim="800000"/>
              </a:ln>
              <a:effectLst>
                <a:glow rad="63500">
                  <a:schemeClr val="accent5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9-E1B9-4A85-9CFD-0CE89B413F72}"/>
              </c:ext>
            </c:extLst>
          </c:dPt>
          <c:dPt>
            <c:idx val="5"/>
            <c:bubble3D val="0"/>
            <c:spPr>
              <a:noFill/>
              <a:ln w="9525" cap="flat" cmpd="sng" algn="ctr">
                <a:solidFill>
                  <a:schemeClr val="accent6"/>
                </a:solidFill>
                <a:miter lim="800000"/>
              </a:ln>
              <a:effectLst>
                <a:glow rad="63500">
                  <a:schemeClr val="accent6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B-E1B9-4A85-9CFD-0CE89B413F72}"/>
              </c:ext>
            </c:extLst>
          </c:dPt>
          <c:dPt>
            <c:idx val="6"/>
            <c:bubble3D val="0"/>
            <c:spPr>
              <a:noFill/>
              <a:ln w="9525" cap="flat" cmpd="sng" algn="ctr">
                <a:solidFill>
                  <a:schemeClr val="accent1">
                    <a:lumMod val="60000"/>
                  </a:schemeClr>
                </a:solidFill>
                <a:miter lim="800000"/>
              </a:ln>
              <a:effectLst>
                <a:glow rad="63500">
                  <a:schemeClr val="accent1">
                    <a:lumMod val="60000"/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D-E1B9-4A85-9CFD-0CE89B413F7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50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'Weekday pivot'!$I$4:$I$11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'Weekday pivot'!$J$4:$J$11</c:f>
              <c:numCache>
                <c:formatCode>General</c:formatCode>
                <c:ptCount val="7"/>
                <c:pt idx="0">
                  <c:v>6605</c:v>
                </c:pt>
                <c:pt idx="1">
                  <c:v>7776</c:v>
                </c:pt>
                <c:pt idx="2">
                  <c:v>8149</c:v>
                </c:pt>
                <c:pt idx="3">
                  <c:v>8103</c:v>
                </c:pt>
                <c:pt idx="4">
                  <c:v>8236</c:v>
                </c:pt>
                <c:pt idx="5">
                  <c:v>7981</c:v>
                </c:pt>
                <c:pt idx="6">
                  <c:v>6533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1B9-4A85-9CFD-0CE89B413F7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[Complete project.xlsx]Weekday pivot!PivotTable9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Casual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6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7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8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9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0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1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2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3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4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5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6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7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8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9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1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2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3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4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5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6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7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9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0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1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2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3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4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5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7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8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9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40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41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42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43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45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46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47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48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49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50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'Weekday pivot'!$B$3</c:f>
              <c:strCache>
                <c:ptCount val="1"/>
                <c:pt idx="0">
                  <c:v>Sum of casual</c:v>
                </c:pt>
              </c:strCache>
            </c:strRef>
          </c:tx>
          <c:dPt>
            <c:idx val="0"/>
            <c:bubble3D val="0"/>
            <c:spPr>
              <a:noFill/>
              <a:ln w="9525" cap="flat" cmpd="sng" algn="ctr">
                <a:solidFill>
                  <a:schemeClr val="accent1"/>
                </a:solidFill>
                <a:miter lim="800000"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1-A9A0-4601-AFE5-D3D2F8BD57C7}"/>
              </c:ext>
            </c:extLst>
          </c:dPt>
          <c:dPt>
            <c:idx val="1"/>
            <c:bubble3D val="0"/>
            <c:spPr>
              <a:noFill/>
              <a:ln w="9525" cap="flat" cmpd="sng" algn="ctr">
                <a:solidFill>
                  <a:schemeClr val="accent2"/>
                </a:solidFill>
                <a:miter lim="800000"/>
              </a:ln>
              <a:effectLst>
                <a:glow rad="63500">
                  <a:schemeClr val="accent2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3-A9A0-4601-AFE5-D3D2F8BD57C7}"/>
              </c:ext>
            </c:extLst>
          </c:dPt>
          <c:dPt>
            <c:idx val="2"/>
            <c:bubble3D val="0"/>
            <c:spPr>
              <a:noFill/>
              <a:ln w="9525" cap="flat" cmpd="sng" algn="ctr">
                <a:solidFill>
                  <a:schemeClr val="accent3"/>
                </a:solidFill>
                <a:miter lim="800000"/>
              </a:ln>
              <a:effectLst>
                <a:glow rad="63500">
                  <a:schemeClr val="accent3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5-A9A0-4601-AFE5-D3D2F8BD57C7}"/>
              </c:ext>
            </c:extLst>
          </c:dPt>
          <c:dPt>
            <c:idx val="3"/>
            <c:bubble3D val="0"/>
            <c:spPr>
              <a:noFill/>
              <a:ln w="9525" cap="flat" cmpd="sng" algn="ctr">
                <a:solidFill>
                  <a:schemeClr val="accent4"/>
                </a:solidFill>
                <a:miter lim="800000"/>
              </a:ln>
              <a:effectLst>
                <a:glow rad="63500">
                  <a:schemeClr val="accent4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7-A9A0-4601-AFE5-D3D2F8BD57C7}"/>
              </c:ext>
            </c:extLst>
          </c:dPt>
          <c:dPt>
            <c:idx val="4"/>
            <c:bubble3D val="0"/>
            <c:spPr>
              <a:noFill/>
              <a:ln w="9525" cap="flat" cmpd="sng" algn="ctr">
                <a:solidFill>
                  <a:schemeClr val="accent5"/>
                </a:solidFill>
                <a:miter lim="800000"/>
              </a:ln>
              <a:effectLst>
                <a:glow rad="63500">
                  <a:schemeClr val="accent5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9-A9A0-4601-AFE5-D3D2F8BD57C7}"/>
              </c:ext>
            </c:extLst>
          </c:dPt>
          <c:dPt>
            <c:idx val="5"/>
            <c:bubble3D val="0"/>
            <c:spPr>
              <a:noFill/>
              <a:ln w="9525" cap="flat" cmpd="sng" algn="ctr">
                <a:solidFill>
                  <a:schemeClr val="accent6"/>
                </a:solidFill>
                <a:miter lim="800000"/>
              </a:ln>
              <a:effectLst>
                <a:glow rad="63500">
                  <a:schemeClr val="accent6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B-A9A0-4601-AFE5-D3D2F8BD57C7}"/>
              </c:ext>
            </c:extLst>
          </c:dPt>
          <c:dPt>
            <c:idx val="6"/>
            <c:bubble3D val="0"/>
            <c:spPr>
              <a:noFill/>
              <a:ln w="9525" cap="flat" cmpd="sng" algn="ctr">
                <a:solidFill>
                  <a:schemeClr val="accent1">
                    <a:lumMod val="60000"/>
                  </a:schemeClr>
                </a:solidFill>
                <a:miter lim="800000"/>
              </a:ln>
              <a:effectLst>
                <a:glow rad="63500">
                  <a:schemeClr val="accent1">
                    <a:lumMod val="60000"/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D-A9A0-4601-AFE5-D3D2F8BD57C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50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'Weekday pivot'!$A$4:$A$11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'Weekday pivot'!$B$4:$B$11</c:f>
              <c:numCache>
                <c:formatCode>General</c:formatCode>
                <c:ptCount val="7"/>
                <c:pt idx="0">
                  <c:v>1467</c:v>
                </c:pt>
                <c:pt idx="1">
                  <c:v>532</c:v>
                </c:pt>
                <c:pt idx="2">
                  <c:v>473</c:v>
                </c:pt>
                <c:pt idx="3">
                  <c:v>360</c:v>
                </c:pt>
                <c:pt idx="4">
                  <c:v>326</c:v>
                </c:pt>
                <c:pt idx="5">
                  <c:v>537</c:v>
                </c:pt>
                <c:pt idx="6">
                  <c:v>1226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9A0-4601-AFE5-D3D2F8BD57C7}"/>
            </c:ext>
          </c:extLst>
        </c:ser>
        <c:ser>
          <c:idx val="1"/>
          <c:order val="1"/>
          <c:tx>
            <c:strRef>
              <c:f>'Weekday pivot'!$C$3</c:f>
              <c:strCache>
                <c:ptCount val="1"/>
                <c:pt idx="0">
                  <c:v>Sum of registered</c:v>
                </c:pt>
              </c:strCache>
            </c:strRef>
          </c:tx>
          <c:dPt>
            <c:idx val="0"/>
            <c:bubble3D val="0"/>
            <c:spPr>
              <a:noFill/>
              <a:ln w="9525" cap="flat" cmpd="sng" algn="ctr">
                <a:solidFill>
                  <a:schemeClr val="accent1"/>
                </a:solidFill>
                <a:miter lim="800000"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10-A9A0-4601-AFE5-D3D2F8BD57C7}"/>
              </c:ext>
            </c:extLst>
          </c:dPt>
          <c:dPt>
            <c:idx val="1"/>
            <c:bubble3D val="0"/>
            <c:spPr>
              <a:noFill/>
              <a:ln w="9525" cap="flat" cmpd="sng" algn="ctr">
                <a:solidFill>
                  <a:schemeClr val="accent2"/>
                </a:solidFill>
                <a:miter lim="800000"/>
              </a:ln>
              <a:effectLst>
                <a:glow rad="63500">
                  <a:schemeClr val="accent2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12-A9A0-4601-AFE5-D3D2F8BD57C7}"/>
              </c:ext>
            </c:extLst>
          </c:dPt>
          <c:dPt>
            <c:idx val="2"/>
            <c:bubble3D val="0"/>
            <c:spPr>
              <a:noFill/>
              <a:ln w="9525" cap="flat" cmpd="sng" algn="ctr">
                <a:solidFill>
                  <a:schemeClr val="accent3"/>
                </a:solidFill>
                <a:miter lim="800000"/>
              </a:ln>
              <a:effectLst>
                <a:glow rad="63500">
                  <a:schemeClr val="accent3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14-A9A0-4601-AFE5-D3D2F8BD57C7}"/>
              </c:ext>
            </c:extLst>
          </c:dPt>
          <c:dPt>
            <c:idx val="3"/>
            <c:bubble3D val="0"/>
            <c:spPr>
              <a:noFill/>
              <a:ln w="9525" cap="flat" cmpd="sng" algn="ctr">
                <a:solidFill>
                  <a:schemeClr val="accent4"/>
                </a:solidFill>
                <a:miter lim="800000"/>
              </a:ln>
              <a:effectLst>
                <a:glow rad="63500">
                  <a:schemeClr val="accent4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16-A9A0-4601-AFE5-D3D2F8BD57C7}"/>
              </c:ext>
            </c:extLst>
          </c:dPt>
          <c:dPt>
            <c:idx val="4"/>
            <c:bubble3D val="0"/>
            <c:spPr>
              <a:noFill/>
              <a:ln w="9525" cap="flat" cmpd="sng" algn="ctr">
                <a:solidFill>
                  <a:schemeClr val="accent5"/>
                </a:solidFill>
                <a:miter lim="800000"/>
              </a:ln>
              <a:effectLst>
                <a:glow rad="63500">
                  <a:schemeClr val="accent5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18-A9A0-4601-AFE5-D3D2F8BD57C7}"/>
              </c:ext>
            </c:extLst>
          </c:dPt>
          <c:dPt>
            <c:idx val="5"/>
            <c:bubble3D val="0"/>
            <c:spPr>
              <a:noFill/>
              <a:ln w="9525" cap="flat" cmpd="sng" algn="ctr">
                <a:solidFill>
                  <a:schemeClr val="accent6"/>
                </a:solidFill>
                <a:miter lim="800000"/>
              </a:ln>
              <a:effectLst>
                <a:glow rad="63500">
                  <a:schemeClr val="accent6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1A-A9A0-4601-AFE5-D3D2F8BD57C7}"/>
              </c:ext>
            </c:extLst>
          </c:dPt>
          <c:dPt>
            <c:idx val="6"/>
            <c:bubble3D val="0"/>
            <c:spPr>
              <a:noFill/>
              <a:ln w="9525" cap="flat" cmpd="sng" algn="ctr">
                <a:solidFill>
                  <a:schemeClr val="accent1">
                    <a:lumMod val="60000"/>
                  </a:schemeClr>
                </a:solidFill>
                <a:miter lim="800000"/>
              </a:ln>
              <a:effectLst>
                <a:glow rad="63500">
                  <a:schemeClr val="accent1">
                    <a:lumMod val="60000"/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1C-A9A0-4601-AFE5-D3D2F8BD57C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50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'Weekday pivot'!$A$4:$A$11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'Weekday pivot'!$C$4:$C$11</c:f>
              <c:numCache>
                <c:formatCode>General</c:formatCode>
                <c:ptCount val="7"/>
                <c:pt idx="0">
                  <c:v>6605</c:v>
                </c:pt>
                <c:pt idx="1">
                  <c:v>7776</c:v>
                </c:pt>
                <c:pt idx="2">
                  <c:v>8149</c:v>
                </c:pt>
                <c:pt idx="3">
                  <c:v>8103</c:v>
                </c:pt>
                <c:pt idx="4">
                  <c:v>8236</c:v>
                </c:pt>
                <c:pt idx="5">
                  <c:v>7981</c:v>
                </c:pt>
                <c:pt idx="6">
                  <c:v>6533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A9A0-4601-AFE5-D3D2F8BD57C7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[Complete project.xlsx]tempareture pivot!PivotTable12</c:name>
    <c:fmtId val="3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Tempareture</a:t>
            </a:r>
            <a:r>
              <a:rPr lang="en-US" baseline="0"/>
              <a:t> chart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4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5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6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7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8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9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0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1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2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3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4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6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7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8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19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0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1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3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4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5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6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7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28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0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1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2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3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4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5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7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8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39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40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  <c:pivotFmt>
        <c:idx val="41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'tempareture pivot'!$B$3</c:f>
              <c:strCache>
                <c:ptCount val="1"/>
                <c:pt idx="0">
                  <c:v>Sum of Registered riders</c:v>
                </c:pt>
              </c:strCache>
            </c:strRef>
          </c:tx>
          <c:dPt>
            <c:idx val="0"/>
            <c:bubble3D val="0"/>
            <c:spPr>
              <a:noFill/>
              <a:ln w="9525" cap="flat" cmpd="sng" algn="ctr">
                <a:solidFill>
                  <a:schemeClr val="accent1"/>
                </a:solidFill>
                <a:miter lim="800000"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1-E3C8-437E-8725-8C63667481AE}"/>
              </c:ext>
            </c:extLst>
          </c:dPt>
          <c:dPt>
            <c:idx val="1"/>
            <c:bubble3D val="0"/>
            <c:spPr>
              <a:noFill/>
              <a:ln w="9525" cap="flat" cmpd="sng" algn="ctr">
                <a:solidFill>
                  <a:schemeClr val="accent2"/>
                </a:solidFill>
                <a:miter lim="800000"/>
              </a:ln>
              <a:effectLst>
                <a:glow rad="63500">
                  <a:schemeClr val="accent2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3-E3C8-437E-8725-8C63667481AE}"/>
              </c:ext>
            </c:extLst>
          </c:dPt>
          <c:dPt>
            <c:idx val="2"/>
            <c:bubble3D val="0"/>
            <c:spPr>
              <a:noFill/>
              <a:ln w="9525" cap="flat" cmpd="sng" algn="ctr">
                <a:solidFill>
                  <a:schemeClr val="accent3"/>
                </a:solidFill>
                <a:miter lim="800000"/>
              </a:ln>
              <a:effectLst>
                <a:glow rad="63500">
                  <a:schemeClr val="accent3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5-E3C8-437E-8725-8C63667481AE}"/>
              </c:ext>
            </c:extLst>
          </c:dPt>
          <c:dPt>
            <c:idx val="3"/>
            <c:bubble3D val="0"/>
            <c:spPr>
              <a:noFill/>
              <a:ln w="9525" cap="flat" cmpd="sng" algn="ctr">
                <a:solidFill>
                  <a:schemeClr val="accent4"/>
                </a:solidFill>
                <a:miter lim="800000"/>
              </a:ln>
              <a:effectLst>
                <a:glow rad="63500">
                  <a:schemeClr val="accent4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7-E3C8-437E-8725-8C63667481AE}"/>
              </c:ext>
            </c:extLst>
          </c:dPt>
          <c:dPt>
            <c:idx val="4"/>
            <c:bubble3D val="0"/>
            <c:spPr>
              <a:noFill/>
              <a:ln w="9525" cap="flat" cmpd="sng" algn="ctr">
                <a:solidFill>
                  <a:schemeClr val="accent5"/>
                </a:solidFill>
                <a:miter lim="800000"/>
              </a:ln>
              <a:effectLst>
                <a:glow rad="63500">
                  <a:schemeClr val="accent5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9-E3C8-437E-8725-8C63667481AE}"/>
              </c:ext>
            </c:extLst>
          </c:dPt>
          <c:dPt>
            <c:idx val="5"/>
            <c:bubble3D val="0"/>
            <c:spPr>
              <a:noFill/>
              <a:ln w="9525" cap="flat" cmpd="sng" algn="ctr">
                <a:solidFill>
                  <a:schemeClr val="accent6"/>
                </a:solidFill>
                <a:miter lim="800000"/>
              </a:ln>
              <a:effectLst>
                <a:glow rad="63500">
                  <a:schemeClr val="accent6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B-E3C8-437E-8725-8C63667481A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50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'tempareture pivot'!$A$4:$A$10</c:f>
              <c:strCache>
                <c:ptCount val="6"/>
                <c:pt idx="0">
                  <c:v>0.02 - 0.08</c:v>
                </c:pt>
                <c:pt idx="1">
                  <c:v>0.1 - 0.18</c:v>
                </c:pt>
                <c:pt idx="2">
                  <c:v>0.2 - 0.28</c:v>
                </c:pt>
                <c:pt idx="3">
                  <c:v>0.3 - 0.38</c:v>
                </c:pt>
                <c:pt idx="4">
                  <c:v>0.4 - 0.46</c:v>
                </c:pt>
                <c:pt idx="5">
                  <c:v>Grand total</c:v>
                </c:pt>
              </c:strCache>
            </c:strRef>
          </c:cat>
          <c:val>
            <c:numRef>
              <c:f>'tempareture pivot'!$B$4:$B$10</c:f>
              <c:numCache>
                <c:formatCode>General</c:formatCode>
                <c:ptCount val="6"/>
                <c:pt idx="0">
                  <c:v>1425</c:v>
                </c:pt>
                <c:pt idx="1">
                  <c:v>17871</c:v>
                </c:pt>
                <c:pt idx="2">
                  <c:v>24099</c:v>
                </c:pt>
                <c:pt idx="3">
                  <c:v>8298</c:v>
                </c:pt>
                <c:pt idx="4">
                  <c:v>1463</c:v>
                </c:pt>
                <c:pt idx="5">
                  <c:v>53156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3C8-437E-8725-8C63667481AE}"/>
            </c:ext>
          </c:extLst>
        </c:ser>
        <c:ser>
          <c:idx val="1"/>
          <c:order val="1"/>
          <c:tx>
            <c:strRef>
              <c:f>'tempareture pivot'!$C$3</c:f>
              <c:strCache>
                <c:ptCount val="1"/>
                <c:pt idx="0">
                  <c:v>Sum of Casual Riders</c:v>
                </c:pt>
              </c:strCache>
            </c:strRef>
          </c:tx>
          <c:dPt>
            <c:idx val="0"/>
            <c:bubble3D val="0"/>
            <c:spPr>
              <a:noFill/>
              <a:ln w="9525" cap="flat" cmpd="sng" algn="ctr">
                <a:solidFill>
                  <a:schemeClr val="accent1"/>
                </a:solidFill>
                <a:miter lim="800000"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E-E3C8-437E-8725-8C63667481AE}"/>
              </c:ext>
            </c:extLst>
          </c:dPt>
          <c:dPt>
            <c:idx val="1"/>
            <c:bubble3D val="0"/>
            <c:spPr>
              <a:noFill/>
              <a:ln w="9525" cap="flat" cmpd="sng" algn="ctr">
                <a:solidFill>
                  <a:schemeClr val="accent2"/>
                </a:solidFill>
                <a:miter lim="800000"/>
              </a:ln>
              <a:effectLst>
                <a:glow rad="63500">
                  <a:schemeClr val="accent2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10-E3C8-437E-8725-8C63667481AE}"/>
              </c:ext>
            </c:extLst>
          </c:dPt>
          <c:dPt>
            <c:idx val="2"/>
            <c:bubble3D val="0"/>
            <c:spPr>
              <a:noFill/>
              <a:ln w="9525" cap="flat" cmpd="sng" algn="ctr">
                <a:solidFill>
                  <a:schemeClr val="accent3"/>
                </a:solidFill>
                <a:miter lim="800000"/>
              </a:ln>
              <a:effectLst>
                <a:glow rad="63500">
                  <a:schemeClr val="accent3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12-E3C8-437E-8725-8C63667481AE}"/>
              </c:ext>
            </c:extLst>
          </c:dPt>
          <c:dPt>
            <c:idx val="3"/>
            <c:bubble3D val="0"/>
            <c:spPr>
              <a:noFill/>
              <a:ln w="9525" cap="flat" cmpd="sng" algn="ctr">
                <a:solidFill>
                  <a:schemeClr val="accent4"/>
                </a:solidFill>
                <a:miter lim="800000"/>
              </a:ln>
              <a:effectLst>
                <a:glow rad="63500">
                  <a:schemeClr val="accent4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14-E3C8-437E-8725-8C63667481AE}"/>
              </c:ext>
            </c:extLst>
          </c:dPt>
          <c:dPt>
            <c:idx val="4"/>
            <c:bubble3D val="0"/>
            <c:spPr>
              <a:noFill/>
              <a:ln w="9525" cap="flat" cmpd="sng" algn="ctr">
                <a:solidFill>
                  <a:schemeClr val="accent5"/>
                </a:solidFill>
                <a:miter lim="800000"/>
              </a:ln>
              <a:effectLst>
                <a:glow rad="63500">
                  <a:schemeClr val="accent5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16-E3C8-437E-8725-8C63667481AE}"/>
              </c:ext>
            </c:extLst>
          </c:dPt>
          <c:dPt>
            <c:idx val="5"/>
            <c:bubble3D val="0"/>
            <c:spPr>
              <a:noFill/>
              <a:ln w="9525" cap="flat" cmpd="sng" algn="ctr">
                <a:solidFill>
                  <a:schemeClr val="accent6"/>
                </a:solidFill>
                <a:miter lim="800000"/>
              </a:ln>
              <a:effectLst>
                <a:glow rad="63500">
                  <a:schemeClr val="accent6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18-E3C8-437E-8725-8C63667481A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50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'tempareture pivot'!$A$4:$A$10</c:f>
              <c:strCache>
                <c:ptCount val="6"/>
                <c:pt idx="0">
                  <c:v>0.02 - 0.08</c:v>
                </c:pt>
                <c:pt idx="1">
                  <c:v>0.1 - 0.18</c:v>
                </c:pt>
                <c:pt idx="2">
                  <c:v>0.2 - 0.28</c:v>
                </c:pt>
                <c:pt idx="3">
                  <c:v>0.3 - 0.38</c:v>
                </c:pt>
                <c:pt idx="4">
                  <c:v>0.4 - 0.46</c:v>
                </c:pt>
                <c:pt idx="5">
                  <c:v>Grand total</c:v>
                </c:pt>
              </c:strCache>
            </c:strRef>
          </c:cat>
          <c:val>
            <c:numRef>
              <c:f>'tempareture pivot'!$C$4:$C$10</c:f>
              <c:numCache>
                <c:formatCode>General</c:formatCode>
                <c:ptCount val="6"/>
                <c:pt idx="0">
                  <c:v>95</c:v>
                </c:pt>
                <c:pt idx="1">
                  <c:v>884</c:v>
                </c:pt>
                <c:pt idx="2">
                  <c:v>1984</c:v>
                </c:pt>
                <c:pt idx="3">
                  <c:v>1462</c:v>
                </c:pt>
                <c:pt idx="4">
                  <c:v>500</c:v>
                </c:pt>
                <c:pt idx="5">
                  <c:v>4925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E3C8-437E-8725-8C63667481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0.78842</cdr:x>
      <cdr:y>0.30657</cdr:y>
    </cdr:from>
    <cdr:to>
      <cdr:x>1</cdr:x>
      <cdr:y>0.88107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718FE125-B497-9AE6-E123-12CC4B47DCB4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5130305" y="837991"/>
          <a:ext cx="1376743" cy="1570359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0.252</cdr:x>
      <cdr:y>0.36634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7D5D15F2-A238-8319-ED6A-D2AD99BFD85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622117" cy="1382211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0.42889</cdr:y>
    </cdr:from>
    <cdr:to>
      <cdr:x>0.2604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AA2DAF84-3FAF-2D5E-6EF8-F5E915D2F380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1003247"/>
          <a:ext cx="1323975" cy="1335901"/>
        </a:xfrm>
        <a:prstGeom xmlns:a="http://schemas.openxmlformats.org/drawingml/2006/main" prst="rect">
          <a:avLst/>
        </a:prstGeom>
      </cdr:spPr>
    </cdr:pic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DA8F3-DEFC-1D32-C790-266B8FCF9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9DFEA-2A64-020B-6079-7D15C3CC9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54A45-8A49-BDA1-A65B-24B910CB5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17856-161A-719C-FCFA-ACD479454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529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7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151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46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569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294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0310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625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image" Target="../media/image5.png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10" Type="http://schemas.openxmlformats.org/officeDocument/2006/relationships/chart" Target="../charts/chart9.xml"/><Relationship Id="rId4" Type="http://schemas.openxmlformats.org/officeDocument/2006/relationships/chart" Target="../charts/chart3.xml"/><Relationship Id="rId9" Type="http://schemas.openxmlformats.org/officeDocument/2006/relationships/chart" Target="../charts/char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6.xml"/><Relationship Id="rId5" Type="http://schemas.openxmlformats.org/officeDocument/2006/relationships/chart" Target="../charts/chart1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7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76036"/>
            <a:ext cx="9144000" cy="1384995"/>
          </a:xfrm>
        </p:spPr>
        <p:txBody>
          <a:bodyPr lIns="0" tIns="0" rIns="0" bIns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Project Analysis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Of Bike Sharing Data Analysis </a:t>
            </a:r>
            <a:endParaRPr lang="en-US" sz="4000" dirty="0">
              <a:solidFill>
                <a:schemeClr val="accent4"/>
              </a:solidFill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7" y="571349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6" y="104288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 descr="Icon of chart.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851021" y="3724968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reeform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364CFD90-D0E1-4BC3-9D8B-7503E2632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1626" y="1720850"/>
            <a:ext cx="3968750" cy="39687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3ECCC05-FF78-40FA-84FF-172821D8B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</a:rPr>
              <a:t>PROJECT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178536-4D8A-4FF2-BBDC-4B3E7E0FC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/>
              <a:t>1.   Excel Foundations &amp; Data Handling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6F1356-9015-4B5C-9C64-3C1D963E5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7F2E37-0ACF-4E8A-9C1D-EC5B65BA2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3025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         Data Loading, Merging &amp; Cleaning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F812F5-70AF-4FBD-80D9-D59B3C456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0264" y="323532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52C5002-7E64-4069-ACA0-6876E54A9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dirty="0"/>
              <a:t> Conditional Logic &amp; Lookup Functions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9C5F3A-6F0D-4A0F-AE6E-92F342C22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5055576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A75A79-A67A-4A23-8588-7FC5EB9A5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Final Project: Automated Data Reporting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BC62739-FA35-49F8-8929-743B31F55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1547651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BB375D-5EE6-4428-9817-2C7DB6B94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Data Visualization &amp; Business Intelligence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3A511B7-C7F3-4107-9962-1E10D2E0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4D7D4B6-62C2-45AB-89A5-3A41DA02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Advanced Data Analysis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3902602-D4BC-4D44-AC14-BB55A86C5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5055576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03747" y="1772110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4" name="Freeform 1676" descr="Icon of check box. ">
            <a:extLst>
              <a:ext uri="{FF2B5EF4-FFF2-40B4-BE49-F238E27FC236}">
                <a16:creationId xmlns:a16="http://schemas.microsoft.com/office/drawing/2014/main" id="{6FB02354-C73F-4DCF-8004-E9CCA66963EA}"/>
              </a:ext>
            </a:extLst>
          </p:cNvPr>
          <p:cNvSpPr>
            <a:spLocks noEditPoints="1"/>
          </p:cNvSpPr>
          <p:nvPr/>
        </p:nvSpPr>
        <p:spPr bwMode="auto">
          <a:xfrm>
            <a:off x="7129621" y="1811496"/>
            <a:ext cx="345758" cy="345758"/>
          </a:xfrm>
          <a:custGeom>
            <a:avLst/>
            <a:gdLst>
              <a:gd name="T0" fmla="*/ 374 w 719"/>
              <a:gd name="T1" fmla="*/ 267 h 719"/>
              <a:gd name="T2" fmla="*/ 366 w 719"/>
              <a:gd name="T3" fmla="*/ 263 h 719"/>
              <a:gd name="T4" fmla="*/ 362 w 719"/>
              <a:gd name="T5" fmla="*/ 254 h 719"/>
              <a:gd name="T6" fmla="*/ 366 w 719"/>
              <a:gd name="T7" fmla="*/ 247 h 719"/>
              <a:gd name="T8" fmla="*/ 374 w 719"/>
              <a:gd name="T9" fmla="*/ 243 h 719"/>
              <a:gd name="T10" fmla="*/ 621 w 719"/>
              <a:gd name="T11" fmla="*/ 244 h 719"/>
              <a:gd name="T12" fmla="*/ 627 w 719"/>
              <a:gd name="T13" fmla="*/ 250 h 719"/>
              <a:gd name="T14" fmla="*/ 627 w 719"/>
              <a:gd name="T15" fmla="*/ 260 h 719"/>
              <a:gd name="T16" fmla="*/ 621 w 719"/>
              <a:gd name="T17" fmla="*/ 265 h 719"/>
              <a:gd name="T18" fmla="*/ 616 w 719"/>
              <a:gd name="T19" fmla="*/ 528 h 719"/>
              <a:gd name="T20" fmla="*/ 370 w 719"/>
              <a:gd name="T21" fmla="*/ 527 h 719"/>
              <a:gd name="T22" fmla="*/ 363 w 719"/>
              <a:gd name="T23" fmla="*/ 521 h 719"/>
              <a:gd name="T24" fmla="*/ 363 w 719"/>
              <a:gd name="T25" fmla="*/ 512 h 719"/>
              <a:gd name="T26" fmla="*/ 370 w 719"/>
              <a:gd name="T27" fmla="*/ 505 h 719"/>
              <a:gd name="T28" fmla="*/ 616 w 719"/>
              <a:gd name="T29" fmla="*/ 504 h 719"/>
              <a:gd name="T30" fmla="*/ 625 w 719"/>
              <a:gd name="T31" fmla="*/ 507 h 719"/>
              <a:gd name="T32" fmla="*/ 628 w 719"/>
              <a:gd name="T33" fmla="*/ 516 h 719"/>
              <a:gd name="T34" fmla="*/ 625 w 719"/>
              <a:gd name="T35" fmla="*/ 525 h 719"/>
              <a:gd name="T36" fmla="*/ 616 w 719"/>
              <a:gd name="T37" fmla="*/ 528 h 719"/>
              <a:gd name="T38" fmla="*/ 171 w 719"/>
              <a:gd name="T39" fmla="*/ 279 h 719"/>
              <a:gd name="T40" fmla="*/ 164 w 719"/>
              <a:gd name="T41" fmla="*/ 282 h 719"/>
              <a:gd name="T42" fmla="*/ 155 w 719"/>
              <a:gd name="T43" fmla="*/ 279 h 719"/>
              <a:gd name="T44" fmla="*/ 92 w 719"/>
              <a:gd name="T45" fmla="*/ 214 h 719"/>
              <a:gd name="T46" fmla="*/ 92 w 719"/>
              <a:gd name="T47" fmla="*/ 205 h 719"/>
              <a:gd name="T48" fmla="*/ 98 w 719"/>
              <a:gd name="T49" fmla="*/ 198 h 719"/>
              <a:gd name="T50" fmla="*/ 107 w 719"/>
              <a:gd name="T51" fmla="*/ 198 h 719"/>
              <a:gd name="T52" fmla="*/ 164 w 719"/>
              <a:gd name="T53" fmla="*/ 253 h 719"/>
              <a:gd name="T54" fmla="*/ 309 w 719"/>
              <a:gd name="T55" fmla="*/ 109 h 719"/>
              <a:gd name="T56" fmla="*/ 318 w 719"/>
              <a:gd name="T57" fmla="*/ 109 h 719"/>
              <a:gd name="T58" fmla="*/ 325 w 719"/>
              <a:gd name="T59" fmla="*/ 114 h 719"/>
              <a:gd name="T60" fmla="*/ 325 w 719"/>
              <a:gd name="T61" fmla="*/ 124 h 719"/>
              <a:gd name="T62" fmla="*/ 323 w 719"/>
              <a:gd name="T63" fmla="*/ 414 h 719"/>
              <a:gd name="T64" fmla="*/ 168 w 719"/>
              <a:gd name="T65" fmla="*/ 568 h 719"/>
              <a:gd name="T66" fmla="*/ 158 w 719"/>
              <a:gd name="T67" fmla="*/ 568 h 719"/>
              <a:gd name="T68" fmla="*/ 94 w 719"/>
              <a:gd name="T69" fmla="*/ 505 h 719"/>
              <a:gd name="T70" fmla="*/ 91 w 719"/>
              <a:gd name="T71" fmla="*/ 497 h 719"/>
              <a:gd name="T72" fmla="*/ 94 w 719"/>
              <a:gd name="T73" fmla="*/ 488 h 719"/>
              <a:gd name="T74" fmla="*/ 103 w 719"/>
              <a:gd name="T75" fmla="*/ 485 h 719"/>
              <a:gd name="T76" fmla="*/ 111 w 719"/>
              <a:gd name="T77" fmla="*/ 488 h 719"/>
              <a:gd name="T78" fmla="*/ 306 w 719"/>
              <a:gd name="T79" fmla="*/ 397 h 719"/>
              <a:gd name="T80" fmla="*/ 314 w 719"/>
              <a:gd name="T81" fmla="*/ 394 h 719"/>
              <a:gd name="T82" fmla="*/ 323 w 719"/>
              <a:gd name="T83" fmla="*/ 398 h 719"/>
              <a:gd name="T84" fmla="*/ 326 w 719"/>
              <a:gd name="T85" fmla="*/ 406 h 719"/>
              <a:gd name="T86" fmla="*/ 323 w 719"/>
              <a:gd name="T87" fmla="*/ 414 h 719"/>
              <a:gd name="T88" fmla="*/ 12 w 719"/>
              <a:gd name="T89" fmla="*/ 0 h 719"/>
              <a:gd name="T90" fmla="*/ 3 w 719"/>
              <a:gd name="T91" fmla="*/ 5 h 719"/>
              <a:gd name="T92" fmla="*/ 0 w 719"/>
              <a:gd name="T93" fmla="*/ 13 h 719"/>
              <a:gd name="T94" fmla="*/ 1 w 719"/>
              <a:gd name="T95" fmla="*/ 713 h 719"/>
              <a:gd name="T96" fmla="*/ 8 w 719"/>
              <a:gd name="T97" fmla="*/ 719 h 719"/>
              <a:gd name="T98" fmla="*/ 707 w 719"/>
              <a:gd name="T99" fmla="*/ 719 h 719"/>
              <a:gd name="T100" fmla="*/ 716 w 719"/>
              <a:gd name="T101" fmla="*/ 716 h 719"/>
              <a:gd name="T102" fmla="*/ 719 w 719"/>
              <a:gd name="T103" fmla="*/ 707 h 719"/>
              <a:gd name="T104" fmla="*/ 718 w 719"/>
              <a:gd name="T105" fmla="*/ 8 h 719"/>
              <a:gd name="T106" fmla="*/ 711 w 719"/>
              <a:gd name="T107" fmla="*/ 2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19" h="719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A195D-EC51-CD9A-BBC9-3D1894AE4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F47F87AF-6115-D8D9-7A96-667F38D8F92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705140-D833-550D-5F7B-215223EFF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B387C632-088E-AFB0-2EB9-6274E1C82057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F8E796-1727-7F18-7375-A239D8DD5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16AA11-C8E4-AD1B-B183-90329A5C7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613244"/>
              </p:ext>
            </p:extLst>
          </p:nvPr>
        </p:nvGraphicFramePr>
        <p:xfrm>
          <a:off x="752475" y="1235075"/>
          <a:ext cx="9905999" cy="44992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5999">
                  <a:extLst>
                    <a:ext uri="{9D8B030D-6E8A-4147-A177-3AD203B41FA5}">
                      <a16:colId xmlns:a16="http://schemas.microsoft.com/office/drawing/2014/main" val="3979368807"/>
                    </a:ext>
                  </a:extLst>
                </a:gridCol>
              </a:tblGrid>
              <a:tr h="3017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average of days where bikes are used more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38732659"/>
                  </a:ext>
                </a:extLst>
              </a:tr>
              <a:tr h="3621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at temp which riders have chose to ride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38244695"/>
                  </a:ext>
                </a:extLst>
              </a:tr>
              <a:tr h="4156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users comparison bet casuals and registered - can findout if facities are being utilised more by csuals or registered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0518789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casual and registered clients using rentals on weekdays vs weekends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41152117"/>
                  </a:ext>
                </a:extLst>
              </a:tr>
              <a:tr h="3621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weather in which casua and registered clients are travelling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7041553"/>
                  </a:ext>
                </a:extLst>
              </a:tr>
              <a:tr h="333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highest number of usage dayvise,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5737097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which day is prefered more chart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99868982"/>
                  </a:ext>
                </a:extLst>
              </a:tr>
              <a:tr h="3621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number of riders on holidays vs on nonholidays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619838"/>
                  </a:ext>
                </a:extLst>
              </a:tr>
              <a:tr h="3621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total number of casual riders and registered riders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63648697"/>
                  </a:ext>
                </a:extLst>
              </a:tr>
              <a:tr h="3711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highest number of usage dayvise,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7306263"/>
                  </a:ext>
                </a:extLst>
              </a:tr>
              <a:tr h="3105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which day is prefered more chart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543596"/>
                  </a:ext>
                </a:extLst>
              </a:tr>
              <a:tr h="3621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number of riders on holidays vs on nonholidays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12991175"/>
                  </a:ext>
                </a:extLst>
              </a:tr>
              <a:tr h="663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15902264"/>
                  </a:ext>
                </a:extLst>
              </a:tr>
            </a:tbl>
          </a:graphicData>
        </a:graphic>
      </p:graphicFrame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292EB2BE-D691-1A07-9906-1902E8677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725" y="1298495"/>
            <a:ext cx="285750" cy="285750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EFF65EC-3E23-C466-F297-85981C912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725" y="1647665"/>
            <a:ext cx="285750" cy="285750"/>
          </a:xfrm>
          <a:prstGeom prst="rect">
            <a:avLst/>
          </a:prstGeom>
        </p:spPr>
      </p:pic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D943F2E1-5D31-63C3-AD2E-9A0FE89F7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725" y="2059518"/>
            <a:ext cx="285750" cy="285750"/>
          </a:xfrm>
          <a:prstGeom prst="rect">
            <a:avLst/>
          </a:prstGeom>
        </p:spPr>
      </p:pic>
      <p:pic>
        <p:nvPicPr>
          <p:cNvPr id="16" name="Graphic 15" descr="Checkmark with solid fill">
            <a:extLst>
              <a:ext uri="{FF2B5EF4-FFF2-40B4-BE49-F238E27FC236}">
                <a16:creationId xmlns:a16="http://schemas.microsoft.com/office/drawing/2014/main" id="{11492D85-35A1-B6EE-71DA-FD3000BF3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725" y="2462700"/>
            <a:ext cx="285750" cy="285750"/>
          </a:xfrm>
          <a:prstGeom prst="rect">
            <a:avLst/>
          </a:prstGeom>
        </p:spPr>
      </p:pic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9626DCAC-8003-117B-233D-95AD9FDA9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725" y="2869732"/>
            <a:ext cx="285750" cy="285750"/>
          </a:xfrm>
          <a:prstGeom prst="rect">
            <a:avLst/>
          </a:prstGeom>
        </p:spPr>
      </p:pic>
      <p:pic>
        <p:nvPicPr>
          <p:cNvPr id="18" name="Graphic 17" descr="Checkmark with solid fill">
            <a:extLst>
              <a:ext uri="{FF2B5EF4-FFF2-40B4-BE49-F238E27FC236}">
                <a16:creationId xmlns:a16="http://schemas.microsoft.com/office/drawing/2014/main" id="{0A789080-AFF3-CD83-F7C4-040CF8CC7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725" y="3155482"/>
            <a:ext cx="285750" cy="285750"/>
          </a:xfrm>
          <a:prstGeom prst="rect">
            <a:avLst/>
          </a:prstGeom>
        </p:spPr>
      </p:pic>
      <p:pic>
        <p:nvPicPr>
          <p:cNvPr id="19" name="Graphic 18" descr="Checkmark with solid fill">
            <a:extLst>
              <a:ext uri="{FF2B5EF4-FFF2-40B4-BE49-F238E27FC236}">
                <a16:creationId xmlns:a16="http://schemas.microsoft.com/office/drawing/2014/main" id="{19A8AC13-0BE0-BE46-9317-3BB11B04C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725" y="3466353"/>
            <a:ext cx="285750" cy="285750"/>
          </a:xfrm>
          <a:prstGeom prst="rect">
            <a:avLst/>
          </a:prstGeom>
        </p:spPr>
      </p:pic>
      <p:pic>
        <p:nvPicPr>
          <p:cNvPr id="20" name="Graphic 19" descr="Checkmark with solid fill">
            <a:extLst>
              <a:ext uri="{FF2B5EF4-FFF2-40B4-BE49-F238E27FC236}">
                <a16:creationId xmlns:a16="http://schemas.microsoft.com/office/drawing/2014/main" id="{42F915A4-0B64-478D-A3B6-60971E4142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725" y="3860824"/>
            <a:ext cx="285750" cy="285750"/>
          </a:xfrm>
          <a:prstGeom prst="rect">
            <a:avLst/>
          </a:prstGeom>
        </p:spPr>
      </p:pic>
      <p:pic>
        <p:nvPicPr>
          <p:cNvPr id="21" name="Graphic 20" descr="Checkmark with solid fill">
            <a:extLst>
              <a:ext uri="{FF2B5EF4-FFF2-40B4-BE49-F238E27FC236}">
                <a16:creationId xmlns:a16="http://schemas.microsoft.com/office/drawing/2014/main" id="{8CA273C2-A496-2195-CE3E-85A976F24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775" y="4255295"/>
            <a:ext cx="285750" cy="285750"/>
          </a:xfrm>
          <a:prstGeom prst="rect">
            <a:avLst/>
          </a:prstGeom>
        </p:spPr>
      </p:pic>
      <p:pic>
        <p:nvPicPr>
          <p:cNvPr id="22" name="Graphic 21" descr="Checkmark with solid fill">
            <a:extLst>
              <a:ext uri="{FF2B5EF4-FFF2-40B4-BE49-F238E27FC236}">
                <a16:creationId xmlns:a16="http://schemas.microsoft.com/office/drawing/2014/main" id="{EC9610E3-E1DC-9A87-86AD-8CEFC76CA1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775" y="4566166"/>
            <a:ext cx="285750" cy="285750"/>
          </a:xfrm>
          <a:prstGeom prst="rect">
            <a:avLst/>
          </a:prstGeom>
        </p:spPr>
      </p:pic>
      <p:pic>
        <p:nvPicPr>
          <p:cNvPr id="23" name="Graphic 22" descr="Checkmark with solid fill">
            <a:extLst>
              <a:ext uri="{FF2B5EF4-FFF2-40B4-BE49-F238E27FC236}">
                <a16:creationId xmlns:a16="http://schemas.microsoft.com/office/drawing/2014/main" id="{E845CCFD-669C-D4B2-BEB5-7E2B7AB45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725" y="4918166"/>
            <a:ext cx="285750" cy="285750"/>
          </a:xfrm>
          <a:prstGeom prst="rect">
            <a:avLst/>
          </a:prstGeom>
        </p:spPr>
      </p:pic>
      <p:pic>
        <p:nvPicPr>
          <p:cNvPr id="24" name="Graphic 23" descr="Checkmark with solid fill">
            <a:extLst>
              <a:ext uri="{FF2B5EF4-FFF2-40B4-BE49-F238E27FC236}">
                <a16:creationId xmlns:a16="http://schemas.microsoft.com/office/drawing/2014/main" id="{7459EB3B-D96B-FFC1-CDB9-E44024E13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725" y="5337175"/>
            <a:ext cx="2857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337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F19BFA5-D0CA-4CF0-8499-504D956B6563}"/>
              </a:ext>
            </a:extLst>
          </p:cNvPr>
          <p:cNvSpPr/>
          <p:nvPr/>
        </p:nvSpPr>
        <p:spPr>
          <a:xfrm>
            <a:off x="1076604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MARKET ANALYSIS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751D31D-3535-411D-8BAC-95CCC90AB185}"/>
              </a:ext>
            </a:extLst>
          </p:cNvPr>
          <p:cNvSpPr/>
          <p:nvPr/>
        </p:nvSpPr>
        <p:spPr>
          <a:xfrm>
            <a:off x="3243403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TECHNICAL ANALYSIS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A4D735A-8F75-4E2A-8F1A-CC303B0718BA}"/>
              </a:ext>
            </a:extLst>
          </p:cNvPr>
          <p:cNvSpPr/>
          <p:nvPr/>
        </p:nvSpPr>
        <p:spPr>
          <a:xfrm>
            <a:off x="5410201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FINANCIAL ANALYSIS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AB9282-0505-49EB-AABF-998083225E3A}"/>
              </a:ext>
            </a:extLst>
          </p:cNvPr>
          <p:cNvSpPr/>
          <p:nvPr/>
        </p:nvSpPr>
        <p:spPr>
          <a:xfrm>
            <a:off x="7577000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ECONOMIC ANALYSIS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68C4B5-BCEC-465A-ADA5-6A054B15F7A3}"/>
              </a:ext>
            </a:extLst>
          </p:cNvPr>
          <p:cNvSpPr/>
          <p:nvPr/>
        </p:nvSpPr>
        <p:spPr>
          <a:xfrm>
            <a:off x="9745956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ECOLOGICAL ANALYSIS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534162-B6E2-4579-9DAD-AD8DE07459BC}"/>
              </a:ext>
            </a:extLst>
          </p:cNvPr>
          <p:cNvSpPr/>
          <p:nvPr/>
        </p:nvSpPr>
        <p:spPr>
          <a:xfrm>
            <a:off x="3053182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535E1C-6EBC-45D8-BCE1-D5B947A61FB6}"/>
              </a:ext>
            </a:extLst>
          </p:cNvPr>
          <p:cNvSpPr/>
          <p:nvPr/>
        </p:nvSpPr>
        <p:spPr>
          <a:xfrm>
            <a:off x="5219979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FF18A5-7B4E-4493-B38D-E732E033F82F}"/>
              </a:ext>
            </a:extLst>
          </p:cNvPr>
          <p:cNvSpPr/>
          <p:nvPr/>
        </p:nvSpPr>
        <p:spPr>
          <a:xfrm>
            <a:off x="7386779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BCD242F-9A97-473E-8E17-3F6C3C75CE68}"/>
              </a:ext>
            </a:extLst>
          </p:cNvPr>
          <p:cNvSpPr/>
          <p:nvPr/>
        </p:nvSpPr>
        <p:spPr>
          <a:xfrm>
            <a:off x="9555735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56" name="Freeform 4197" descr="Icon of shopping cart.">
            <a:extLst>
              <a:ext uri="{FF2B5EF4-FFF2-40B4-BE49-F238E27FC236}">
                <a16:creationId xmlns:a16="http://schemas.microsoft.com/office/drawing/2014/main" id="{DEC447B3-FDD1-438D-A671-84CC56DF3DFC}"/>
              </a:ext>
            </a:extLst>
          </p:cNvPr>
          <p:cNvSpPr>
            <a:spLocks noEditPoints="1"/>
          </p:cNvSpPr>
          <p:nvPr/>
        </p:nvSpPr>
        <p:spPr bwMode="auto">
          <a:xfrm>
            <a:off x="1572237" y="2313021"/>
            <a:ext cx="380334" cy="348640"/>
          </a:xfrm>
          <a:custGeom>
            <a:avLst/>
            <a:gdLst>
              <a:gd name="T0" fmla="*/ 540 w 901"/>
              <a:gd name="T1" fmla="*/ 161 h 826"/>
              <a:gd name="T2" fmla="*/ 360 w 901"/>
              <a:gd name="T3" fmla="*/ 255 h 826"/>
              <a:gd name="T4" fmla="*/ 360 w 901"/>
              <a:gd name="T5" fmla="*/ 255 h 826"/>
              <a:gd name="T6" fmla="*/ 201 w 901"/>
              <a:gd name="T7" fmla="*/ 255 h 826"/>
              <a:gd name="T8" fmla="*/ 749 w 901"/>
              <a:gd name="T9" fmla="*/ 46 h 826"/>
              <a:gd name="T10" fmla="*/ 692 w 901"/>
              <a:gd name="T11" fmla="*/ 248 h 826"/>
              <a:gd name="T12" fmla="*/ 568 w 901"/>
              <a:gd name="T13" fmla="*/ 103 h 826"/>
              <a:gd name="T14" fmla="*/ 556 w 901"/>
              <a:gd name="T15" fmla="*/ 104 h 826"/>
              <a:gd name="T16" fmla="*/ 341 w 901"/>
              <a:gd name="T17" fmla="*/ 135 h 826"/>
              <a:gd name="T18" fmla="*/ 333 w 901"/>
              <a:gd name="T19" fmla="*/ 141 h 826"/>
              <a:gd name="T20" fmla="*/ 330 w 901"/>
              <a:gd name="T21" fmla="*/ 255 h 826"/>
              <a:gd name="T22" fmla="*/ 120 w 901"/>
              <a:gd name="T23" fmla="*/ 4 h 826"/>
              <a:gd name="T24" fmla="*/ 109 w 901"/>
              <a:gd name="T25" fmla="*/ 0 h 826"/>
              <a:gd name="T26" fmla="*/ 5 w 901"/>
              <a:gd name="T27" fmla="*/ 48 h 826"/>
              <a:gd name="T28" fmla="*/ 0 w 901"/>
              <a:gd name="T29" fmla="*/ 58 h 826"/>
              <a:gd name="T30" fmla="*/ 82 w 901"/>
              <a:gd name="T31" fmla="*/ 255 h 826"/>
              <a:gd name="T32" fmla="*/ 5 w 901"/>
              <a:gd name="T33" fmla="*/ 259 h 826"/>
              <a:gd name="T34" fmla="*/ 0 w 901"/>
              <a:gd name="T35" fmla="*/ 271 h 826"/>
              <a:gd name="T36" fmla="*/ 120 w 901"/>
              <a:gd name="T37" fmla="*/ 643 h 826"/>
              <a:gd name="T38" fmla="*/ 589 w 901"/>
              <a:gd name="T39" fmla="*/ 676 h 826"/>
              <a:gd name="T40" fmla="*/ 157 w 901"/>
              <a:gd name="T41" fmla="*/ 679 h 826"/>
              <a:gd name="T42" fmla="*/ 131 w 901"/>
              <a:gd name="T43" fmla="*/ 693 h 826"/>
              <a:gd name="T44" fmla="*/ 113 w 901"/>
              <a:gd name="T45" fmla="*/ 716 h 826"/>
              <a:gd name="T46" fmla="*/ 105 w 901"/>
              <a:gd name="T47" fmla="*/ 744 h 826"/>
              <a:gd name="T48" fmla="*/ 108 w 901"/>
              <a:gd name="T49" fmla="*/ 774 h 826"/>
              <a:gd name="T50" fmla="*/ 122 w 901"/>
              <a:gd name="T51" fmla="*/ 798 h 826"/>
              <a:gd name="T52" fmla="*/ 144 w 901"/>
              <a:gd name="T53" fmla="*/ 818 h 826"/>
              <a:gd name="T54" fmla="*/ 172 w 901"/>
              <a:gd name="T55" fmla="*/ 826 h 826"/>
              <a:gd name="T56" fmla="*/ 202 w 901"/>
              <a:gd name="T57" fmla="*/ 823 h 826"/>
              <a:gd name="T58" fmla="*/ 228 w 901"/>
              <a:gd name="T59" fmla="*/ 809 h 826"/>
              <a:gd name="T60" fmla="*/ 246 w 901"/>
              <a:gd name="T61" fmla="*/ 787 h 826"/>
              <a:gd name="T62" fmla="*/ 255 w 901"/>
              <a:gd name="T63" fmla="*/ 759 h 826"/>
              <a:gd name="T64" fmla="*/ 246 w 901"/>
              <a:gd name="T65" fmla="*/ 716 h 826"/>
              <a:gd name="T66" fmla="*/ 514 w 901"/>
              <a:gd name="T67" fmla="*/ 727 h 826"/>
              <a:gd name="T68" fmla="*/ 512 w 901"/>
              <a:gd name="T69" fmla="*/ 766 h 826"/>
              <a:gd name="T70" fmla="*/ 523 w 901"/>
              <a:gd name="T71" fmla="*/ 793 h 826"/>
              <a:gd name="T72" fmla="*/ 543 w 901"/>
              <a:gd name="T73" fmla="*/ 813 h 826"/>
              <a:gd name="T74" fmla="*/ 570 w 901"/>
              <a:gd name="T75" fmla="*/ 825 h 826"/>
              <a:gd name="T76" fmla="*/ 601 w 901"/>
              <a:gd name="T77" fmla="*/ 825 h 826"/>
              <a:gd name="T78" fmla="*/ 628 w 901"/>
              <a:gd name="T79" fmla="*/ 813 h 826"/>
              <a:gd name="T80" fmla="*/ 648 w 901"/>
              <a:gd name="T81" fmla="*/ 793 h 826"/>
              <a:gd name="T82" fmla="*/ 659 w 901"/>
              <a:gd name="T83" fmla="*/ 766 h 826"/>
              <a:gd name="T84" fmla="*/ 658 w 901"/>
              <a:gd name="T85" fmla="*/ 730 h 826"/>
              <a:gd name="T86" fmla="*/ 635 w 901"/>
              <a:gd name="T87" fmla="*/ 695 h 826"/>
              <a:gd name="T88" fmla="*/ 630 w 901"/>
              <a:gd name="T89" fmla="*/ 635 h 826"/>
              <a:gd name="T90" fmla="*/ 886 w 901"/>
              <a:gd name="T91" fmla="*/ 75 h 826"/>
              <a:gd name="T92" fmla="*/ 897 w 901"/>
              <a:gd name="T93" fmla="*/ 70 h 826"/>
              <a:gd name="T94" fmla="*/ 901 w 901"/>
              <a:gd name="T95" fmla="*/ 60 h 826"/>
              <a:gd name="T96" fmla="*/ 897 w 901"/>
              <a:gd name="T97" fmla="*/ 49 h 826"/>
              <a:gd name="T98" fmla="*/ 886 w 901"/>
              <a:gd name="T99" fmla="*/ 45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901" h="826">
                <a:moveTo>
                  <a:pt x="442" y="255"/>
                </a:moveTo>
                <a:lnTo>
                  <a:pt x="540" y="161"/>
                </a:lnTo>
                <a:lnTo>
                  <a:pt x="540" y="161"/>
                </a:lnTo>
                <a:lnTo>
                  <a:pt x="540" y="161"/>
                </a:lnTo>
                <a:lnTo>
                  <a:pt x="562" y="139"/>
                </a:lnTo>
                <a:lnTo>
                  <a:pt x="659" y="255"/>
                </a:lnTo>
                <a:lnTo>
                  <a:pt x="442" y="255"/>
                </a:lnTo>
                <a:close/>
                <a:moveTo>
                  <a:pt x="360" y="255"/>
                </a:moveTo>
                <a:lnTo>
                  <a:pt x="360" y="165"/>
                </a:lnTo>
                <a:lnTo>
                  <a:pt x="493" y="165"/>
                </a:lnTo>
                <a:lnTo>
                  <a:pt x="399" y="255"/>
                </a:lnTo>
                <a:lnTo>
                  <a:pt x="360" y="255"/>
                </a:lnTo>
                <a:close/>
                <a:moveTo>
                  <a:pt x="114" y="255"/>
                </a:moveTo>
                <a:lnTo>
                  <a:pt x="34" y="67"/>
                </a:lnTo>
                <a:lnTo>
                  <a:pt x="101" y="35"/>
                </a:lnTo>
                <a:lnTo>
                  <a:pt x="201" y="255"/>
                </a:lnTo>
                <a:lnTo>
                  <a:pt x="114" y="255"/>
                </a:lnTo>
                <a:close/>
                <a:moveTo>
                  <a:pt x="886" y="45"/>
                </a:moveTo>
                <a:lnTo>
                  <a:pt x="753" y="45"/>
                </a:lnTo>
                <a:lnTo>
                  <a:pt x="749" y="46"/>
                </a:lnTo>
                <a:lnTo>
                  <a:pt x="745" y="48"/>
                </a:lnTo>
                <a:lnTo>
                  <a:pt x="740" y="51"/>
                </a:lnTo>
                <a:lnTo>
                  <a:pt x="739" y="57"/>
                </a:lnTo>
                <a:lnTo>
                  <a:pt x="692" y="248"/>
                </a:lnTo>
                <a:lnTo>
                  <a:pt x="575" y="107"/>
                </a:lnTo>
                <a:lnTo>
                  <a:pt x="573" y="105"/>
                </a:lnTo>
                <a:lnTo>
                  <a:pt x="571" y="104"/>
                </a:lnTo>
                <a:lnTo>
                  <a:pt x="568" y="103"/>
                </a:lnTo>
                <a:lnTo>
                  <a:pt x="564" y="102"/>
                </a:lnTo>
                <a:lnTo>
                  <a:pt x="561" y="102"/>
                </a:lnTo>
                <a:lnTo>
                  <a:pt x="559" y="103"/>
                </a:lnTo>
                <a:lnTo>
                  <a:pt x="556" y="104"/>
                </a:lnTo>
                <a:lnTo>
                  <a:pt x="554" y="106"/>
                </a:lnTo>
                <a:lnTo>
                  <a:pt x="524" y="135"/>
                </a:lnTo>
                <a:lnTo>
                  <a:pt x="345" y="135"/>
                </a:lnTo>
                <a:lnTo>
                  <a:pt x="341" y="135"/>
                </a:lnTo>
                <a:lnTo>
                  <a:pt x="339" y="136"/>
                </a:lnTo>
                <a:lnTo>
                  <a:pt x="336" y="138"/>
                </a:lnTo>
                <a:lnTo>
                  <a:pt x="334" y="139"/>
                </a:lnTo>
                <a:lnTo>
                  <a:pt x="333" y="141"/>
                </a:lnTo>
                <a:lnTo>
                  <a:pt x="331" y="144"/>
                </a:lnTo>
                <a:lnTo>
                  <a:pt x="331" y="147"/>
                </a:lnTo>
                <a:lnTo>
                  <a:pt x="330" y="150"/>
                </a:lnTo>
                <a:lnTo>
                  <a:pt x="330" y="255"/>
                </a:lnTo>
                <a:lnTo>
                  <a:pt x="234" y="255"/>
                </a:lnTo>
                <a:lnTo>
                  <a:pt x="123" y="8"/>
                </a:lnTo>
                <a:lnTo>
                  <a:pt x="122" y="6"/>
                </a:lnTo>
                <a:lnTo>
                  <a:pt x="120" y="4"/>
                </a:lnTo>
                <a:lnTo>
                  <a:pt x="117" y="2"/>
                </a:lnTo>
                <a:lnTo>
                  <a:pt x="114" y="1"/>
                </a:lnTo>
                <a:lnTo>
                  <a:pt x="111" y="0"/>
                </a:lnTo>
                <a:lnTo>
                  <a:pt x="109" y="0"/>
                </a:lnTo>
                <a:lnTo>
                  <a:pt x="106" y="0"/>
                </a:lnTo>
                <a:lnTo>
                  <a:pt x="102" y="1"/>
                </a:lnTo>
                <a:lnTo>
                  <a:pt x="8" y="46"/>
                </a:lnTo>
                <a:lnTo>
                  <a:pt x="5" y="48"/>
                </a:lnTo>
                <a:lnTo>
                  <a:pt x="3" y="50"/>
                </a:lnTo>
                <a:lnTo>
                  <a:pt x="2" y="52"/>
                </a:lnTo>
                <a:lnTo>
                  <a:pt x="1" y="54"/>
                </a:lnTo>
                <a:lnTo>
                  <a:pt x="0" y="58"/>
                </a:lnTo>
                <a:lnTo>
                  <a:pt x="0" y="60"/>
                </a:lnTo>
                <a:lnTo>
                  <a:pt x="0" y="63"/>
                </a:lnTo>
                <a:lnTo>
                  <a:pt x="1" y="66"/>
                </a:lnTo>
                <a:lnTo>
                  <a:pt x="82" y="255"/>
                </a:lnTo>
                <a:lnTo>
                  <a:pt x="15" y="255"/>
                </a:lnTo>
                <a:lnTo>
                  <a:pt x="11" y="256"/>
                </a:lnTo>
                <a:lnTo>
                  <a:pt x="7" y="257"/>
                </a:lnTo>
                <a:lnTo>
                  <a:pt x="5" y="259"/>
                </a:lnTo>
                <a:lnTo>
                  <a:pt x="2" y="261"/>
                </a:lnTo>
                <a:lnTo>
                  <a:pt x="1" y="265"/>
                </a:lnTo>
                <a:lnTo>
                  <a:pt x="0" y="268"/>
                </a:lnTo>
                <a:lnTo>
                  <a:pt x="0" y="271"/>
                </a:lnTo>
                <a:lnTo>
                  <a:pt x="1" y="275"/>
                </a:lnTo>
                <a:lnTo>
                  <a:pt x="114" y="635"/>
                </a:lnTo>
                <a:lnTo>
                  <a:pt x="116" y="640"/>
                </a:lnTo>
                <a:lnTo>
                  <a:pt x="120" y="643"/>
                </a:lnTo>
                <a:lnTo>
                  <a:pt x="123" y="645"/>
                </a:lnTo>
                <a:lnTo>
                  <a:pt x="128" y="646"/>
                </a:lnTo>
                <a:lnTo>
                  <a:pt x="596" y="646"/>
                </a:lnTo>
                <a:lnTo>
                  <a:pt x="589" y="676"/>
                </a:lnTo>
                <a:lnTo>
                  <a:pt x="180" y="676"/>
                </a:lnTo>
                <a:lnTo>
                  <a:pt x="172" y="676"/>
                </a:lnTo>
                <a:lnTo>
                  <a:pt x="165" y="677"/>
                </a:lnTo>
                <a:lnTo>
                  <a:pt x="157" y="679"/>
                </a:lnTo>
                <a:lnTo>
                  <a:pt x="151" y="682"/>
                </a:lnTo>
                <a:lnTo>
                  <a:pt x="144" y="685"/>
                </a:lnTo>
                <a:lnTo>
                  <a:pt x="138" y="689"/>
                </a:lnTo>
                <a:lnTo>
                  <a:pt x="131" y="693"/>
                </a:lnTo>
                <a:lnTo>
                  <a:pt x="127" y="698"/>
                </a:lnTo>
                <a:lnTo>
                  <a:pt x="122" y="703"/>
                </a:lnTo>
                <a:lnTo>
                  <a:pt x="117" y="709"/>
                </a:lnTo>
                <a:lnTo>
                  <a:pt x="113" y="716"/>
                </a:lnTo>
                <a:lnTo>
                  <a:pt x="110" y="722"/>
                </a:lnTo>
                <a:lnTo>
                  <a:pt x="108" y="729"/>
                </a:lnTo>
                <a:lnTo>
                  <a:pt x="106" y="736"/>
                </a:lnTo>
                <a:lnTo>
                  <a:pt x="105" y="744"/>
                </a:lnTo>
                <a:lnTo>
                  <a:pt x="105" y="751"/>
                </a:lnTo>
                <a:lnTo>
                  <a:pt x="105" y="759"/>
                </a:lnTo>
                <a:lnTo>
                  <a:pt x="106" y="766"/>
                </a:lnTo>
                <a:lnTo>
                  <a:pt x="108" y="774"/>
                </a:lnTo>
                <a:lnTo>
                  <a:pt x="110" y="780"/>
                </a:lnTo>
                <a:lnTo>
                  <a:pt x="113" y="787"/>
                </a:lnTo>
                <a:lnTo>
                  <a:pt x="117" y="793"/>
                </a:lnTo>
                <a:lnTo>
                  <a:pt x="122" y="798"/>
                </a:lnTo>
                <a:lnTo>
                  <a:pt x="127" y="804"/>
                </a:lnTo>
                <a:lnTo>
                  <a:pt x="131" y="809"/>
                </a:lnTo>
                <a:lnTo>
                  <a:pt x="138" y="813"/>
                </a:lnTo>
                <a:lnTo>
                  <a:pt x="144" y="818"/>
                </a:lnTo>
                <a:lnTo>
                  <a:pt x="151" y="821"/>
                </a:lnTo>
                <a:lnTo>
                  <a:pt x="157" y="823"/>
                </a:lnTo>
                <a:lnTo>
                  <a:pt x="165" y="825"/>
                </a:lnTo>
                <a:lnTo>
                  <a:pt x="172" y="826"/>
                </a:lnTo>
                <a:lnTo>
                  <a:pt x="180" y="826"/>
                </a:lnTo>
                <a:lnTo>
                  <a:pt x="187" y="826"/>
                </a:lnTo>
                <a:lnTo>
                  <a:pt x="195" y="825"/>
                </a:lnTo>
                <a:lnTo>
                  <a:pt x="202" y="823"/>
                </a:lnTo>
                <a:lnTo>
                  <a:pt x="209" y="821"/>
                </a:lnTo>
                <a:lnTo>
                  <a:pt x="215" y="818"/>
                </a:lnTo>
                <a:lnTo>
                  <a:pt x="221" y="813"/>
                </a:lnTo>
                <a:lnTo>
                  <a:pt x="228" y="809"/>
                </a:lnTo>
                <a:lnTo>
                  <a:pt x="233" y="804"/>
                </a:lnTo>
                <a:lnTo>
                  <a:pt x="238" y="798"/>
                </a:lnTo>
                <a:lnTo>
                  <a:pt x="242" y="793"/>
                </a:lnTo>
                <a:lnTo>
                  <a:pt x="246" y="787"/>
                </a:lnTo>
                <a:lnTo>
                  <a:pt x="249" y="780"/>
                </a:lnTo>
                <a:lnTo>
                  <a:pt x="251" y="774"/>
                </a:lnTo>
                <a:lnTo>
                  <a:pt x="254" y="766"/>
                </a:lnTo>
                <a:lnTo>
                  <a:pt x="255" y="759"/>
                </a:lnTo>
                <a:lnTo>
                  <a:pt x="255" y="751"/>
                </a:lnTo>
                <a:lnTo>
                  <a:pt x="254" y="738"/>
                </a:lnTo>
                <a:lnTo>
                  <a:pt x="250" y="727"/>
                </a:lnTo>
                <a:lnTo>
                  <a:pt x="246" y="716"/>
                </a:lnTo>
                <a:lnTo>
                  <a:pt x="240" y="706"/>
                </a:lnTo>
                <a:lnTo>
                  <a:pt x="526" y="706"/>
                </a:lnTo>
                <a:lnTo>
                  <a:pt x="519" y="716"/>
                </a:lnTo>
                <a:lnTo>
                  <a:pt x="514" y="727"/>
                </a:lnTo>
                <a:lnTo>
                  <a:pt x="511" y="738"/>
                </a:lnTo>
                <a:lnTo>
                  <a:pt x="510" y="751"/>
                </a:lnTo>
                <a:lnTo>
                  <a:pt x="511" y="759"/>
                </a:lnTo>
                <a:lnTo>
                  <a:pt x="512" y="766"/>
                </a:lnTo>
                <a:lnTo>
                  <a:pt x="514" y="774"/>
                </a:lnTo>
                <a:lnTo>
                  <a:pt x="516" y="780"/>
                </a:lnTo>
                <a:lnTo>
                  <a:pt x="519" y="787"/>
                </a:lnTo>
                <a:lnTo>
                  <a:pt x="523" y="793"/>
                </a:lnTo>
                <a:lnTo>
                  <a:pt x="528" y="798"/>
                </a:lnTo>
                <a:lnTo>
                  <a:pt x="532" y="804"/>
                </a:lnTo>
                <a:lnTo>
                  <a:pt x="538" y="809"/>
                </a:lnTo>
                <a:lnTo>
                  <a:pt x="543" y="813"/>
                </a:lnTo>
                <a:lnTo>
                  <a:pt x="549" y="818"/>
                </a:lnTo>
                <a:lnTo>
                  <a:pt x="556" y="821"/>
                </a:lnTo>
                <a:lnTo>
                  <a:pt x="563" y="823"/>
                </a:lnTo>
                <a:lnTo>
                  <a:pt x="570" y="825"/>
                </a:lnTo>
                <a:lnTo>
                  <a:pt x="577" y="826"/>
                </a:lnTo>
                <a:lnTo>
                  <a:pt x="586" y="826"/>
                </a:lnTo>
                <a:lnTo>
                  <a:pt x="593" y="826"/>
                </a:lnTo>
                <a:lnTo>
                  <a:pt x="601" y="825"/>
                </a:lnTo>
                <a:lnTo>
                  <a:pt x="607" y="823"/>
                </a:lnTo>
                <a:lnTo>
                  <a:pt x="615" y="821"/>
                </a:lnTo>
                <a:lnTo>
                  <a:pt x="621" y="818"/>
                </a:lnTo>
                <a:lnTo>
                  <a:pt x="628" y="813"/>
                </a:lnTo>
                <a:lnTo>
                  <a:pt x="633" y="809"/>
                </a:lnTo>
                <a:lnTo>
                  <a:pt x="638" y="804"/>
                </a:lnTo>
                <a:lnTo>
                  <a:pt x="644" y="798"/>
                </a:lnTo>
                <a:lnTo>
                  <a:pt x="648" y="793"/>
                </a:lnTo>
                <a:lnTo>
                  <a:pt x="651" y="787"/>
                </a:lnTo>
                <a:lnTo>
                  <a:pt x="654" y="780"/>
                </a:lnTo>
                <a:lnTo>
                  <a:pt x="658" y="774"/>
                </a:lnTo>
                <a:lnTo>
                  <a:pt x="659" y="766"/>
                </a:lnTo>
                <a:lnTo>
                  <a:pt x="660" y="759"/>
                </a:lnTo>
                <a:lnTo>
                  <a:pt x="661" y="751"/>
                </a:lnTo>
                <a:lnTo>
                  <a:pt x="660" y="740"/>
                </a:lnTo>
                <a:lnTo>
                  <a:pt x="658" y="730"/>
                </a:lnTo>
                <a:lnTo>
                  <a:pt x="653" y="720"/>
                </a:lnTo>
                <a:lnTo>
                  <a:pt x="649" y="710"/>
                </a:lnTo>
                <a:lnTo>
                  <a:pt x="643" y="702"/>
                </a:lnTo>
                <a:lnTo>
                  <a:pt x="635" y="695"/>
                </a:lnTo>
                <a:lnTo>
                  <a:pt x="627" y="689"/>
                </a:lnTo>
                <a:lnTo>
                  <a:pt x="618" y="684"/>
                </a:lnTo>
                <a:lnTo>
                  <a:pt x="629" y="637"/>
                </a:lnTo>
                <a:lnTo>
                  <a:pt x="630" y="635"/>
                </a:lnTo>
                <a:lnTo>
                  <a:pt x="630" y="634"/>
                </a:lnTo>
                <a:lnTo>
                  <a:pt x="717" y="274"/>
                </a:lnTo>
                <a:lnTo>
                  <a:pt x="765" y="75"/>
                </a:lnTo>
                <a:lnTo>
                  <a:pt x="886" y="75"/>
                </a:lnTo>
                <a:lnTo>
                  <a:pt x="889" y="75"/>
                </a:lnTo>
                <a:lnTo>
                  <a:pt x="891" y="74"/>
                </a:lnTo>
                <a:lnTo>
                  <a:pt x="895" y="73"/>
                </a:lnTo>
                <a:lnTo>
                  <a:pt x="897" y="70"/>
                </a:lnTo>
                <a:lnTo>
                  <a:pt x="899" y="68"/>
                </a:lnTo>
                <a:lnTo>
                  <a:pt x="900" y="66"/>
                </a:lnTo>
                <a:lnTo>
                  <a:pt x="901" y="63"/>
                </a:lnTo>
                <a:lnTo>
                  <a:pt x="901" y="60"/>
                </a:lnTo>
                <a:lnTo>
                  <a:pt x="901" y="57"/>
                </a:lnTo>
                <a:lnTo>
                  <a:pt x="900" y="54"/>
                </a:lnTo>
                <a:lnTo>
                  <a:pt x="899" y="51"/>
                </a:lnTo>
                <a:lnTo>
                  <a:pt x="897" y="49"/>
                </a:lnTo>
                <a:lnTo>
                  <a:pt x="895" y="47"/>
                </a:lnTo>
                <a:lnTo>
                  <a:pt x="891" y="46"/>
                </a:lnTo>
                <a:lnTo>
                  <a:pt x="889" y="45"/>
                </a:lnTo>
                <a:lnTo>
                  <a:pt x="886" y="4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Freeform 4344" descr="Icon of wrench. ">
            <a:extLst>
              <a:ext uri="{FF2B5EF4-FFF2-40B4-BE49-F238E27FC236}">
                <a16:creationId xmlns:a16="http://schemas.microsoft.com/office/drawing/2014/main" id="{C131659B-1A41-4821-9349-1E69BBBB560E}"/>
              </a:ext>
            </a:extLst>
          </p:cNvPr>
          <p:cNvSpPr>
            <a:spLocks/>
          </p:cNvSpPr>
          <p:nvPr/>
        </p:nvSpPr>
        <p:spPr bwMode="auto">
          <a:xfrm>
            <a:off x="3742205" y="2300343"/>
            <a:ext cx="373996" cy="373996"/>
          </a:xfrm>
          <a:custGeom>
            <a:avLst/>
            <a:gdLst>
              <a:gd name="T0" fmla="*/ 853 w 886"/>
              <a:gd name="T1" fmla="*/ 137 h 886"/>
              <a:gd name="T2" fmla="*/ 842 w 886"/>
              <a:gd name="T3" fmla="*/ 134 h 886"/>
              <a:gd name="T4" fmla="*/ 833 w 886"/>
              <a:gd name="T5" fmla="*/ 138 h 886"/>
              <a:gd name="T6" fmla="*/ 646 w 886"/>
              <a:gd name="T7" fmla="*/ 172 h 886"/>
              <a:gd name="T8" fmla="*/ 754 w 886"/>
              <a:gd name="T9" fmla="*/ 46 h 886"/>
              <a:gd name="T10" fmla="*/ 754 w 886"/>
              <a:gd name="T11" fmla="*/ 37 h 886"/>
              <a:gd name="T12" fmla="*/ 747 w 886"/>
              <a:gd name="T13" fmla="*/ 29 h 886"/>
              <a:gd name="T14" fmla="*/ 704 w 886"/>
              <a:gd name="T15" fmla="*/ 12 h 886"/>
              <a:gd name="T16" fmla="*/ 659 w 886"/>
              <a:gd name="T17" fmla="*/ 2 h 886"/>
              <a:gd name="T18" fmla="*/ 615 w 886"/>
              <a:gd name="T19" fmla="*/ 0 h 886"/>
              <a:gd name="T20" fmla="*/ 577 w 886"/>
              <a:gd name="T21" fmla="*/ 6 h 886"/>
              <a:gd name="T22" fmla="*/ 539 w 886"/>
              <a:gd name="T23" fmla="*/ 15 h 886"/>
              <a:gd name="T24" fmla="*/ 505 w 886"/>
              <a:gd name="T25" fmla="*/ 31 h 886"/>
              <a:gd name="T26" fmla="*/ 473 w 886"/>
              <a:gd name="T27" fmla="*/ 52 h 886"/>
              <a:gd name="T28" fmla="*/ 443 w 886"/>
              <a:gd name="T29" fmla="*/ 76 h 886"/>
              <a:gd name="T30" fmla="*/ 405 w 886"/>
              <a:gd name="T31" fmla="*/ 124 h 886"/>
              <a:gd name="T32" fmla="*/ 380 w 886"/>
              <a:gd name="T33" fmla="*/ 178 h 886"/>
              <a:gd name="T34" fmla="*/ 368 w 886"/>
              <a:gd name="T35" fmla="*/ 235 h 886"/>
              <a:gd name="T36" fmla="*/ 368 w 886"/>
              <a:gd name="T37" fmla="*/ 293 h 886"/>
              <a:gd name="T38" fmla="*/ 382 w 886"/>
              <a:gd name="T39" fmla="*/ 351 h 886"/>
              <a:gd name="T40" fmla="*/ 21 w 886"/>
              <a:gd name="T41" fmla="*/ 738 h 886"/>
              <a:gd name="T42" fmla="*/ 7 w 886"/>
              <a:gd name="T43" fmla="*/ 762 h 886"/>
              <a:gd name="T44" fmla="*/ 1 w 886"/>
              <a:gd name="T45" fmla="*/ 787 h 886"/>
              <a:gd name="T46" fmla="*/ 2 w 886"/>
              <a:gd name="T47" fmla="*/ 813 h 886"/>
              <a:gd name="T48" fmla="*/ 11 w 886"/>
              <a:gd name="T49" fmla="*/ 838 h 886"/>
              <a:gd name="T50" fmla="*/ 27 w 886"/>
              <a:gd name="T51" fmla="*/ 860 h 886"/>
              <a:gd name="T52" fmla="*/ 48 w 886"/>
              <a:gd name="T53" fmla="*/ 875 h 886"/>
              <a:gd name="T54" fmla="*/ 73 w 886"/>
              <a:gd name="T55" fmla="*/ 884 h 886"/>
              <a:gd name="T56" fmla="*/ 99 w 886"/>
              <a:gd name="T57" fmla="*/ 885 h 886"/>
              <a:gd name="T58" fmla="*/ 125 w 886"/>
              <a:gd name="T59" fmla="*/ 879 h 886"/>
              <a:gd name="T60" fmla="*/ 148 w 886"/>
              <a:gd name="T61" fmla="*/ 866 h 886"/>
              <a:gd name="T62" fmla="*/ 530 w 886"/>
              <a:gd name="T63" fmla="*/ 502 h 886"/>
              <a:gd name="T64" fmla="*/ 570 w 886"/>
              <a:gd name="T65" fmla="*/ 515 h 886"/>
              <a:gd name="T66" fmla="*/ 612 w 886"/>
              <a:gd name="T67" fmla="*/ 520 h 886"/>
              <a:gd name="T68" fmla="*/ 626 w 886"/>
              <a:gd name="T69" fmla="*/ 520 h 886"/>
              <a:gd name="T70" fmla="*/ 664 w 886"/>
              <a:gd name="T71" fmla="*/ 518 h 886"/>
              <a:gd name="T72" fmla="*/ 702 w 886"/>
              <a:gd name="T73" fmla="*/ 509 h 886"/>
              <a:gd name="T74" fmla="*/ 737 w 886"/>
              <a:gd name="T75" fmla="*/ 496 h 886"/>
              <a:gd name="T76" fmla="*/ 769 w 886"/>
              <a:gd name="T77" fmla="*/ 477 h 886"/>
              <a:gd name="T78" fmla="*/ 800 w 886"/>
              <a:gd name="T79" fmla="*/ 454 h 886"/>
              <a:gd name="T80" fmla="*/ 837 w 886"/>
              <a:gd name="T81" fmla="*/ 413 h 886"/>
              <a:gd name="T82" fmla="*/ 867 w 886"/>
              <a:gd name="T83" fmla="*/ 360 h 886"/>
              <a:gd name="T84" fmla="*/ 883 w 886"/>
              <a:gd name="T85" fmla="*/ 301 h 886"/>
              <a:gd name="T86" fmla="*/ 885 w 886"/>
              <a:gd name="T87" fmla="*/ 241 h 886"/>
              <a:gd name="T88" fmla="*/ 873 w 886"/>
              <a:gd name="T89" fmla="*/ 181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86" h="886">
                <a:moveTo>
                  <a:pt x="857" y="143"/>
                </a:moveTo>
                <a:lnTo>
                  <a:pt x="855" y="139"/>
                </a:lnTo>
                <a:lnTo>
                  <a:pt x="853" y="137"/>
                </a:lnTo>
                <a:lnTo>
                  <a:pt x="849" y="135"/>
                </a:lnTo>
                <a:lnTo>
                  <a:pt x="846" y="133"/>
                </a:lnTo>
                <a:lnTo>
                  <a:pt x="842" y="134"/>
                </a:lnTo>
                <a:lnTo>
                  <a:pt x="839" y="135"/>
                </a:lnTo>
                <a:lnTo>
                  <a:pt x="836" y="136"/>
                </a:lnTo>
                <a:lnTo>
                  <a:pt x="833" y="138"/>
                </a:lnTo>
                <a:lnTo>
                  <a:pt x="712" y="259"/>
                </a:lnTo>
                <a:lnTo>
                  <a:pt x="646" y="259"/>
                </a:lnTo>
                <a:lnTo>
                  <a:pt x="646" y="172"/>
                </a:lnTo>
                <a:lnTo>
                  <a:pt x="751" y="53"/>
                </a:lnTo>
                <a:lnTo>
                  <a:pt x="753" y="49"/>
                </a:lnTo>
                <a:lnTo>
                  <a:pt x="754" y="46"/>
                </a:lnTo>
                <a:lnTo>
                  <a:pt x="755" y="43"/>
                </a:lnTo>
                <a:lnTo>
                  <a:pt x="755" y="39"/>
                </a:lnTo>
                <a:lnTo>
                  <a:pt x="754" y="37"/>
                </a:lnTo>
                <a:lnTo>
                  <a:pt x="752" y="33"/>
                </a:lnTo>
                <a:lnTo>
                  <a:pt x="750" y="31"/>
                </a:lnTo>
                <a:lnTo>
                  <a:pt x="747" y="29"/>
                </a:lnTo>
                <a:lnTo>
                  <a:pt x="733" y="23"/>
                </a:lnTo>
                <a:lnTo>
                  <a:pt x="719" y="16"/>
                </a:lnTo>
                <a:lnTo>
                  <a:pt x="704" y="12"/>
                </a:lnTo>
                <a:lnTo>
                  <a:pt x="689" y="8"/>
                </a:lnTo>
                <a:lnTo>
                  <a:pt x="674" y="5"/>
                </a:lnTo>
                <a:lnTo>
                  <a:pt x="659" y="2"/>
                </a:lnTo>
                <a:lnTo>
                  <a:pt x="643" y="1"/>
                </a:lnTo>
                <a:lnTo>
                  <a:pt x="628" y="0"/>
                </a:lnTo>
                <a:lnTo>
                  <a:pt x="615" y="0"/>
                </a:lnTo>
                <a:lnTo>
                  <a:pt x="602" y="1"/>
                </a:lnTo>
                <a:lnTo>
                  <a:pt x="589" y="3"/>
                </a:lnTo>
                <a:lnTo>
                  <a:pt x="577" y="6"/>
                </a:lnTo>
                <a:lnTo>
                  <a:pt x="564" y="8"/>
                </a:lnTo>
                <a:lnTo>
                  <a:pt x="552" y="11"/>
                </a:lnTo>
                <a:lnTo>
                  <a:pt x="539" y="15"/>
                </a:lnTo>
                <a:lnTo>
                  <a:pt x="527" y="19"/>
                </a:lnTo>
                <a:lnTo>
                  <a:pt x="516" y="25"/>
                </a:lnTo>
                <a:lnTo>
                  <a:pt x="505" y="31"/>
                </a:lnTo>
                <a:lnTo>
                  <a:pt x="493" y="37"/>
                </a:lnTo>
                <a:lnTo>
                  <a:pt x="482" y="44"/>
                </a:lnTo>
                <a:lnTo>
                  <a:pt x="473" y="52"/>
                </a:lnTo>
                <a:lnTo>
                  <a:pt x="462" y="59"/>
                </a:lnTo>
                <a:lnTo>
                  <a:pt x="452" y="68"/>
                </a:lnTo>
                <a:lnTo>
                  <a:pt x="443" y="76"/>
                </a:lnTo>
                <a:lnTo>
                  <a:pt x="429" y="91"/>
                </a:lnTo>
                <a:lnTo>
                  <a:pt x="416" y="107"/>
                </a:lnTo>
                <a:lnTo>
                  <a:pt x="405" y="124"/>
                </a:lnTo>
                <a:lnTo>
                  <a:pt x="396" y="141"/>
                </a:lnTo>
                <a:lnTo>
                  <a:pt x="387" y="160"/>
                </a:lnTo>
                <a:lnTo>
                  <a:pt x="380" y="178"/>
                </a:lnTo>
                <a:lnTo>
                  <a:pt x="374" y="196"/>
                </a:lnTo>
                <a:lnTo>
                  <a:pt x="370" y="215"/>
                </a:lnTo>
                <a:lnTo>
                  <a:pt x="368" y="235"/>
                </a:lnTo>
                <a:lnTo>
                  <a:pt x="366" y="254"/>
                </a:lnTo>
                <a:lnTo>
                  <a:pt x="367" y="274"/>
                </a:lnTo>
                <a:lnTo>
                  <a:pt x="368" y="293"/>
                </a:lnTo>
                <a:lnTo>
                  <a:pt x="371" y="313"/>
                </a:lnTo>
                <a:lnTo>
                  <a:pt x="376" y="332"/>
                </a:lnTo>
                <a:lnTo>
                  <a:pt x="382" y="351"/>
                </a:lnTo>
                <a:lnTo>
                  <a:pt x="390" y="369"/>
                </a:lnTo>
                <a:lnTo>
                  <a:pt x="27" y="732"/>
                </a:lnTo>
                <a:lnTo>
                  <a:pt x="21" y="738"/>
                </a:lnTo>
                <a:lnTo>
                  <a:pt x="16" y="746"/>
                </a:lnTo>
                <a:lnTo>
                  <a:pt x="11" y="753"/>
                </a:lnTo>
                <a:lnTo>
                  <a:pt x="7" y="762"/>
                </a:lnTo>
                <a:lnTo>
                  <a:pt x="4" y="769"/>
                </a:lnTo>
                <a:lnTo>
                  <a:pt x="2" y="778"/>
                </a:lnTo>
                <a:lnTo>
                  <a:pt x="1" y="787"/>
                </a:lnTo>
                <a:lnTo>
                  <a:pt x="0" y="796"/>
                </a:lnTo>
                <a:lnTo>
                  <a:pt x="1" y="805"/>
                </a:lnTo>
                <a:lnTo>
                  <a:pt x="2" y="813"/>
                </a:lnTo>
                <a:lnTo>
                  <a:pt x="4" y="822"/>
                </a:lnTo>
                <a:lnTo>
                  <a:pt x="7" y="830"/>
                </a:lnTo>
                <a:lnTo>
                  <a:pt x="11" y="838"/>
                </a:lnTo>
                <a:lnTo>
                  <a:pt x="15" y="845"/>
                </a:lnTo>
                <a:lnTo>
                  <a:pt x="20" y="853"/>
                </a:lnTo>
                <a:lnTo>
                  <a:pt x="27" y="860"/>
                </a:lnTo>
                <a:lnTo>
                  <a:pt x="33" y="866"/>
                </a:lnTo>
                <a:lnTo>
                  <a:pt x="41" y="871"/>
                </a:lnTo>
                <a:lnTo>
                  <a:pt x="48" y="875"/>
                </a:lnTo>
                <a:lnTo>
                  <a:pt x="55" y="879"/>
                </a:lnTo>
                <a:lnTo>
                  <a:pt x="64" y="882"/>
                </a:lnTo>
                <a:lnTo>
                  <a:pt x="73" y="884"/>
                </a:lnTo>
                <a:lnTo>
                  <a:pt x="81" y="885"/>
                </a:lnTo>
                <a:lnTo>
                  <a:pt x="91" y="886"/>
                </a:lnTo>
                <a:lnTo>
                  <a:pt x="99" y="885"/>
                </a:lnTo>
                <a:lnTo>
                  <a:pt x="108" y="884"/>
                </a:lnTo>
                <a:lnTo>
                  <a:pt x="116" y="882"/>
                </a:lnTo>
                <a:lnTo>
                  <a:pt x="125" y="879"/>
                </a:lnTo>
                <a:lnTo>
                  <a:pt x="133" y="875"/>
                </a:lnTo>
                <a:lnTo>
                  <a:pt x="140" y="871"/>
                </a:lnTo>
                <a:lnTo>
                  <a:pt x="148" y="866"/>
                </a:lnTo>
                <a:lnTo>
                  <a:pt x="154" y="860"/>
                </a:lnTo>
                <a:lnTo>
                  <a:pt x="517" y="497"/>
                </a:lnTo>
                <a:lnTo>
                  <a:pt x="530" y="502"/>
                </a:lnTo>
                <a:lnTo>
                  <a:pt x="543" y="507"/>
                </a:lnTo>
                <a:lnTo>
                  <a:pt x="556" y="512"/>
                </a:lnTo>
                <a:lnTo>
                  <a:pt x="570" y="515"/>
                </a:lnTo>
                <a:lnTo>
                  <a:pt x="584" y="517"/>
                </a:lnTo>
                <a:lnTo>
                  <a:pt x="598" y="519"/>
                </a:lnTo>
                <a:lnTo>
                  <a:pt x="612" y="520"/>
                </a:lnTo>
                <a:lnTo>
                  <a:pt x="626" y="520"/>
                </a:lnTo>
                <a:lnTo>
                  <a:pt x="626" y="520"/>
                </a:lnTo>
                <a:lnTo>
                  <a:pt x="626" y="520"/>
                </a:lnTo>
                <a:lnTo>
                  <a:pt x="639" y="520"/>
                </a:lnTo>
                <a:lnTo>
                  <a:pt x="651" y="519"/>
                </a:lnTo>
                <a:lnTo>
                  <a:pt x="664" y="518"/>
                </a:lnTo>
                <a:lnTo>
                  <a:pt x="677" y="516"/>
                </a:lnTo>
                <a:lnTo>
                  <a:pt x="689" y="513"/>
                </a:lnTo>
                <a:lnTo>
                  <a:pt x="702" y="509"/>
                </a:lnTo>
                <a:lnTo>
                  <a:pt x="714" y="505"/>
                </a:lnTo>
                <a:lnTo>
                  <a:pt x="725" y="501"/>
                </a:lnTo>
                <a:lnTo>
                  <a:pt x="737" y="496"/>
                </a:lnTo>
                <a:lnTo>
                  <a:pt x="748" y="490"/>
                </a:lnTo>
                <a:lnTo>
                  <a:pt x="758" y="484"/>
                </a:lnTo>
                <a:lnTo>
                  <a:pt x="769" y="477"/>
                </a:lnTo>
                <a:lnTo>
                  <a:pt x="780" y="470"/>
                </a:lnTo>
                <a:lnTo>
                  <a:pt x="791" y="462"/>
                </a:lnTo>
                <a:lnTo>
                  <a:pt x="800" y="454"/>
                </a:lnTo>
                <a:lnTo>
                  <a:pt x="810" y="444"/>
                </a:lnTo>
                <a:lnTo>
                  <a:pt x="824" y="429"/>
                </a:lnTo>
                <a:lnTo>
                  <a:pt x="837" y="413"/>
                </a:lnTo>
                <a:lnTo>
                  <a:pt x="848" y="396"/>
                </a:lnTo>
                <a:lnTo>
                  <a:pt x="858" y="378"/>
                </a:lnTo>
                <a:lnTo>
                  <a:pt x="867" y="360"/>
                </a:lnTo>
                <a:lnTo>
                  <a:pt x="873" y="340"/>
                </a:lnTo>
                <a:lnTo>
                  <a:pt x="878" y="321"/>
                </a:lnTo>
                <a:lnTo>
                  <a:pt x="883" y="301"/>
                </a:lnTo>
                <a:lnTo>
                  <a:pt x="885" y="282"/>
                </a:lnTo>
                <a:lnTo>
                  <a:pt x="886" y="261"/>
                </a:lnTo>
                <a:lnTo>
                  <a:pt x="885" y="241"/>
                </a:lnTo>
                <a:lnTo>
                  <a:pt x="883" y="221"/>
                </a:lnTo>
                <a:lnTo>
                  <a:pt x="878" y="200"/>
                </a:lnTo>
                <a:lnTo>
                  <a:pt x="873" y="181"/>
                </a:lnTo>
                <a:lnTo>
                  <a:pt x="865" y="162"/>
                </a:lnTo>
                <a:lnTo>
                  <a:pt x="857" y="1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58" name="Group 57" descr="Icon of money. ">
            <a:extLst>
              <a:ext uri="{FF2B5EF4-FFF2-40B4-BE49-F238E27FC236}">
                <a16:creationId xmlns:a16="http://schemas.microsoft.com/office/drawing/2014/main" id="{8FB81822-E09C-4A9F-BCD2-4BB20E38DA03}"/>
              </a:ext>
            </a:extLst>
          </p:cNvPr>
          <p:cNvGrpSpPr/>
          <p:nvPr/>
        </p:nvGrpSpPr>
        <p:grpSpPr>
          <a:xfrm>
            <a:off x="5905833" y="2296118"/>
            <a:ext cx="380334" cy="382447"/>
            <a:chOff x="3746500" y="1344613"/>
            <a:chExt cx="285750" cy="287338"/>
          </a:xfrm>
          <a:solidFill>
            <a:schemeClr val="bg1"/>
          </a:solidFill>
        </p:grpSpPr>
        <p:sp>
          <p:nvSpPr>
            <p:cNvPr id="59" name="Freeform 497">
              <a:extLst>
                <a:ext uri="{FF2B5EF4-FFF2-40B4-BE49-F238E27FC236}">
                  <a16:creationId xmlns:a16="http://schemas.microsoft.com/office/drawing/2014/main" id="{4325703C-49C2-4EC8-BBAF-CE488FCB0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500" y="1344613"/>
              <a:ext cx="285750" cy="182563"/>
            </a:xfrm>
            <a:custGeom>
              <a:avLst/>
              <a:gdLst>
                <a:gd name="T0" fmla="*/ 0 w 903"/>
                <a:gd name="T1" fmla="*/ 0 h 573"/>
                <a:gd name="T2" fmla="*/ 0 w 903"/>
                <a:gd name="T3" fmla="*/ 467 h 573"/>
                <a:gd name="T4" fmla="*/ 1 w 903"/>
                <a:gd name="T5" fmla="*/ 459 h 573"/>
                <a:gd name="T6" fmla="*/ 2 w 903"/>
                <a:gd name="T7" fmla="*/ 453 h 573"/>
                <a:gd name="T8" fmla="*/ 5 w 903"/>
                <a:gd name="T9" fmla="*/ 446 h 573"/>
                <a:gd name="T10" fmla="*/ 8 w 903"/>
                <a:gd name="T11" fmla="*/ 440 h 573"/>
                <a:gd name="T12" fmla="*/ 12 w 903"/>
                <a:gd name="T13" fmla="*/ 434 h 573"/>
                <a:gd name="T14" fmla="*/ 18 w 903"/>
                <a:gd name="T15" fmla="*/ 428 h 573"/>
                <a:gd name="T16" fmla="*/ 23 w 903"/>
                <a:gd name="T17" fmla="*/ 423 h 573"/>
                <a:gd name="T18" fmla="*/ 30 w 903"/>
                <a:gd name="T19" fmla="*/ 419 h 573"/>
                <a:gd name="T20" fmla="*/ 30 w 903"/>
                <a:gd name="T21" fmla="*/ 30 h 573"/>
                <a:gd name="T22" fmla="*/ 873 w 903"/>
                <a:gd name="T23" fmla="*/ 30 h 573"/>
                <a:gd name="T24" fmla="*/ 873 w 903"/>
                <a:gd name="T25" fmla="*/ 543 h 573"/>
                <a:gd name="T26" fmla="*/ 481 w 903"/>
                <a:gd name="T27" fmla="*/ 543 h 573"/>
                <a:gd name="T28" fmla="*/ 481 w 903"/>
                <a:gd name="T29" fmla="*/ 573 h 573"/>
                <a:gd name="T30" fmla="*/ 903 w 903"/>
                <a:gd name="T31" fmla="*/ 573 h 573"/>
                <a:gd name="T32" fmla="*/ 903 w 903"/>
                <a:gd name="T33" fmla="*/ 0 h 573"/>
                <a:gd name="T34" fmla="*/ 0 w 903"/>
                <a:gd name="T35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3" h="573">
                  <a:moveTo>
                    <a:pt x="0" y="0"/>
                  </a:moveTo>
                  <a:lnTo>
                    <a:pt x="0" y="467"/>
                  </a:lnTo>
                  <a:lnTo>
                    <a:pt x="1" y="459"/>
                  </a:lnTo>
                  <a:lnTo>
                    <a:pt x="2" y="453"/>
                  </a:lnTo>
                  <a:lnTo>
                    <a:pt x="5" y="446"/>
                  </a:lnTo>
                  <a:lnTo>
                    <a:pt x="8" y="440"/>
                  </a:lnTo>
                  <a:lnTo>
                    <a:pt x="12" y="434"/>
                  </a:lnTo>
                  <a:lnTo>
                    <a:pt x="18" y="428"/>
                  </a:lnTo>
                  <a:lnTo>
                    <a:pt x="23" y="423"/>
                  </a:lnTo>
                  <a:lnTo>
                    <a:pt x="30" y="419"/>
                  </a:lnTo>
                  <a:lnTo>
                    <a:pt x="30" y="30"/>
                  </a:lnTo>
                  <a:lnTo>
                    <a:pt x="873" y="30"/>
                  </a:lnTo>
                  <a:lnTo>
                    <a:pt x="873" y="543"/>
                  </a:lnTo>
                  <a:lnTo>
                    <a:pt x="481" y="543"/>
                  </a:lnTo>
                  <a:lnTo>
                    <a:pt x="481" y="573"/>
                  </a:lnTo>
                  <a:lnTo>
                    <a:pt x="903" y="573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Freeform 498">
              <a:extLst>
                <a:ext uri="{FF2B5EF4-FFF2-40B4-BE49-F238E27FC236}">
                  <a16:creationId xmlns:a16="http://schemas.microsoft.com/office/drawing/2014/main" id="{A721923B-8DD3-47E1-B174-6D9950E778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5075" y="1373188"/>
              <a:ext cx="228600" cy="125413"/>
            </a:xfrm>
            <a:custGeom>
              <a:avLst/>
              <a:gdLst>
                <a:gd name="T0" fmla="*/ 330 w 723"/>
                <a:gd name="T1" fmla="*/ 283 h 392"/>
                <a:gd name="T2" fmla="*/ 295 w 723"/>
                <a:gd name="T3" fmla="*/ 263 h 392"/>
                <a:gd name="T4" fmla="*/ 269 w 723"/>
                <a:gd name="T5" fmla="*/ 232 h 392"/>
                <a:gd name="T6" fmla="*/ 257 w 723"/>
                <a:gd name="T7" fmla="*/ 192 h 392"/>
                <a:gd name="T8" fmla="*/ 260 w 723"/>
                <a:gd name="T9" fmla="*/ 151 h 392"/>
                <a:gd name="T10" fmla="*/ 281 w 723"/>
                <a:gd name="T11" fmla="*/ 115 h 392"/>
                <a:gd name="T12" fmla="*/ 312 w 723"/>
                <a:gd name="T13" fmla="*/ 90 h 392"/>
                <a:gd name="T14" fmla="*/ 350 w 723"/>
                <a:gd name="T15" fmla="*/ 77 h 392"/>
                <a:gd name="T16" fmla="*/ 392 w 723"/>
                <a:gd name="T17" fmla="*/ 81 h 392"/>
                <a:gd name="T18" fmla="*/ 429 w 723"/>
                <a:gd name="T19" fmla="*/ 100 h 392"/>
                <a:gd name="T20" fmla="*/ 454 w 723"/>
                <a:gd name="T21" fmla="*/ 131 h 392"/>
                <a:gd name="T22" fmla="*/ 466 w 723"/>
                <a:gd name="T23" fmla="*/ 171 h 392"/>
                <a:gd name="T24" fmla="*/ 462 w 723"/>
                <a:gd name="T25" fmla="*/ 213 h 392"/>
                <a:gd name="T26" fmla="*/ 443 w 723"/>
                <a:gd name="T27" fmla="*/ 248 h 392"/>
                <a:gd name="T28" fmla="*/ 412 w 723"/>
                <a:gd name="T29" fmla="*/ 274 h 392"/>
                <a:gd name="T30" fmla="*/ 372 w 723"/>
                <a:gd name="T31" fmla="*/ 287 h 392"/>
                <a:gd name="T32" fmla="*/ 96 w 723"/>
                <a:gd name="T33" fmla="*/ 151 h 392"/>
                <a:gd name="T34" fmla="*/ 68 w 723"/>
                <a:gd name="T35" fmla="*/ 131 h 392"/>
                <a:gd name="T36" fmla="*/ 61 w 723"/>
                <a:gd name="T37" fmla="*/ 97 h 392"/>
                <a:gd name="T38" fmla="*/ 80 w 723"/>
                <a:gd name="T39" fmla="*/ 69 h 392"/>
                <a:gd name="T40" fmla="*/ 114 w 723"/>
                <a:gd name="T41" fmla="*/ 63 h 392"/>
                <a:gd name="T42" fmla="*/ 143 w 723"/>
                <a:gd name="T43" fmla="*/ 81 h 392"/>
                <a:gd name="T44" fmla="*/ 150 w 723"/>
                <a:gd name="T45" fmla="*/ 115 h 392"/>
                <a:gd name="T46" fmla="*/ 131 w 723"/>
                <a:gd name="T47" fmla="*/ 144 h 392"/>
                <a:gd name="T48" fmla="*/ 106 w 723"/>
                <a:gd name="T49" fmla="*/ 152 h 392"/>
                <a:gd name="T50" fmla="*/ 642 w 723"/>
                <a:gd name="T51" fmla="*/ 249 h 392"/>
                <a:gd name="T52" fmla="*/ 661 w 723"/>
                <a:gd name="T53" fmla="*/ 278 h 392"/>
                <a:gd name="T54" fmla="*/ 655 w 723"/>
                <a:gd name="T55" fmla="*/ 313 h 392"/>
                <a:gd name="T56" fmla="*/ 626 w 723"/>
                <a:gd name="T57" fmla="*/ 331 h 392"/>
                <a:gd name="T58" fmla="*/ 592 w 723"/>
                <a:gd name="T59" fmla="*/ 324 h 392"/>
                <a:gd name="T60" fmla="*/ 573 w 723"/>
                <a:gd name="T61" fmla="*/ 297 h 392"/>
                <a:gd name="T62" fmla="*/ 580 w 723"/>
                <a:gd name="T63" fmla="*/ 262 h 392"/>
                <a:gd name="T64" fmla="*/ 608 w 723"/>
                <a:gd name="T65" fmla="*/ 243 h 392"/>
                <a:gd name="T66" fmla="*/ 669 w 723"/>
                <a:gd name="T67" fmla="*/ 392 h 392"/>
                <a:gd name="T68" fmla="*/ 691 w 723"/>
                <a:gd name="T69" fmla="*/ 386 h 392"/>
                <a:gd name="T70" fmla="*/ 709 w 723"/>
                <a:gd name="T71" fmla="*/ 371 h 392"/>
                <a:gd name="T72" fmla="*/ 720 w 723"/>
                <a:gd name="T73" fmla="*/ 350 h 392"/>
                <a:gd name="T74" fmla="*/ 723 w 723"/>
                <a:gd name="T75" fmla="*/ 62 h 392"/>
                <a:gd name="T76" fmla="*/ 718 w 723"/>
                <a:gd name="T77" fmla="*/ 38 h 392"/>
                <a:gd name="T78" fmla="*/ 705 w 723"/>
                <a:gd name="T79" fmla="*/ 19 h 392"/>
                <a:gd name="T80" fmla="*/ 686 w 723"/>
                <a:gd name="T81" fmla="*/ 6 h 392"/>
                <a:gd name="T82" fmla="*/ 663 w 723"/>
                <a:gd name="T83" fmla="*/ 2 h 392"/>
                <a:gd name="T84" fmla="*/ 43 w 723"/>
                <a:gd name="T85" fmla="*/ 4 h 392"/>
                <a:gd name="T86" fmla="*/ 22 w 723"/>
                <a:gd name="T87" fmla="*/ 14 h 392"/>
                <a:gd name="T88" fmla="*/ 7 w 723"/>
                <a:gd name="T89" fmla="*/ 33 h 392"/>
                <a:gd name="T90" fmla="*/ 1 w 723"/>
                <a:gd name="T91" fmla="*/ 55 h 392"/>
                <a:gd name="T92" fmla="*/ 46 w 723"/>
                <a:gd name="T93" fmla="*/ 294 h 392"/>
                <a:gd name="T94" fmla="*/ 151 w 723"/>
                <a:gd name="T95" fmla="*/ 287 h 392"/>
                <a:gd name="T96" fmla="*/ 244 w 723"/>
                <a:gd name="T97" fmla="*/ 293 h 392"/>
                <a:gd name="T98" fmla="*/ 326 w 723"/>
                <a:gd name="T99" fmla="*/ 312 h 392"/>
                <a:gd name="T100" fmla="*/ 373 w 723"/>
                <a:gd name="T101" fmla="*/ 337 h 392"/>
                <a:gd name="T102" fmla="*/ 389 w 723"/>
                <a:gd name="T103" fmla="*/ 36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3" h="392">
                  <a:moveTo>
                    <a:pt x="361" y="287"/>
                  </a:moveTo>
                  <a:lnTo>
                    <a:pt x="350" y="287"/>
                  </a:lnTo>
                  <a:lnTo>
                    <a:pt x="341" y="285"/>
                  </a:lnTo>
                  <a:lnTo>
                    <a:pt x="330" y="283"/>
                  </a:lnTo>
                  <a:lnTo>
                    <a:pt x="320" y="278"/>
                  </a:lnTo>
                  <a:lnTo>
                    <a:pt x="312" y="274"/>
                  </a:lnTo>
                  <a:lnTo>
                    <a:pt x="302" y="269"/>
                  </a:lnTo>
                  <a:lnTo>
                    <a:pt x="295" y="263"/>
                  </a:lnTo>
                  <a:lnTo>
                    <a:pt x="287" y="256"/>
                  </a:lnTo>
                  <a:lnTo>
                    <a:pt x="281" y="248"/>
                  </a:lnTo>
                  <a:lnTo>
                    <a:pt x="274" y="241"/>
                  </a:lnTo>
                  <a:lnTo>
                    <a:pt x="269" y="232"/>
                  </a:lnTo>
                  <a:lnTo>
                    <a:pt x="265" y="223"/>
                  </a:lnTo>
                  <a:lnTo>
                    <a:pt x="260" y="213"/>
                  </a:lnTo>
                  <a:lnTo>
                    <a:pt x="258" y="203"/>
                  </a:lnTo>
                  <a:lnTo>
                    <a:pt x="257" y="192"/>
                  </a:lnTo>
                  <a:lnTo>
                    <a:pt x="256" y="182"/>
                  </a:lnTo>
                  <a:lnTo>
                    <a:pt x="257" y="171"/>
                  </a:lnTo>
                  <a:lnTo>
                    <a:pt x="258" y="160"/>
                  </a:lnTo>
                  <a:lnTo>
                    <a:pt x="260" y="151"/>
                  </a:lnTo>
                  <a:lnTo>
                    <a:pt x="265" y="141"/>
                  </a:lnTo>
                  <a:lnTo>
                    <a:pt x="269" y="131"/>
                  </a:lnTo>
                  <a:lnTo>
                    <a:pt x="274" y="123"/>
                  </a:lnTo>
                  <a:lnTo>
                    <a:pt x="281" y="115"/>
                  </a:lnTo>
                  <a:lnTo>
                    <a:pt x="287" y="108"/>
                  </a:lnTo>
                  <a:lnTo>
                    <a:pt x="295" y="100"/>
                  </a:lnTo>
                  <a:lnTo>
                    <a:pt x="302" y="95"/>
                  </a:lnTo>
                  <a:lnTo>
                    <a:pt x="312" y="90"/>
                  </a:lnTo>
                  <a:lnTo>
                    <a:pt x="320" y="84"/>
                  </a:lnTo>
                  <a:lnTo>
                    <a:pt x="330" y="81"/>
                  </a:lnTo>
                  <a:lnTo>
                    <a:pt x="341" y="79"/>
                  </a:lnTo>
                  <a:lnTo>
                    <a:pt x="350" y="77"/>
                  </a:lnTo>
                  <a:lnTo>
                    <a:pt x="361" y="77"/>
                  </a:lnTo>
                  <a:lnTo>
                    <a:pt x="372" y="77"/>
                  </a:lnTo>
                  <a:lnTo>
                    <a:pt x="383" y="79"/>
                  </a:lnTo>
                  <a:lnTo>
                    <a:pt x="392" y="81"/>
                  </a:lnTo>
                  <a:lnTo>
                    <a:pt x="403" y="84"/>
                  </a:lnTo>
                  <a:lnTo>
                    <a:pt x="412" y="90"/>
                  </a:lnTo>
                  <a:lnTo>
                    <a:pt x="420" y="95"/>
                  </a:lnTo>
                  <a:lnTo>
                    <a:pt x="429" y="100"/>
                  </a:lnTo>
                  <a:lnTo>
                    <a:pt x="436" y="108"/>
                  </a:lnTo>
                  <a:lnTo>
                    <a:pt x="443" y="115"/>
                  </a:lnTo>
                  <a:lnTo>
                    <a:pt x="449" y="123"/>
                  </a:lnTo>
                  <a:lnTo>
                    <a:pt x="454" y="131"/>
                  </a:lnTo>
                  <a:lnTo>
                    <a:pt x="459" y="141"/>
                  </a:lnTo>
                  <a:lnTo>
                    <a:pt x="462" y="151"/>
                  </a:lnTo>
                  <a:lnTo>
                    <a:pt x="465" y="160"/>
                  </a:lnTo>
                  <a:lnTo>
                    <a:pt x="466" y="171"/>
                  </a:lnTo>
                  <a:lnTo>
                    <a:pt x="467" y="182"/>
                  </a:lnTo>
                  <a:lnTo>
                    <a:pt x="466" y="192"/>
                  </a:lnTo>
                  <a:lnTo>
                    <a:pt x="465" y="203"/>
                  </a:lnTo>
                  <a:lnTo>
                    <a:pt x="462" y="213"/>
                  </a:lnTo>
                  <a:lnTo>
                    <a:pt x="459" y="223"/>
                  </a:lnTo>
                  <a:lnTo>
                    <a:pt x="454" y="232"/>
                  </a:lnTo>
                  <a:lnTo>
                    <a:pt x="449" y="241"/>
                  </a:lnTo>
                  <a:lnTo>
                    <a:pt x="443" y="248"/>
                  </a:lnTo>
                  <a:lnTo>
                    <a:pt x="436" y="256"/>
                  </a:lnTo>
                  <a:lnTo>
                    <a:pt x="429" y="263"/>
                  </a:lnTo>
                  <a:lnTo>
                    <a:pt x="420" y="269"/>
                  </a:lnTo>
                  <a:lnTo>
                    <a:pt x="412" y="274"/>
                  </a:lnTo>
                  <a:lnTo>
                    <a:pt x="403" y="278"/>
                  </a:lnTo>
                  <a:lnTo>
                    <a:pt x="392" y="283"/>
                  </a:lnTo>
                  <a:lnTo>
                    <a:pt x="383" y="285"/>
                  </a:lnTo>
                  <a:lnTo>
                    <a:pt x="372" y="287"/>
                  </a:lnTo>
                  <a:lnTo>
                    <a:pt x="361" y="287"/>
                  </a:lnTo>
                  <a:lnTo>
                    <a:pt x="361" y="287"/>
                  </a:lnTo>
                  <a:close/>
                  <a:moveTo>
                    <a:pt x="106" y="152"/>
                  </a:moveTo>
                  <a:lnTo>
                    <a:pt x="96" y="151"/>
                  </a:lnTo>
                  <a:lnTo>
                    <a:pt x="88" y="149"/>
                  </a:lnTo>
                  <a:lnTo>
                    <a:pt x="80" y="144"/>
                  </a:lnTo>
                  <a:lnTo>
                    <a:pt x="74" y="139"/>
                  </a:lnTo>
                  <a:lnTo>
                    <a:pt x="68" y="131"/>
                  </a:lnTo>
                  <a:lnTo>
                    <a:pt x="64" y="124"/>
                  </a:lnTo>
                  <a:lnTo>
                    <a:pt x="61" y="115"/>
                  </a:lnTo>
                  <a:lnTo>
                    <a:pt x="61" y="107"/>
                  </a:lnTo>
                  <a:lnTo>
                    <a:pt x="61" y="97"/>
                  </a:lnTo>
                  <a:lnTo>
                    <a:pt x="64" y="88"/>
                  </a:lnTo>
                  <a:lnTo>
                    <a:pt x="68" y="81"/>
                  </a:lnTo>
                  <a:lnTo>
                    <a:pt x="74" y="74"/>
                  </a:lnTo>
                  <a:lnTo>
                    <a:pt x="80" y="69"/>
                  </a:lnTo>
                  <a:lnTo>
                    <a:pt x="88" y="65"/>
                  </a:lnTo>
                  <a:lnTo>
                    <a:pt x="96" y="63"/>
                  </a:lnTo>
                  <a:lnTo>
                    <a:pt x="106" y="62"/>
                  </a:lnTo>
                  <a:lnTo>
                    <a:pt x="114" y="63"/>
                  </a:lnTo>
                  <a:lnTo>
                    <a:pt x="123" y="65"/>
                  </a:lnTo>
                  <a:lnTo>
                    <a:pt x="131" y="69"/>
                  </a:lnTo>
                  <a:lnTo>
                    <a:pt x="137" y="74"/>
                  </a:lnTo>
                  <a:lnTo>
                    <a:pt x="143" y="81"/>
                  </a:lnTo>
                  <a:lnTo>
                    <a:pt x="147" y="88"/>
                  </a:lnTo>
                  <a:lnTo>
                    <a:pt x="150" y="97"/>
                  </a:lnTo>
                  <a:lnTo>
                    <a:pt x="151" y="107"/>
                  </a:lnTo>
                  <a:lnTo>
                    <a:pt x="150" y="115"/>
                  </a:lnTo>
                  <a:lnTo>
                    <a:pt x="148" y="124"/>
                  </a:lnTo>
                  <a:lnTo>
                    <a:pt x="143" y="131"/>
                  </a:lnTo>
                  <a:lnTo>
                    <a:pt x="137" y="139"/>
                  </a:lnTo>
                  <a:lnTo>
                    <a:pt x="131" y="144"/>
                  </a:lnTo>
                  <a:lnTo>
                    <a:pt x="123" y="149"/>
                  </a:lnTo>
                  <a:lnTo>
                    <a:pt x="114" y="151"/>
                  </a:lnTo>
                  <a:lnTo>
                    <a:pt x="106" y="152"/>
                  </a:lnTo>
                  <a:lnTo>
                    <a:pt x="106" y="152"/>
                  </a:lnTo>
                  <a:close/>
                  <a:moveTo>
                    <a:pt x="617" y="242"/>
                  </a:moveTo>
                  <a:lnTo>
                    <a:pt x="626" y="243"/>
                  </a:lnTo>
                  <a:lnTo>
                    <a:pt x="635" y="245"/>
                  </a:lnTo>
                  <a:lnTo>
                    <a:pt x="642" y="249"/>
                  </a:lnTo>
                  <a:lnTo>
                    <a:pt x="650" y="255"/>
                  </a:lnTo>
                  <a:lnTo>
                    <a:pt x="655" y="262"/>
                  </a:lnTo>
                  <a:lnTo>
                    <a:pt x="659" y="270"/>
                  </a:lnTo>
                  <a:lnTo>
                    <a:pt x="661" y="278"/>
                  </a:lnTo>
                  <a:lnTo>
                    <a:pt x="663" y="287"/>
                  </a:lnTo>
                  <a:lnTo>
                    <a:pt x="661" y="297"/>
                  </a:lnTo>
                  <a:lnTo>
                    <a:pt x="659" y="305"/>
                  </a:lnTo>
                  <a:lnTo>
                    <a:pt x="655" y="313"/>
                  </a:lnTo>
                  <a:lnTo>
                    <a:pt x="650" y="319"/>
                  </a:lnTo>
                  <a:lnTo>
                    <a:pt x="642" y="324"/>
                  </a:lnTo>
                  <a:lnTo>
                    <a:pt x="635" y="329"/>
                  </a:lnTo>
                  <a:lnTo>
                    <a:pt x="626" y="331"/>
                  </a:lnTo>
                  <a:lnTo>
                    <a:pt x="617" y="332"/>
                  </a:lnTo>
                  <a:lnTo>
                    <a:pt x="608" y="331"/>
                  </a:lnTo>
                  <a:lnTo>
                    <a:pt x="600" y="329"/>
                  </a:lnTo>
                  <a:lnTo>
                    <a:pt x="592" y="324"/>
                  </a:lnTo>
                  <a:lnTo>
                    <a:pt x="585" y="319"/>
                  </a:lnTo>
                  <a:lnTo>
                    <a:pt x="580" y="313"/>
                  </a:lnTo>
                  <a:lnTo>
                    <a:pt x="576" y="305"/>
                  </a:lnTo>
                  <a:lnTo>
                    <a:pt x="573" y="297"/>
                  </a:lnTo>
                  <a:lnTo>
                    <a:pt x="572" y="287"/>
                  </a:lnTo>
                  <a:lnTo>
                    <a:pt x="573" y="278"/>
                  </a:lnTo>
                  <a:lnTo>
                    <a:pt x="576" y="270"/>
                  </a:lnTo>
                  <a:lnTo>
                    <a:pt x="580" y="262"/>
                  </a:lnTo>
                  <a:lnTo>
                    <a:pt x="585" y="255"/>
                  </a:lnTo>
                  <a:lnTo>
                    <a:pt x="592" y="249"/>
                  </a:lnTo>
                  <a:lnTo>
                    <a:pt x="600" y="245"/>
                  </a:lnTo>
                  <a:lnTo>
                    <a:pt x="608" y="243"/>
                  </a:lnTo>
                  <a:lnTo>
                    <a:pt x="617" y="242"/>
                  </a:lnTo>
                  <a:close/>
                  <a:moveTo>
                    <a:pt x="391" y="392"/>
                  </a:moveTo>
                  <a:lnTo>
                    <a:pt x="663" y="392"/>
                  </a:lnTo>
                  <a:lnTo>
                    <a:pt x="669" y="392"/>
                  </a:lnTo>
                  <a:lnTo>
                    <a:pt x="674" y="391"/>
                  </a:lnTo>
                  <a:lnTo>
                    <a:pt x="681" y="390"/>
                  </a:lnTo>
                  <a:lnTo>
                    <a:pt x="686" y="388"/>
                  </a:lnTo>
                  <a:lnTo>
                    <a:pt x="691" y="386"/>
                  </a:lnTo>
                  <a:lnTo>
                    <a:pt x="697" y="382"/>
                  </a:lnTo>
                  <a:lnTo>
                    <a:pt x="701" y="379"/>
                  </a:lnTo>
                  <a:lnTo>
                    <a:pt x="705" y="375"/>
                  </a:lnTo>
                  <a:lnTo>
                    <a:pt x="709" y="371"/>
                  </a:lnTo>
                  <a:lnTo>
                    <a:pt x="713" y="366"/>
                  </a:lnTo>
                  <a:lnTo>
                    <a:pt x="715" y="361"/>
                  </a:lnTo>
                  <a:lnTo>
                    <a:pt x="718" y="356"/>
                  </a:lnTo>
                  <a:lnTo>
                    <a:pt x="720" y="350"/>
                  </a:lnTo>
                  <a:lnTo>
                    <a:pt x="721" y="345"/>
                  </a:lnTo>
                  <a:lnTo>
                    <a:pt x="723" y="338"/>
                  </a:lnTo>
                  <a:lnTo>
                    <a:pt x="723" y="332"/>
                  </a:lnTo>
                  <a:lnTo>
                    <a:pt x="723" y="62"/>
                  </a:lnTo>
                  <a:lnTo>
                    <a:pt x="723" y="55"/>
                  </a:lnTo>
                  <a:lnTo>
                    <a:pt x="721" y="49"/>
                  </a:lnTo>
                  <a:lnTo>
                    <a:pt x="720" y="43"/>
                  </a:lnTo>
                  <a:lnTo>
                    <a:pt x="718" y="38"/>
                  </a:lnTo>
                  <a:lnTo>
                    <a:pt x="715" y="33"/>
                  </a:lnTo>
                  <a:lnTo>
                    <a:pt x="713" y="27"/>
                  </a:lnTo>
                  <a:lnTo>
                    <a:pt x="709" y="23"/>
                  </a:lnTo>
                  <a:lnTo>
                    <a:pt x="705" y="19"/>
                  </a:lnTo>
                  <a:lnTo>
                    <a:pt x="701" y="14"/>
                  </a:lnTo>
                  <a:lnTo>
                    <a:pt x="697" y="11"/>
                  </a:lnTo>
                  <a:lnTo>
                    <a:pt x="691" y="8"/>
                  </a:lnTo>
                  <a:lnTo>
                    <a:pt x="686" y="6"/>
                  </a:lnTo>
                  <a:lnTo>
                    <a:pt x="681" y="4"/>
                  </a:lnTo>
                  <a:lnTo>
                    <a:pt x="674" y="3"/>
                  </a:lnTo>
                  <a:lnTo>
                    <a:pt x="669" y="2"/>
                  </a:lnTo>
                  <a:lnTo>
                    <a:pt x="663" y="2"/>
                  </a:lnTo>
                  <a:lnTo>
                    <a:pt x="61" y="0"/>
                  </a:lnTo>
                  <a:lnTo>
                    <a:pt x="54" y="2"/>
                  </a:lnTo>
                  <a:lnTo>
                    <a:pt x="48" y="3"/>
                  </a:lnTo>
                  <a:lnTo>
                    <a:pt x="43" y="4"/>
                  </a:lnTo>
                  <a:lnTo>
                    <a:pt x="37" y="6"/>
                  </a:lnTo>
                  <a:lnTo>
                    <a:pt x="32" y="8"/>
                  </a:lnTo>
                  <a:lnTo>
                    <a:pt x="27" y="11"/>
                  </a:lnTo>
                  <a:lnTo>
                    <a:pt x="22" y="14"/>
                  </a:lnTo>
                  <a:lnTo>
                    <a:pt x="18" y="19"/>
                  </a:lnTo>
                  <a:lnTo>
                    <a:pt x="14" y="23"/>
                  </a:lnTo>
                  <a:lnTo>
                    <a:pt x="10" y="27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3" y="43"/>
                  </a:lnTo>
                  <a:lnTo>
                    <a:pt x="2" y="49"/>
                  </a:lnTo>
                  <a:lnTo>
                    <a:pt x="1" y="55"/>
                  </a:lnTo>
                  <a:lnTo>
                    <a:pt x="0" y="62"/>
                  </a:lnTo>
                  <a:lnTo>
                    <a:pt x="0" y="304"/>
                  </a:lnTo>
                  <a:lnTo>
                    <a:pt x="22" y="299"/>
                  </a:lnTo>
                  <a:lnTo>
                    <a:pt x="46" y="294"/>
                  </a:lnTo>
                  <a:lnTo>
                    <a:pt x="68" y="291"/>
                  </a:lnTo>
                  <a:lnTo>
                    <a:pt x="90" y="290"/>
                  </a:lnTo>
                  <a:lnTo>
                    <a:pt x="126" y="288"/>
                  </a:lnTo>
                  <a:lnTo>
                    <a:pt x="151" y="287"/>
                  </a:lnTo>
                  <a:lnTo>
                    <a:pt x="172" y="288"/>
                  </a:lnTo>
                  <a:lnTo>
                    <a:pt x="206" y="289"/>
                  </a:lnTo>
                  <a:lnTo>
                    <a:pt x="225" y="291"/>
                  </a:lnTo>
                  <a:lnTo>
                    <a:pt x="244" y="293"/>
                  </a:lnTo>
                  <a:lnTo>
                    <a:pt x="266" y="297"/>
                  </a:lnTo>
                  <a:lnTo>
                    <a:pt x="286" y="300"/>
                  </a:lnTo>
                  <a:lnTo>
                    <a:pt x="306" y="305"/>
                  </a:lnTo>
                  <a:lnTo>
                    <a:pt x="326" y="312"/>
                  </a:lnTo>
                  <a:lnTo>
                    <a:pt x="344" y="318"/>
                  </a:lnTo>
                  <a:lnTo>
                    <a:pt x="360" y="327"/>
                  </a:lnTo>
                  <a:lnTo>
                    <a:pt x="366" y="332"/>
                  </a:lnTo>
                  <a:lnTo>
                    <a:pt x="373" y="337"/>
                  </a:lnTo>
                  <a:lnTo>
                    <a:pt x="378" y="343"/>
                  </a:lnTo>
                  <a:lnTo>
                    <a:pt x="383" y="349"/>
                  </a:lnTo>
                  <a:lnTo>
                    <a:pt x="387" y="356"/>
                  </a:lnTo>
                  <a:lnTo>
                    <a:pt x="389" y="362"/>
                  </a:lnTo>
                  <a:lnTo>
                    <a:pt x="391" y="369"/>
                  </a:lnTo>
                  <a:lnTo>
                    <a:pt x="391" y="377"/>
                  </a:lnTo>
                  <a:lnTo>
                    <a:pt x="391" y="3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1" name="Freeform 499">
              <a:extLst>
                <a:ext uri="{FF2B5EF4-FFF2-40B4-BE49-F238E27FC236}">
                  <a16:creationId xmlns:a16="http://schemas.microsoft.com/office/drawing/2014/main" id="{A8E6691B-D48E-4F27-BFB8-39275098B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98613"/>
              <a:ext cx="133350" cy="33338"/>
            </a:xfrm>
            <a:custGeom>
              <a:avLst/>
              <a:gdLst>
                <a:gd name="T0" fmla="*/ 0 w 421"/>
                <a:gd name="T1" fmla="*/ 44 h 104"/>
                <a:gd name="T2" fmla="*/ 2 w 421"/>
                <a:gd name="T3" fmla="*/ 52 h 104"/>
                <a:gd name="T4" fmla="*/ 5 w 421"/>
                <a:gd name="T5" fmla="*/ 56 h 104"/>
                <a:gd name="T6" fmla="*/ 6 w 421"/>
                <a:gd name="T7" fmla="*/ 59 h 104"/>
                <a:gd name="T8" fmla="*/ 11 w 421"/>
                <a:gd name="T9" fmla="*/ 65 h 104"/>
                <a:gd name="T10" fmla="*/ 13 w 421"/>
                <a:gd name="T11" fmla="*/ 65 h 104"/>
                <a:gd name="T12" fmla="*/ 31 w 421"/>
                <a:gd name="T13" fmla="*/ 76 h 104"/>
                <a:gd name="T14" fmla="*/ 32 w 421"/>
                <a:gd name="T15" fmla="*/ 77 h 104"/>
                <a:gd name="T16" fmla="*/ 41 w 421"/>
                <a:gd name="T17" fmla="*/ 80 h 104"/>
                <a:gd name="T18" fmla="*/ 45 w 421"/>
                <a:gd name="T19" fmla="*/ 81 h 104"/>
                <a:gd name="T20" fmla="*/ 53 w 421"/>
                <a:gd name="T21" fmla="*/ 84 h 104"/>
                <a:gd name="T22" fmla="*/ 61 w 421"/>
                <a:gd name="T23" fmla="*/ 86 h 104"/>
                <a:gd name="T24" fmla="*/ 66 w 421"/>
                <a:gd name="T25" fmla="*/ 87 h 104"/>
                <a:gd name="T26" fmla="*/ 98 w 421"/>
                <a:gd name="T27" fmla="*/ 95 h 104"/>
                <a:gd name="T28" fmla="*/ 133 w 421"/>
                <a:gd name="T29" fmla="*/ 99 h 104"/>
                <a:gd name="T30" fmla="*/ 197 w 421"/>
                <a:gd name="T31" fmla="*/ 104 h 104"/>
                <a:gd name="T32" fmla="*/ 211 w 421"/>
                <a:gd name="T33" fmla="*/ 104 h 104"/>
                <a:gd name="T34" fmla="*/ 225 w 421"/>
                <a:gd name="T35" fmla="*/ 104 h 104"/>
                <a:gd name="T36" fmla="*/ 289 w 421"/>
                <a:gd name="T37" fmla="*/ 99 h 104"/>
                <a:gd name="T38" fmla="*/ 322 w 421"/>
                <a:gd name="T39" fmla="*/ 95 h 104"/>
                <a:gd name="T40" fmla="*/ 356 w 421"/>
                <a:gd name="T41" fmla="*/ 87 h 104"/>
                <a:gd name="T42" fmla="*/ 360 w 421"/>
                <a:gd name="T43" fmla="*/ 86 h 104"/>
                <a:gd name="T44" fmla="*/ 368 w 421"/>
                <a:gd name="T45" fmla="*/ 84 h 104"/>
                <a:gd name="T46" fmla="*/ 376 w 421"/>
                <a:gd name="T47" fmla="*/ 81 h 104"/>
                <a:gd name="T48" fmla="*/ 379 w 421"/>
                <a:gd name="T49" fmla="*/ 80 h 104"/>
                <a:gd name="T50" fmla="*/ 390 w 421"/>
                <a:gd name="T51" fmla="*/ 77 h 104"/>
                <a:gd name="T52" fmla="*/ 391 w 421"/>
                <a:gd name="T53" fmla="*/ 76 h 104"/>
                <a:gd name="T54" fmla="*/ 409 w 421"/>
                <a:gd name="T55" fmla="*/ 65 h 104"/>
                <a:gd name="T56" fmla="*/ 409 w 421"/>
                <a:gd name="T57" fmla="*/ 65 h 104"/>
                <a:gd name="T58" fmla="*/ 416 w 421"/>
                <a:gd name="T59" fmla="*/ 59 h 104"/>
                <a:gd name="T60" fmla="*/ 417 w 421"/>
                <a:gd name="T61" fmla="*/ 56 h 104"/>
                <a:gd name="T62" fmla="*/ 420 w 421"/>
                <a:gd name="T63" fmla="*/ 52 h 104"/>
                <a:gd name="T64" fmla="*/ 421 w 421"/>
                <a:gd name="T65" fmla="*/ 44 h 104"/>
                <a:gd name="T66" fmla="*/ 410 w 421"/>
                <a:gd name="T67" fmla="*/ 4 h 104"/>
                <a:gd name="T68" fmla="*/ 386 w 421"/>
                <a:gd name="T69" fmla="*/ 10 h 104"/>
                <a:gd name="T70" fmla="*/ 344 w 421"/>
                <a:gd name="T71" fmla="*/ 19 h 104"/>
                <a:gd name="T72" fmla="*/ 284 w 421"/>
                <a:gd name="T73" fmla="*/ 25 h 104"/>
                <a:gd name="T74" fmla="*/ 231 w 421"/>
                <a:gd name="T75" fmla="*/ 28 h 104"/>
                <a:gd name="T76" fmla="*/ 191 w 421"/>
                <a:gd name="T77" fmla="*/ 28 h 104"/>
                <a:gd name="T78" fmla="*/ 138 w 421"/>
                <a:gd name="T79" fmla="*/ 25 h 104"/>
                <a:gd name="T80" fmla="*/ 78 w 421"/>
                <a:gd name="T81" fmla="*/ 19 h 104"/>
                <a:gd name="T82" fmla="*/ 35 w 421"/>
                <a:gd name="T83" fmla="*/ 10 h 104"/>
                <a:gd name="T84" fmla="*/ 10 w 421"/>
                <a:gd name="T85" fmla="*/ 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1" h="104">
                  <a:moveTo>
                    <a:pt x="0" y="0"/>
                  </a:moveTo>
                  <a:lnTo>
                    <a:pt x="0" y="44"/>
                  </a:lnTo>
                  <a:lnTo>
                    <a:pt x="1" y="48"/>
                  </a:lnTo>
                  <a:lnTo>
                    <a:pt x="2" y="52"/>
                  </a:lnTo>
                  <a:lnTo>
                    <a:pt x="3" y="54"/>
                  </a:lnTo>
                  <a:lnTo>
                    <a:pt x="5" y="56"/>
                  </a:lnTo>
                  <a:lnTo>
                    <a:pt x="5" y="57"/>
                  </a:lnTo>
                  <a:lnTo>
                    <a:pt x="6" y="59"/>
                  </a:lnTo>
                  <a:lnTo>
                    <a:pt x="8" y="62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13" y="65"/>
                  </a:lnTo>
                  <a:lnTo>
                    <a:pt x="20" y="70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2" y="77"/>
                  </a:lnTo>
                  <a:lnTo>
                    <a:pt x="36" y="79"/>
                  </a:lnTo>
                  <a:lnTo>
                    <a:pt x="41" y="80"/>
                  </a:lnTo>
                  <a:lnTo>
                    <a:pt x="44" y="81"/>
                  </a:lnTo>
                  <a:lnTo>
                    <a:pt x="45" y="81"/>
                  </a:lnTo>
                  <a:lnTo>
                    <a:pt x="49" y="83"/>
                  </a:lnTo>
                  <a:lnTo>
                    <a:pt x="53" y="84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4" y="87"/>
                  </a:lnTo>
                  <a:lnTo>
                    <a:pt x="66" y="87"/>
                  </a:lnTo>
                  <a:lnTo>
                    <a:pt x="82" y="92"/>
                  </a:lnTo>
                  <a:lnTo>
                    <a:pt x="98" y="95"/>
                  </a:lnTo>
                  <a:lnTo>
                    <a:pt x="115" y="97"/>
                  </a:lnTo>
                  <a:lnTo>
                    <a:pt x="133" y="99"/>
                  </a:lnTo>
                  <a:lnTo>
                    <a:pt x="166" y="102"/>
                  </a:lnTo>
                  <a:lnTo>
                    <a:pt x="197" y="104"/>
                  </a:lnTo>
                  <a:lnTo>
                    <a:pt x="203" y="104"/>
                  </a:lnTo>
                  <a:lnTo>
                    <a:pt x="211" y="104"/>
                  </a:lnTo>
                  <a:lnTo>
                    <a:pt x="217" y="104"/>
                  </a:lnTo>
                  <a:lnTo>
                    <a:pt x="225" y="104"/>
                  </a:lnTo>
                  <a:lnTo>
                    <a:pt x="255" y="102"/>
                  </a:lnTo>
                  <a:lnTo>
                    <a:pt x="289" y="99"/>
                  </a:lnTo>
                  <a:lnTo>
                    <a:pt x="306" y="97"/>
                  </a:lnTo>
                  <a:lnTo>
                    <a:pt x="322" y="95"/>
                  </a:lnTo>
                  <a:lnTo>
                    <a:pt x="340" y="92"/>
                  </a:lnTo>
                  <a:lnTo>
                    <a:pt x="356" y="87"/>
                  </a:lnTo>
                  <a:lnTo>
                    <a:pt x="358" y="87"/>
                  </a:lnTo>
                  <a:lnTo>
                    <a:pt x="360" y="86"/>
                  </a:lnTo>
                  <a:lnTo>
                    <a:pt x="364" y="85"/>
                  </a:lnTo>
                  <a:lnTo>
                    <a:pt x="368" y="84"/>
                  </a:lnTo>
                  <a:lnTo>
                    <a:pt x="372" y="83"/>
                  </a:lnTo>
                  <a:lnTo>
                    <a:pt x="376" y="81"/>
                  </a:lnTo>
                  <a:lnTo>
                    <a:pt x="378" y="81"/>
                  </a:lnTo>
                  <a:lnTo>
                    <a:pt x="379" y="80"/>
                  </a:lnTo>
                  <a:lnTo>
                    <a:pt x="385" y="79"/>
                  </a:lnTo>
                  <a:lnTo>
                    <a:pt x="390" y="77"/>
                  </a:lnTo>
                  <a:lnTo>
                    <a:pt x="390" y="76"/>
                  </a:lnTo>
                  <a:lnTo>
                    <a:pt x="391" y="76"/>
                  </a:lnTo>
                  <a:lnTo>
                    <a:pt x="401" y="70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13" y="62"/>
                  </a:lnTo>
                  <a:lnTo>
                    <a:pt x="416" y="59"/>
                  </a:lnTo>
                  <a:lnTo>
                    <a:pt x="417" y="57"/>
                  </a:lnTo>
                  <a:lnTo>
                    <a:pt x="417" y="56"/>
                  </a:lnTo>
                  <a:lnTo>
                    <a:pt x="419" y="54"/>
                  </a:lnTo>
                  <a:lnTo>
                    <a:pt x="420" y="52"/>
                  </a:lnTo>
                  <a:lnTo>
                    <a:pt x="421" y="48"/>
                  </a:lnTo>
                  <a:lnTo>
                    <a:pt x="421" y="44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7"/>
                  </a:lnTo>
                  <a:lnTo>
                    <a:pt x="386" y="10"/>
                  </a:lnTo>
                  <a:lnTo>
                    <a:pt x="373" y="13"/>
                  </a:lnTo>
                  <a:lnTo>
                    <a:pt x="344" y="19"/>
                  </a:lnTo>
                  <a:lnTo>
                    <a:pt x="314" y="23"/>
                  </a:lnTo>
                  <a:lnTo>
                    <a:pt x="284" y="25"/>
                  </a:lnTo>
                  <a:lnTo>
                    <a:pt x="256" y="27"/>
                  </a:lnTo>
                  <a:lnTo>
                    <a:pt x="231" y="28"/>
                  </a:lnTo>
                  <a:lnTo>
                    <a:pt x="211" y="28"/>
                  </a:lnTo>
                  <a:lnTo>
                    <a:pt x="191" y="28"/>
                  </a:lnTo>
                  <a:lnTo>
                    <a:pt x="166" y="27"/>
                  </a:lnTo>
                  <a:lnTo>
                    <a:pt x="138" y="25"/>
                  </a:lnTo>
                  <a:lnTo>
                    <a:pt x="108" y="23"/>
                  </a:lnTo>
                  <a:lnTo>
                    <a:pt x="78" y="19"/>
                  </a:lnTo>
                  <a:lnTo>
                    <a:pt x="49" y="13"/>
                  </a:lnTo>
                  <a:lnTo>
                    <a:pt x="35" y="10"/>
                  </a:lnTo>
                  <a:lnTo>
                    <a:pt x="22" y="7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Freeform 500">
              <a:extLst>
                <a:ext uri="{FF2B5EF4-FFF2-40B4-BE49-F238E27FC236}">
                  <a16:creationId xmlns:a16="http://schemas.microsoft.com/office/drawing/2014/main" id="{5839F0C0-A423-4156-855A-E09BBC0F1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474788"/>
              <a:ext cx="133350" cy="28575"/>
            </a:xfrm>
            <a:custGeom>
              <a:avLst/>
              <a:gdLst>
                <a:gd name="T0" fmla="*/ 420 w 420"/>
                <a:gd name="T1" fmla="*/ 58 h 90"/>
                <a:gd name="T2" fmla="*/ 419 w 420"/>
                <a:gd name="T3" fmla="*/ 55 h 90"/>
                <a:gd name="T4" fmla="*/ 418 w 420"/>
                <a:gd name="T5" fmla="*/ 50 h 90"/>
                <a:gd name="T6" fmla="*/ 416 w 420"/>
                <a:gd name="T7" fmla="*/ 47 h 90"/>
                <a:gd name="T8" fmla="*/ 413 w 420"/>
                <a:gd name="T9" fmla="*/ 44 h 90"/>
                <a:gd name="T10" fmla="*/ 406 w 420"/>
                <a:gd name="T11" fmla="*/ 37 h 90"/>
                <a:gd name="T12" fmla="*/ 397 w 420"/>
                <a:gd name="T13" fmla="*/ 32 h 90"/>
                <a:gd name="T14" fmla="*/ 386 w 420"/>
                <a:gd name="T15" fmla="*/ 27 h 90"/>
                <a:gd name="T16" fmla="*/ 374 w 420"/>
                <a:gd name="T17" fmla="*/ 22 h 90"/>
                <a:gd name="T18" fmla="*/ 360 w 420"/>
                <a:gd name="T19" fmla="*/ 18 h 90"/>
                <a:gd name="T20" fmla="*/ 345 w 420"/>
                <a:gd name="T21" fmla="*/ 14 h 90"/>
                <a:gd name="T22" fmla="*/ 313 w 420"/>
                <a:gd name="T23" fmla="*/ 9 h 90"/>
                <a:gd name="T24" fmla="*/ 277 w 420"/>
                <a:gd name="T25" fmla="*/ 3 h 90"/>
                <a:gd name="T26" fmla="*/ 243 w 420"/>
                <a:gd name="T27" fmla="*/ 1 h 90"/>
                <a:gd name="T28" fmla="*/ 210 w 420"/>
                <a:gd name="T29" fmla="*/ 0 h 90"/>
                <a:gd name="T30" fmla="*/ 172 w 420"/>
                <a:gd name="T31" fmla="*/ 1 h 90"/>
                <a:gd name="T32" fmla="*/ 133 w 420"/>
                <a:gd name="T33" fmla="*/ 4 h 90"/>
                <a:gd name="T34" fmla="*/ 113 w 420"/>
                <a:gd name="T35" fmla="*/ 7 h 90"/>
                <a:gd name="T36" fmla="*/ 94 w 420"/>
                <a:gd name="T37" fmla="*/ 11 h 90"/>
                <a:gd name="T38" fmla="*/ 76 w 420"/>
                <a:gd name="T39" fmla="*/ 14 h 90"/>
                <a:gd name="T40" fmla="*/ 59 w 420"/>
                <a:gd name="T41" fmla="*/ 18 h 90"/>
                <a:gd name="T42" fmla="*/ 59 w 420"/>
                <a:gd name="T43" fmla="*/ 18 h 90"/>
                <a:gd name="T44" fmla="*/ 55 w 420"/>
                <a:gd name="T45" fmla="*/ 19 h 90"/>
                <a:gd name="T46" fmla="*/ 52 w 420"/>
                <a:gd name="T47" fmla="*/ 20 h 90"/>
                <a:gd name="T48" fmla="*/ 48 w 420"/>
                <a:gd name="T49" fmla="*/ 21 h 90"/>
                <a:gd name="T50" fmla="*/ 44 w 420"/>
                <a:gd name="T51" fmla="*/ 22 h 90"/>
                <a:gd name="T52" fmla="*/ 43 w 420"/>
                <a:gd name="T53" fmla="*/ 24 h 90"/>
                <a:gd name="T54" fmla="*/ 40 w 420"/>
                <a:gd name="T55" fmla="*/ 24 h 90"/>
                <a:gd name="T56" fmla="*/ 35 w 420"/>
                <a:gd name="T57" fmla="*/ 26 h 90"/>
                <a:gd name="T58" fmla="*/ 31 w 420"/>
                <a:gd name="T59" fmla="*/ 28 h 90"/>
                <a:gd name="T60" fmla="*/ 30 w 420"/>
                <a:gd name="T61" fmla="*/ 28 h 90"/>
                <a:gd name="T62" fmla="*/ 30 w 420"/>
                <a:gd name="T63" fmla="*/ 28 h 90"/>
                <a:gd name="T64" fmla="*/ 19 w 420"/>
                <a:gd name="T65" fmla="*/ 33 h 90"/>
                <a:gd name="T66" fmla="*/ 12 w 420"/>
                <a:gd name="T67" fmla="*/ 40 h 90"/>
                <a:gd name="T68" fmla="*/ 10 w 420"/>
                <a:gd name="T69" fmla="*/ 40 h 90"/>
                <a:gd name="T70" fmla="*/ 10 w 420"/>
                <a:gd name="T71" fmla="*/ 40 h 90"/>
                <a:gd name="T72" fmla="*/ 7 w 420"/>
                <a:gd name="T73" fmla="*/ 43 h 90"/>
                <a:gd name="T74" fmla="*/ 5 w 420"/>
                <a:gd name="T75" fmla="*/ 46 h 90"/>
                <a:gd name="T76" fmla="*/ 4 w 420"/>
                <a:gd name="T77" fmla="*/ 47 h 90"/>
                <a:gd name="T78" fmla="*/ 4 w 420"/>
                <a:gd name="T79" fmla="*/ 48 h 90"/>
                <a:gd name="T80" fmla="*/ 2 w 420"/>
                <a:gd name="T81" fmla="*/ 50 h 90"/>
                <a:gd name="T82" fmla="*/ 1 w 420"/>
                <a:gd name="T83" fmla="*/ 52 h 90"/>
                <a:gd name="T84" fmla="*/ 0 w 420"/>
                <a:gd name="T85" fmla="*/ 56 h 90"/>
                <a:gd name="T86" fmla="*/ 0 w 420"/>
                <a:gd name="T87" fmla="*/ 58 h 90"/>
                <a:gd name="T88" fmla="*/ 8 w 420"/>
                <a:gd name="T89" fmla="*/ 63 h 90"/>
                <a:gd name="T90" fmla="*/ 22 w 420"/>
                <a:gd name="T91" fmla="*/ 68 h 90"/>
                <a:gd name="T92" fmla="*/ 43 w 420"/>
                <a:gd name="T93" fmla="*/ 74 h 90"/>
                <a:gd name="T94" fmla="*/ 67 w 420"/>
                <a:gd name="T95" fmla="*/ 78 h 90"/>
                <a:gd name="T96" fmla="*/ 96 w 420"/>
                <a:gd name="T97" fmla="*/ 84 h 90"/>
                <a:gd name="T98" fmla="*/ 131 w 420"/>
                <a:gd name="T99" fmla="*/ 87 h 90"/>
                <a:gd name="T100" fmla="*/ 168 w 420"/>
                <a:gd name="T101" fmla="*/ 90 h 90"/>
                <a:gd name="T102" fmla="*/ 210 w 420"/>
                <a:gd name="T103" fmla="*/ 90 h 90"/>
                <a:gd name="T104" fmla="*/ 251 w 420"/>
                <a:gd name="T105" fmla="*/ 90 h 90"/>
                <a:gd name="T106" fmla="*/ 289 w 420"/>
                <a:gd name="T107" fmla="*/ 87 h 90"/>
                <a:gd name="T108" fmla="*/ 323 w 420"/>
                <a:gd name="T109" fmla="*/ 84 h 90"/>
                <a:gd name="T110" fmla="*/ 353 w 420"/>
                <a:gd name="T111" fmla="*/ 78 h 90"/>
                <a:gd name="T112" fmla="*/ 377 w 420"/>
                <a:gd name="T113" fmla="*/ 74 h 90"/>
                <a:gd name="T114" fmla="*/ 398 w 420"/>
                <a:gd name="T115" fmla="*/ 68 h 90"/>
                <a:gd name="T116" fmla="*/ 412 w 420"/>
                <a:gd name="T117" fmla="*/ 62 h 90"/>
                <a:gd name="T118" fmla="*/ 420 w 420"/>
                <a:gd name="T119" fmla="*/ 5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20" h="90">
                  <a:moveTo>
                    <a:pt x="420" y="58"/>
                  </a:moveTo>
                  <a:lnTo>
                    <a:pt x="419" y="55"/>
                  </a:lnTo>
                  <a:lnTo>
                    <a:pt x="418" y="50"/>
                  </a:lnTo>
                  <a:lnTo>
                    <a:pt x="416" y="47"/>
                  </a:lnTo>
                  <a:lnTo>
                    <a:pt x="413" y="44"/>
                  </a:lnTo>
                  <a:lnTo>
                    <a:pt x="406" y="37"/>
                  </a:lnTo>
                  <a:lnTo>
                    <a:pt x="397" y="32"/>
                  </a:lnTo>
                  <a:lnTo>
                    <a:pt x="386" y="27"/>
                  </a:lnTo>
                  <a:lnTo>
                    <a:pt x="374" y="22"/>
                  </a:lnTo>
                  <a:lnTo>
                    <a:pt x="360" y="18"/>
                  </a:lnTo>
                  <a:lnTo>
                    <a:pt x="345" y="14"/>
                  </a:lnTo>
                  <a:lnTo>
                    <a:pt x="313" y="9"/>
                  </a:lnTo>
                  <a:lnTo>
                    <a:pt x="277" y="3"/>
                  </a:lnTo>
                  <a:lnTo>
                    <a:pt x="243" y="1"/>
                  </a:lnTo>
                  <a:lnTo>
                    <a:pt x="210" y="0"/>
                  </a:lnTo>
                  <a:lnTo>
                    <a:pt x="172" y="1"/>
                  </a:lnTo>
                  <a:lnTo>
                    <a:pt x="133" y="4"/>
                  </a:lnTo>
                  <a:lnTo>
                    <a:pt x="113" y="7"/>
                  </a:lnTo>
                  <a:lnTo>
                    <a:pt x="94" y="11"/>
                  </a:lnTo>
                  <a:lnTo>
                    <a:pt x="76" y="14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55" y="19"/>
                  </a:lnTo>
                  <a:lnTo>
                    <a:pt x="52" y="20"/>
                  </a:lnTo>
                  <a:lnTo>
                    <a:pt x="48" y="21"/>
                  </a:lnTo>
                  <a:lnTo>
                    <a:pt x="44" y="22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35" y="26"/>
                  </a:lnTo>
                  <a:lnTo>
                    <a:pt x="31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19" y="33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7" y="43"/>
                  </a:lnTo>
                  <a:lnTo>
                    <a:pt x="5" y="46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2" y="50"/>
                  </a:lnTo>
                  <a:lnTo>
                    <a:pt x="1" y="52"/>
                  </a:lnTo>
                  <a:lnTo>
                    <a:pt x="0" y="56"/>
                  </a:lnTo>
                  <a:lnTo>
                    <a:pt x="0" y="58"/>
                  </a:lnTo>
                  <a:lnTo>
                    <a:pt x="8" y="63"/>
                  </a:lnTo>
                  <a:lnTo>
                    <a:pt x="22" y="68"/>
                  </a:lnTo>
                  <a:lnTo>
                    <a:pt x="43" y="74"/>
                  </a:lnTo>
                  <a:lnTo>
                    <a:pt x="67" y="78"/>
                  </a:lnTo>
                  <a:lnTo>
                    <a:pt x="96" y="84"/>
                  </a:lnTo>
                  <a:lnTo>
                    <a:pt x="131" y="87"/>
                  </a:lnTo>
                  <a:lnTo>
                    <a:pt x="168" y="90"/>
                  </a:lnTo>
                  <a:lnTo>
                    <a:pt x="210" y="90"/>
                  </a:lnTo>
                  <a:lnTo>
                    <a:pt x="251" y="90"/>
                  </a:lnTo>
                  <a:lnTo>
                    <a:pt x="289" y="87"/>
                  </a:lnTo>
                  <a:lnTo>
                    <a:pt x="323" y="84"/>
                  </a:lnTo>
                  <a:lnTo>
                    <a:pt x="353" y="78"/>
                  </a:lnTo>
                  <a:lnTo>
                    <a:pt x="377" y="74"/>
                  </a:lnTo>
                  <a:lnTo>
                    <a:pt x="398" y="68"/>
                  </a:lnTo>
                  <a:lnTo>
                    <a:pt x="412" y="62"/>
                  </a:lnTo>
                  <a:lnTo>
                    <a:pt x="420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" name="Freeform 501">
              <a:extLst>
                <a:ext uri="{FF2B5EF4-FFF2-40B4-BE49-F238E27FC236}">
                  <a16:creationId xmlns:a16="http://schemas.microsoft.com/office/drawing/2014/main" id="{DBE218E2-EA47-43F9-AF50-BC58701E5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03363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7 h 75"/>
                <a:gd name="T10" fmla="*/ 67 w 421"/>
                <a:gd name="T11" fmla="*/ 62 h 75"/>
                <a:gd name="T12" fmla="*/ 97 w 421"/>
                <a:gd name="T13" fmla="*/ 68 h 75"/>
                <a:gd name="T14" fmla="*/ 130 w 421"/>
                <a:gd name="T15" fmla="*/ 71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1 h 75"/>
                <a:gd name="T24" fmla="*/ 325 w 421"/>
                <a:gd name="T25" fmla="*/ 68 h 75"/>
                <a:gd name="T26" fmla="*/ 355 w 421"/>
                <a:gd name="T27" fmla="*/ 62 h 75"/>
                <a:gd name="T28" fmla="*/ 379 w 421"/>
                <a:gd name="T29" fmla="*/ 57 h 75"/>
                <a:gd name="T30" fmla="*/ 399 w 421"/>
                <a:gd name="T31" fmla="*/ 52 h 75"/>
                <a:gd name="T32" fmla="*/ 414 w 421"/>
                <a:gd name="T33" fmla="*/ 46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8 h 75"/>
                <a:gd name="T42" fmla="*/ 386 w 421"/>
                <a:gd name="T43" fmla="*/ 12 h 75"/>
                <a:gd name="T44" fmla="*/ 373 w 421"/>
                <a:gd name="T45" fmla="*/ 14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8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8 h 75"/>
                <a:gd name="T74" fmla="*/ 10 w 421"/>
                <a:gd name="T75" fmla="*/ 4 h 75"/>
                <a:gd name="T76" fmla="*/ 0 w 421"/>
                <a:gd name="T77" fmla="*/ 0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7"/>
                  </a:lnTo>
                  <a:lnTo>
                    <a:pt x="67" y="62"/>
                  </a:lnTo>
                  <a:lnTo>
                    <a:pt x="97" y="68"/>
                  </a:lnTo>
                  <a:lnTo>
                    <a:pt x="130" y="71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1"/>
                  </a:lnTo>
                  <a:lnTo>
                    <a:pt x="325" y="68"/>
                  </a:lnTo>
                  <a:lnTo>
                    <a:pt x="355" y="62"/>
                  </a:lnTo>
                  <a:lnTo>
                    <a:pt x="379" y="57"/>
                  </a:lnTo>
                  <a:lnTo>
                    <a:pt x="399" y="52"/>
                  </a:lnTo>
                  <a:lnTo>
                    <a:pt x="414" y="46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8"/>
                  </a:lnTo>
                  <a:lnTo>
                    <a:pt x="386" y="12"/>
                  </a:lnTo>
                  <a:lnTo>
                    <a:pt x="373" y="14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8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8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4" name="Freeform 502">
              <a:extLst>
                <a:ext uri="{FF2B5EF4-FFF2-40B4-BE49-F238E27FC236}">
                  <a16:creationId xmlns:a16="http://schemas.microsoft.com/office/drawing/2014/main" id="{FB53FF3C-7C81-42D7-820B-328F83511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74800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8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8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1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8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8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5" name="Freeform 503">
              <a:extLst>
                <a:ext uri="{FF2B5EF4-FFF2-40B4-BE49-F238E27FC236}">
                  <a16:creationId xmlns:a16="http://schemas.microsoft.com/office/drawing/2014/main" id="{B2AFC166-3690-491C-BE8E-D33917F47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50988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7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7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6" name="Freeform 504">
              <a:extLst>
                <a:ext uri="{FF2B5EF4-FFF2-40B4-BE49-F238E27FC236}">
                  <a16:creationId xmlns:a16="http://schemas.microsoft.com/office/drawing/2014/main" id="{9740A41F-89FD-44D8-9D1F-332E7D538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27175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8 h 75"/>
                <a:gd name="T10" fmla="*/ 67 w 421"/>
                <a:gd name="T11" fmla="*/ 63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3 h 75"/>
                <a:gd name="T28" fmla="*/ 379 w 421"/>
                <a:gd name="T29" fmla="*/ 58 h 75"/>
                <a:gd name="T30" fmla="*/ 399 w 421"/>
                <a:gd name="T31" fmla="*/ 52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4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8"/>
                  </a:lnTo>
                  <a:lnTo>
                    <a:pt x="67" y="63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3"/>
                  </a:lnTo>
                  <a:lnTo>
                    <a:pt x="379" y="58"/>
                  </a:lnTo>
                  <a:lnTo>
                    <a:pt x="399" y="52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67" name="Group 66" descr="Icon of abacus. ">
            <a:extLst>
              <a:ext uri="{FF2B5EF4-FFF2-40B4-BE49-F238E27FC236}">
                <a16:creationId xmlns:a16="http://schemas.microsoft.com/office/drawing/2014/main" id="{201B668C-AA5F-454E-8E64-CEA32A839FB8}"/>
              </a:ext>
            </a:extLst>
          </p:cNvPr>
          <p:cNvGrpSpPr/>
          <p:nvPr/>
        </p:nvGrpSpPr>
        <p:grpSpPr>
          <a:xfrm>
            <a:off x="8071577" y="2296118"/>
            <a:ext cx="382447" cy="382447"/>
            <a:chOff x="877888" y="771525"/>
            <a:chExt cx="287338" cy="287338"/>
          </a:xfrm>
          <a:solidFill>
            <a:schemeClr val="bg1"/>
          </a:solidFill>
        </p:grpSpPr>
        <p:sp>
          <p:nvSpPr>
            <p:cNvPr id="68" name="Freeform 324">
              <a:extLst>
                <a:ext uri="{FF2B5EF4-FFF2-40B4-BE49-F238E27FC236}">
                  <a16:creationId xmlns:a16="http://schemas.microsoft.com/office/drawing/2014/main" id="{EEBBB4D9-8AD5-4868-B9F5-568F0C326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888" y="771525"/>
              <a:ext cx="61913" cy="287338"/>
            </a:xfrm>
            <a:custGeom>
              <a:avLst/>
              <a:gdLst>
                <a:gd name="T0" fmla="*/ 0 w 196"/>
                <a:gd name="T1" fmla="*/ 888 h 903"/>
                <a:gd name="T2" fmla="*/ 1 w 196"/>
                <a:gd name="T3" fmla="*/ 895 h 903"/>
                <a:gd name="T4" fmla="*/ 4 w 196"/>
                <a:gd name="T5" fmla="*/ 899 h 903"/>
                <a:gd name="T6" fmla="*/ 10 w 196"/>
                <a:gd name="T7" fmla="*/ 902 h 903"/>
                <a:gd name="T8" fmla="*/ 15 w 196"/>
                <a:gd name="T9" fmla="*/ 903 h 903"/>
                <a:gd name="T10" fmla="*/ 196 w 196"/>
                <a:gd name="T11" fmla="*/ 798 h 903"/>
                <a:gd name="T12" fmla="*/ 160 w 196"/>
                <a:gd name="T13" fmla="*/ 797 h 903"/>
                <a:gd name="T14" fmla="*/ 149 w 196"/>
                <a:gd name="T15" fmla="*/ 793 h 903"/>
                <a:gd name="T16" fmla="*/ 141 w 196"/>
                <a:gd name="T17" fmla="*/ 785 h 903"/>
                <a:gd name="T18" fmla="*/ 136 w 196"/>
                <a:gd name="T19" fmla="*/ 774 h 903"/>
                <a:gd name="T20" fmla="*/ 136 w 196"/>
                <a:gd name="T21" fmla="*/ 738 h 903"/>
                <a:gd name="T22" fmla="*/ 138 w 196"/>
                <a:gd name="T23" fmla="*/ 726 h 903"/>
                <a:gd name="T24" fmla="*/ 145 w 196"/>
                <a:gd name="T25" fmla="*/ 717 h 903"/>
                <a:gd name="T26" fmla="*/ 155 w 196"/>
                <a:gd name="T27" fmla="*/ 710 h 903"/>
                <a:gd name="T28" fmla="*/ 166 w 196"/>
                <a:gd name="T29" fmla="*/ 708 h 903"/>
                <a:gd name="T30" fmla="*/ 196 w 196"/>
                <a:gd name="T31" fmla="*/ 346 h 903"/>
                <a:gd name="T32" fmla="*/ 160 w 196"/>
                <a:gd name="T33" fmla="*/ 345 h 903"/>
                <a:gd name="T34" fmla="*/ 149 w 196"/>
                <a:gd name="T35" fmla="*/ 341 h 903"/>
                <a:gd name="T36" fmla="*/ 141 w 196"/>
                <a:gd name="T37" fmla="*/ 333 h 903"/>
                <a:gd name="T38" fmla="*/ 136 w 196"/>
                <a:gd name="T39" fmla="*/ 322 h 903"/>
                <a:gd name="T40" fmla="*/ 136 w 196"/>
                <a:gd name="T41" fmla="*/ 286 h 903"/>
                <a:gd name="T42" fmla="*/ 138 w 196"/>
                <a:gd name="T43" fmla="*/ 275 h 903"/>
                <a:gd name="T44" fmla="*/ 145 w 196"/>
                <a:gd name="T45" fmla="*/ 265 h 903"/>
                <a:gd name="T46" fmla="*/ 155 w 196"/>
                <a:gd name="T47" fmla="*/ 259 h 903"/>
                <a:gd name="T48" fmla="*/ 166 w 196"/>
                <a:gd name="T49" fmla="*/ 256 h 903"/>
                <a:gd name="T50" fmla="*/ 196 w 196"/>
                <a:gd name="T51" fmla="*/ 196 h 903"/>
                <a:gd name="T52" fmla="*/ 160 w 196"/>
                <a:gd name="T53" fmla="*/ 195 h 903"/>
                <a:gd name="T54" fmla="*/ 149 w 196"/>
                <a:gd name="T55" fmla="*/ 191 h 903"/>
                <a:gd name="T56" fmla="*/ 141 w 196"/>
                <a:gd name="T57" fmla="*/ 182 h 903"/>
                <a:gd name="T58" fmla="*/ 136 w 196"/>
                <a:gd name="T59" fmla="*/ 172 h 903"/>
                <a:gd name="T60" fmla="*/ 136 w 196"/>
                <a:gd name="T61" fmla="*/ 135 h 903"/>
                <a:gd name="T62" fmla="*/ 138 w 196"/>
                <a:gd name="T63" fmla="*/ 123 h 903"/>
                <a:gd name="T64" fmla="*/ 145 w 196"/>
                <a:gd name="T65" fmla="*/ 115 h 903"/>
                <a:gd name="T66" fmla="*/ 155 w 196"/>
                <a:gd name="T67" fmla="*/ 108 h 903"/>
                <a:gd name="T68" fmla="*/ 166 w 196"/>
                <a:gd name="T69" fmla="*/ 105 h 903"/>
                <a:gd name="T70" fmla="*/ 196 w 196"/>
                <a:gd name="T71" fmla="*/ 0 h 903"/>
                <a:gd name="T72" fmla="*/ 12 w 196"/>
                <a:gd name="T73" fmla="*/ 0 h 903"/>
                <a:gd name="T74" fmla="*/ 7 w 196"/>
                <a:gd name="T75" fmla="*/ 2 h 903"/>
                <a:gd name="T76" fmla="*/ 3 w 196"/>
                <a:gd name="T77" fmla="*/ 6 h 903"/>
                <a:gd name="T78" fmla="*/ 1 w 196"/>
                <a:gd name="T79" fmla="*/ 12 h 903"/>
                <a:gd name="T80" fmla="*/ 0 w 196"/>
                <a:gd name="T81" fmla="*/ 15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6" h="903">
                  <a:moveTo>
                    <a:pt x="0" y="15"/>
                  </a:moveTo>
                  <a:lnTo>
                    <a:pt x="0" y="888"/>
                  </a:lnTo>
                  <a:lnTo>
                    <a:pt x="1" y="891"/>
                  </a:lnTo>
                  <a:lnTo>
                    <a:pt x="1" y="895"/>
                  </a:lnTo>
                  <a:lnTo>
                    <a:pt x="3" y="897"/>
                  </a:lnTo>
                  <a:lnTo>
                    <a:pt x="4" y="899"/>
                  </a:lnTo>
                  <a:lnTo>
                    <a:pt x="7" y="901"/>
                  </a:lnTo>
                  <a:lnTo>
                    <a:pt x="10" y="902"/>
                  </a:lnTo>
                  <a:lnTo>
                    <a:pt x="12" y="903"/>
                  </a:lnTo>
                  <a:lnTo>
                    <a:pt x="15" y="903"/>
                  </a:lnTo>
                  <a:lnTo>
                    <a:pt x="196" y="903"/>
                  </a:lnTo>
                  <a:lnTo>
                    <a:pt x="196" y="798"/>
                  </a:lnTo>
                  <a:lnTo>
                    <a:pt x="166" y="798"/>
                  </a:lnTo>
                  <a:lnTo>
                    <a:pt x="160" y="797"/>
                  </a:lnTo>
                  <a:lnTo>
                    <a:pt x="155" y="796"/>
                  </a:lnTo>
                  <a:lnTo>
                    <a:pt x="149" y="793"/>
                  </a:lnTo>
                  <a:lnTo>
                    <a:pt x="145" y="789"/>
                  </a:lnTo>
                  <a:lnTo>
                    <a:pt x="141" y="785"/>
                  </a:lnTo>
                  <a:lnTo>
                    <a:pt x="138" y="780"/>
                  </a:lnTo>
                  <a:lnTo>
                    <a:pt x="136" y="774"/>
                  </a:lnTo>
                  <a:lnTo>
                    <a:pt x="136" y="768"/>
                  </a:lnTo>
                  <a:lnTo>
                    <a:pt x="136" y="738"/>
                  </a:lnTo>
                  <a:lnTo>
                    <a:pt x="136" y="732"/>
                  </a:lnTo>
                  <a:lnTo>
                    <a:pt x="138" y="726"/>
                  </a:lnTo>
                  <a:lnTo>
                    <a:pt x="141" y="721"/>
                  </a:lnTo>
                  <a:lnTo>
                    <a:pt x="145" y="717"/>
                  </a:lnTo>
                  <a:lnTo>
                    <a:pt x="149" y="713"/>
                  </a:lnTo>
                  <a:lnTo>
                    <a:pt x="155" y="710"/>
                  </a:lnTo>
                  <a:lnTo>
                    <a:pt x="160" y="708"/>
                  </a:lnTo>
                  <a:lnTo>
                    <a:pt x="166" y="708"/>
                  </a:lnTo>
                  <a:lnTo>
                    <a:pt x="196" y="708"/>
                  </a:lnTo>
                  <a:lnTo>
                    <a:pt x="196" y="346"/>
                  </a:lnTo>
                  <a:lnTo>
                    <a:pt x="166" y="346"/>
                  </a:lnTo>
                  <a:lnTo>
                    <a:pt x="160" y="345"/>
                  </a:lnTo>
                  <a:lnTo>
                    <a:pt x="155" y="344"/>
                  </a:lnTo>
                  <a:lnTo>
                    <a:pt x="149" y="341"/>
                  </a:lnTo>
                  <a:lnTo>
                    <a:pt x="145" y="338"/>
                  </a:lnTo>
                  <a:lnTo>
                    <a:pt x="141" y="333"/>
                  </a:lnTo>
                  <a:lnTo>
                    <a:pt x="138" y="328"/>
                  </a:lnTo>
                  <a:lnTo>
                    <a:pt x="136" y="322"/>
                  </a:lnTo>
                  <a:lnTo>
                    <a:pt x="136" y="316"/>
                  </a:lnTo>
                  <a:lnTo>
                    <a:pt x="136" y="286"/>
                  </a:lnTo>
                  <a:lnTo>
                    <a:pt x="136" y="280"/>
                  </a:lnTo>
                  <a:lnTo>
                    <a:pt x="138" y="275"/>
                  </a:lnTo>
                  <a:lnTo>
                    <a:pt x="141" y="269"/>
                  </a:lnTo>
                  <a:lnTo>
                    <a:pt x="145" y="265"/>
                  </a:lnTo>
                  <a:lnTo>
                    <a:pt x="149" y="261"/>
                  </a:lnTo>
                  <a:lnTo>
                    <a:pt x="155" y="259"/>
                  </a:lnTo>
                  <a:lnTo>
                    <a:pt x="160" y="256"/>
                  </a:lnTo>
                  <a:lnTo>
                    <a:pt x="166" y="256"/>
                  </a:lnTo>
                  <a:lnTo>
                    <a:pt x="196" y="256"/>
                  </a:lnTo>
                  <a:lnTo>
                    <a:pt x="196" y="196"/>
                  </a:lnTo>
                  <a:lnTo>
                    <a:pt x="166" y="196"/>
                  </a:lnTo>
                  <a:lnTo>
                    <a:pt x="160" y="195"/>
                  </a:lnTo>
                  <a:lnTo>
                    <a:pt x="155" y="193"/>
                  </a:lnTo>
                  <a:lnTo>
                    <a:pt x="149" y="191"/>
                  </a:lnTo>
                  <a:lnTo>
                    <a:pt x="145" y="187"/>
                  </a:lnTo>
                  <a:lnTo>
                    <a:pt x="141" y="182"/>
                  </a:lnTo>
                  <a:lnTo>
                    <a:pt x="138" y="177"/>
                  </a:lnTo>
                  <a:lnTo>
                    <a:pt x="136" y="172"/>
                  </a:lnTo>
                  <a:lnTo>
                    <a:pt x="136" y="165"/>
                  </a:lnTo>
                  <a:lnTo>
                    <a:pt x="136" y="135"/>
                  </a:lnTo>
                  <a:lnTo>
                    <a:pt x="136" y="130"/>
                  </a:lnTo>
                  <a:lnTo>
                    <a:pt x="138" y="123"/>
                  </a:lnTo>
                  <a:lnTo>
                    <a:pt x="141" y="119"/>
                  </a:lnTo>
                  <a:lnTo>
                    <a:pt x="145" y="115"/>
                  </a:lnTo>
                  <a:lnTo>
                    <a:pt x="149" y="110"/>
                  </a:lnTo>
                  <a:lnTo>
                    <a:pt x="155" y="108"/>
                  </a:lnTo>
                  <a:lnTo>
                    <a:pt x="160" y="106"/>
                  </a:lnTo>
                  <a:lnTo>
                    <a:pt x="166" y="105"/>
                  </a:lnTo>
                  <a:lnTo>
                    <a:pt x="196" y="105"/>
                  </a:lnTo>
                  <a:lnTo>
                    <a:pt x="196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9" name="Freeform 325">
              <a:extLst>
                <a:ext uri="{FF2B5EF4-FFF2-40B4-BE49-F238E27FC236}">
                  <a16:creationId xmlns:a16="http://schemas.microsoft.com/office/drawing/2014/main" id="{4E9C428E-133B-4690-9ED6-8917E4F1E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113" y="771525"/>
              <a:ext cx="66675" cy="287338"/>
            </a:xfrm>
            <a:custGeom>
              <a:avLst/>
              <a:gdLst>
                <a:gd name="T0" fmla="*/ 30 w 211"/>
                <a:gd name="T1" fmla="*/ 105 h 903"/>
                <a:gd name="T2" fmla="*/ 41 w 211"/>
                <a:gd name="T3" fmla="*/ 107 h 903"/>
                <a:gd name="T4" fmla="*/ 51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60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557 h 903"/>
                <a:gd name="T22" fmla="*/ 41 w 211"/>
                <a:gd name="T23" fmla="*/ 560 h 903"/>
                <a:gd name="T24" fmla="*/ 51 w 211"/>
                <a:gd name="T25" fmla="*/ 566 h 903"/>
                <a:gd name="T26" fmla="*/ 58 w 211"/>
                <a:gd name="T27" fmla="*/ 576 h 903"/>
                <a:gd name="T28" fmla="*/ 60 w 211"/>
                <a:gd name="T29" fmla="*/ 587 h 903"/>
                <a:gd name="T30" fmla="*/ 60 w 211"/>
                <a:gd name="T31" fmla="*/ 623 h 903"/>
                <a:gd name="T32" fmla="*/ 55 w 211"/>
                <a:gd name="T33" fmla="*/ 634 h 903"/>
                <a:gd name="T34" fmla="*/ 47 w 211"/>
                <a:gd name="T35" fmla="*/ 643 h 903"/>
                <a:gd name="T36" fmla="*/ 36 w 211"/>
                <a:gd name="T37" fmla="*/ 647 h 903"/>
                <a:gd name="T38" fmla="*/ 0 w 211"/>
                <a:gd name="T39" fmla="*/ 648 h 903"/>
                <a:gd name="T40" fmla="*/ 30 w 211"/>
                <a:gd name="T41" fmla="*/ 708 h 903"/>
                <a:gd name="T42" fmla="*/ 41 w 211"/>
                <a:gd name="T43" fmla="*/ 710 h 903"/>
                <a:gd name="T44" fmla="*/ 51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60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497 h 903"/>
                <a:gd name="T64" fmla="*/ 169 w 211"/>
                <a:gd name="T65" fmla="*/ 495 h 903"/>
                <a:gd name="T66" fmla="*/ 159 w 211"/>
                <a:gd name="T67" fmla="*/ 488 h 903"/>
                <a:gd name="T68" fmla="*/ 153 w 211"/>
                <a:gd name="T69" fmla="*/ 478 h 903"/>
                <a:gd name="T70" fmla="*/ 151 w 211"/>
                <a:gd name="T71" fmla="*/ 467 h 903"/>
                <a:gd name="T72" fmla="*/ 151 w 211"/>
                <a:gd name="T73" fmla="*/ 430 h 903"/>
                <a:gd name="T74" fmla="*/ 155 w 211"/>
                <a:gd name="T75" fmla="*/ 419 h 903"/>
                <a:gd name="T76" fmla="*/ 164 w 211"/>
                <a:gd name="T77" fmla="*/ 412 h 903"/>
                <a:gd name="T78" fmla="*/ 174 w 211"/>
                <a:gd name="T79" fmla="*/ 408 h 903"/>
                <a:gd name="T80" fmla="*/ 211 w 211"/>
                <a:gd name="T81" fmla="*/ 407 h 903"/>
                <a:gd name="T82" fmla="*/ 181 w 211"/>
                <a:gd name="T83" fmla="*/ 346 h 903"/>
                <a:gd name="T84" fmla="*/ 169 w 211"/>
                <a:gd name="T85" fmla="*/ 344 h 903"/>
                <a:gd name="T86" fmla="*/ 159 w 211"/>
                <a:gd name="T87" fmla="*/ 338 h 903"/>
                <a:gd name="T88" fmla="*/ 153 w 211"/>
                <a:gd name="T89" fmla="*/ 328 h 903"/>
                <a:gd name="T90" fmla="*/ 151 w 211"/>
                <a:gd name="T91" fmla="*/ 316 h 903"/>
                <a:gd name="T92" fmla="*/ 151 w 211"/>
                <a:gd name="T93" fmla="*/ 280 h 903"/>
                <a:gd name="T94" fmla="*/ 155 w 211"/>
                <a:gd name="T95" fmla="*/ 269 h 903"/>
                <a:gd name="T96" fmla="*/ 164 w 211"/>
                <a:gd name="T97" fmla="*/ 261 h 903"/>
                <a:gd name="T98" fmla="*/ 174 w 211"/>
                <a:gd name="T99" fmla="*/ 256 h 903"/>
                <a:gd name="T100" fmla="*/ 211 w 211"/>
                <a:gd name="T101" fmla="*/ 256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1 w 211"/>
                <a:gd name="T113" fmla="*/ 130 h 903"/>
                <a:gd name="T114" fmla="*/ 155 w 211"/>
                <a:gd name="T115" fmla="*/ 119 h 903"/>
                <a:gd name="T116" fmla="*/ 164 w 211"/>
                <a:gd name="T117" fmla="*/ 110 h 903"/>
                <a:gd name="T118" fmla="*/ 174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1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60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60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1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557"/>
                  </a:lnTo>
                  <a:lnTo>
                    <a:pt x="30" y="557"/>
                  </a:lnTo>
                  <a:lnTo>
                    <a:pt x="36" y="558"/>
                  </a:lnTo>
                  <a:lnTo>
                    <a:pt x="41" y="560"/>
                  </a:lnTo>
                  <a:lnTo>
                    <a:pt x="47" y="562"/>
                  </a:lnTo>
                  <a:lnTo>
                    <a:pt x="51" y="566"/>
                  </a:lnTo>
                  <a:lnTo>
                    <a:pt x="55" y="571"/>
                  </a:lnTo>
                  <a:lnTo>
                    <a:pt x="58" y="576"/>
                  </a:lnTo>
                  <a:lnTo>
                    <a:pt x="60" y="581"/>
                  </a:lnTo>
                  <a:lnTo>
                    <a:pt x="60" y="587"/>
                  </a:lnTo>
                  <a:lnTo>
                    <a:pt x="60" y="618"/>
                  </a:lnTo>
                  <a:lnTo>
                    <a:pt x="60" y="623"/>
                  </a:lnTo>
                  <a:lnTo>
                    <a:pt x="58" y="629"/>
                  </a:lnTo>
                  <a:lnTo>
                    <a:pt x="55" y="634"/>
                  </a:lnTo>
                  <a:lnTo>
                    <a:pt x="51" y="638"/>
                  </a:lnTo>
                  <a:lnTo>
                    <a:pt x="47" y="643"/>
                  </a:lnTo>
                  <a:lnTo>
                    <a:pt x="41" y="645"/>
                  </a:lnTo>
                  <a:lnTo>
                    <a:pt x="36" y="647"/>
                  </a:lnTo>
                  <a:lnTo>
                    <a:pt x="30" y="648"/>
                  </a:lnTo>
                  <a:lnTo>
                    <a:pt x="0" y="648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1" y="710"/>
                  </a:lnTo>
                  <a:lnTo>
                    <a:pt x="47" y="712"/>
                  </a:lnTo>
                  <a:lnTo>
                    <a:pt x="51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60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60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1" y="789"/>
                  </a:lnTo>
                  <a:lnTo>
                    <a:pt x="47" y="793"/>
                  </a:lnTo>
                  <a:lnTo>
                    <a:pt x="41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497"/>
                  </a:lnTo>
                  <a:lnTo>
                    <a:pt x="181" y="497"/>
                  </a:lnTo>
                  <a:lnTo>
                    <a:pt x="174" y="497"/>
                  </a:lnTo>
                  <a:lnTo>
                    <a:pt x="169" y="495"/>
                  </a:lnTo>
                  <a:lnTo>
                    <a:pt x="164" y="491"/>
                  </a:lnTo>
                  <a:lnTo>
                    <a:pt x="159" y="488"/>
                  </a:lnTo>
                  <a:lnTo>
                    <a:pt x="155" y="484"/>
                  </a:lnTo>
                  <a:lnTo>
                    <a:pt x="153" y="478"/>
                  </a:lnTo>
                  <a:lnTo>
                    <a:pt x="151" y="473"/>
                  </a:lnTo>
                  <a:lnTo>
                    <a:pt x="151" y="467"/>
                  </a:lnTo>
                  <a:lnTo>
                    <a:pt x="151" y="437"/>
                  </a:lnTo>
                  <a:lnTo>
                    <a:pt x="151" y="430"/>
                  </a:lnTo>
                  <a:lnTo>
                    <a:pt x="153" y="425"/>
                  </a:lnTo>
                  <a:lnTo>
                    <a:pt x="155" y="419"/>
                  </a:lnTo>
                  <a:lnTo>
                    <a:pt x="159" y="415"/>
                  </a:lnTo>
                  <a:lnTo>
                    <a:pt x="164" y="412"/>
                  </a:lnTo>
                  <a:lnTo>
                    <a:pt x="169" y="409"/>
                  </a:lnTo>
                  <a:lnTo>
                    <a:pt x="174" y="408"/>
                  </a:lnTo>
                  <a:lnTo>
                    <a:pt x="181" y="407"/>
                  </a:lnTo>
                  <a:lnTo>
                    <a:pt x="211" y="407"/>
                  </a:lnTo>
                  <a:lnTo>
                    <a:pt x="211" y="346"/>
                  </a:lnTo>
                  <a:lnTo>
                    <a:pt x="181" y="346"/>
                  </a:lnTo>
                  <a:lnTo>
                    <a:pt x="174" y="345"/>
                  </a:lnTo>
                  <a:lnTo>
                    <a:pt x="169" y="344"/>
                  </a:lnTo>
                  <a:lnTo>
                    <a:pt x="164" y="341"/>
                  </a:lnTo>
                  <a:lnTo>
                    <a:pt x="159" y="338"/>
                  </a:lnTo>
                  <a:lnTo>
                    <a:pt x="155" y="333"/>
                  </a:lnTo>
                  <a:lnTo>
                    <a:pt x="153" y="328"/>
                  </a:lnTo>
                  <a:lnTo>
                    <a:pt x="151" y="322"/>
                  </a:lnTo>
                  <a:lnTo>
                    <a:pt x="151" y="316"/>
                  </a:lnTo>
                  <a:lnTo>
                    <a:pt x="151" y="286"/>
                  </a:lnTo>
                  <a:lnTo>
                    <a:pt x="151" y="280"/>
                  </a:lnTo>
                  <a:lnTo>
                    <a:pt x="153" y="275"/>
                  </a:lnTo>
                  <a:lnTo>
                    <a:pt x="155" y="269"/>
                  </a:lnTo>
                  <a:lnTo>
                    <a:pt x="159" y="265"/>
                  </a:lnTo>
                  <a:lnTo>
                    <a:pt x="164" y="261"/>
                  </a:lnTo>
                  <a:lnTo>
                    <a:pt x="169" y="259"/>
                  </a:lnTo>
                  <a:lnTo>
                    <a:pt x="174" y="256"/>
                  </a:lnTo>
                  <a:lnTo>
                    <a:pt x="181" y="256"/>
                  </a:lnTo>
                  <a:lnTo>
                    <a:pt x="211" y="256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4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5" y="182"/>
                  </a:lnTo>
                  <a:lnTo>
                    <a:pt x="153" y="177"/>
                  </a:lnTo>
                  <a:lnTo>
                    <a:pt x="151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1" y="130"/>
                  </a:lnTo>
                  <a:lnTo>
                    <a:pt x="153" y="123"/>
                  </a:lnTo>
                  <a:lnTo>
                    <a:pt x="155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4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0" name="Freeform 326">
              <a:extLst>
                <a:ext uri="{FF2B5EF4-FFF2-40B4-BE49-F238E27FC236}">
                  <a16:creationId xmlns:a16="http://schemas.microsoft.com/office/drawing/2014/main" id="{505F0C26-0335-4A1D-AA0D-8C830A4F0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325" y="771525"/>
              <a:ext cx="68263" cy="287338"/>
            </a:xfrm>
            <a:custGeom>
              <a:avLst/>
              <a:gdLst>
                <a:gd name="T0" fmla="*/ 30 w 211"/>
                <a:gd name="T1" fmla="*/ 105 h 903"/>
                <a:gd name="T2" fmla="*/ 42 w 211"/>
                <a:gd name="T3" fmla="*/ 107 h 903"/>
                <a:gd name="T4" fmla="*/ 52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59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256 h 903"/>
                <a:gd name="T22" fmla="*/ 42 w 211"/>
                <a:gd name="T23" fmla="*/ 259 h 903"/>
                <a:gd name="T24" fmla="*/ 52 w 211"/>
                <a:gd name="T25" fmla="*/ 265 h 903"/>
                <a:gd name="T26" fmla="*/ 58 w 211"/>
                <a:gd name="T27" fmla="*/ 275 h 903"/>
                <a:gd name="T28" fmla="*/ 60 w 211"/>
                <a:gd name="T29" fmla="*/ 286 h 903"/>
                <a:gd name="T30" fmla="*/ 59 w 211"/>
                <a:gd name="T31" fmla="*/ 322 h 903"/>
                <a:gd name="T32" fmla="*/ 55 w 211"/>
                <a:gd name="T33" fmla="*/ 333 h 903"/>
                <a:gd name="T34" fmla="*/ 47 w 211"/>
                <a:gd name="T35" fmla="*/ 341 h 903"/>
                <a:gd name="T36" fmla="*/ 36 w 211"/>
                <a:gd name="T37" fmla="*/ 345 h 903"/>
                <a:gd name="T38" fmla="*/ 0 w 211"/>
                <a:gd name="T39" fmla="*/ 346 h 903"/>
                <a:gd name="T40" fmla="*/ 30 w 211"/>
                <a:gd name="T41" fmla="*/ 708 h 903"/>
                <a:gd name="T42" fmla="*/ 42 w 211"/>
                <a:gd name="T43" fmla="*/ 710 h 903"/>
                <a:gd name="T44" fmla="*/ 52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59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798 h 903"/>
                <a:gd name="T64" fmla="*/ 169 w 211"/>
                <a:gd name="T65" fmla="*/ 796 h 903"/>
                <a:gd name="T66" fmla="*/ 159 w 211"/>
                <a:gd name="T67" fmla="*/ 789 h 903"/>
                <a:gd name="T68" fmla="*/ 153 w 211"/>
                <a:gd name="T69" fmla="*/ 780 h 903"/>
                <a:gd name="T70" fmla="*/ 151 w 211"/>
                <a:gd name="T71" fmla="*/ 768 h 903"/>
                <a:gd name="T72" fmla="*/ 152 w 211"/>
                <a:gd name="T73" fmla="*/ 732 h 903"/>
                <a:gd name="T74" fmla="*/ 156 w 211"/>
                <a:gd name="T75" fmla="*/ 721 h 903"/>
                <a:gd name="T76" fmla="*/ 164 w 211"/>
                <a:gd name="T77" fmla="*/ 713 h 903"/>
                <a:gd name="T78" fmla="*/ 175 w 211"/>
                <a:gd name="T79" fmla="*/ 708 h 903"/>
                <a:gd name="T80" fmla="*/ 211 w 211"/>
                <a:gd name="T81" fmla="*/ 708 h 903"/>
                <a:gd name="T82" fmla="*/ 181 w 211"/>
                <a:gd name="T83" fmla="*/ 648 h 903"/>
                <a:gd name="T84" fmla="*/ 169 w 211"/>
                <a:gd name="T85" fmla="*/ 645 h 903"/>
                <a:gd name="T86" fmla="*/ 159 w 211"/>
                <a:gd name="T87" fmla="*/ 638 h 903"/>
                <a:gd name="T88" fmla="*/ 153 w 211"/>
                <a:gd name="T89" fmla="*/ 629 h 903"/>
                <a:gd name="T90" fmla="*/ 151 w 211"/>
                <a:gd name="T91" fmla="*/ 618 h 903"/>
                <a:gd name="T92" fmla="*/ 152 w 211"/>
                <a:gd name="T93" fmla="*/ 581 h 903"/>
                <a:gd name="T94" fmla="*/ 156 w 211"/>
                <a:gd name="T95" fmla="*/ 571 h 903"/>
                <a:gd name="T96" fmla="*/ 164 w 211"/>
                <a:gd name="T97" fmla="*/ 562 h 903"/>
                <a:gd name="T98" fmla="*/ 175 w 211"/>
                <a:gd name="T99" fmla="*/ 558 h 903"/>
                <a:gd name="T100" fmla="*/ 211 w 211"/>
                <a:gd name="T101" fmla="*/ 557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2 w 211"/>
                <a:gd name="T113" fmla="*/ 130 h 903"/>
                <a:gd name="T114" fmla="*/ 156 w 211"/>
                <a:gd name="T115" fmla="*/ 119 h 903"/>
                <a:gd name="T116" fmla="*/ 164 w 211"/>
                <a:gd name="T117" fmla="*/ 110 h 903"/>
                <a:gd name="T118" fmla="*/ 175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2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2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2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2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2" y="710"/>
                  </a:lnTo>
                  <a:lnTo>
                    <a:pt x="47" y="712"/>
                  </a:lnTo>
                  <a:lnTo>
                    <a:pt x="52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59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59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2" y="789"/>
                  </a:lnTo>
                  <a:lnTo>
                    <a:pt x="47" y="793"/>
                  </a:lnTo>
                  <a:lnTo>
                    <a:pt x="42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798"/>
                  </a:lnTo>
                  <a:lnTo>
                    <a:pt x="181" y="798"/>
                  </a:lnTo>
                  <a:lnTo>
                    <a:pt x="175" y="797"/>
                  </a:lnTo>
                  <a:lnTo>
                    <a:pt x="169" y="796"/>
                  </a:lnTo>
                  <a:lnTo>
                    <a:pt x="164" y="793"/>
                  </a:lnTo>
                  <a:lnTo>
                    <a:pt x="159" y="789"/>
                  </a:lnTo>
                  <a:lnTo>
                    <a:pt x="156" y="785"/>
                  </a:lnTo>
                  <a:lnTo>
                    <a:pt x="153" y="780"/>
                  </a:lnTo>
                  <a:lnTo>
                    <a:pt x="152" y="774"/>
                  </a:lnTo>
                  <a:lnTo>
                    <a:pt x="151" y="768"/>
                  </a:lnTo>
                  <a:lnTo>
                    <a:pt x="151" y="738"/>
                  </a:lnTo>
                  <a:lnTo>
                    <a:pt x="152" y="732"/>
                  </a:lnTo>
                  <a:lnTo>
                    <a:pt x="153" y="726"/>
                  </a:lnTo>
                  <a:lnTo>
                    <a:pt x="156" y="721"/>
                  </a:lnTo>
                  <a:lnTo>
                    <a:pt x="159" y="717"/>
                  </a:lnTo>
                  <a:lnTo>
                    <a:pt x="164" y="713"/>
                  </a:lnTo>
                  <a:lnTo>
                    <a:pt x="169" y="710"/>
                  </a:lnTo>
                  <a:lnTo>
                    <a:pt x="175" y="708"/>
                  </a:lnTo>
                  <a:lnTo>
                    <a:pt x="181" y="708"/>
                  </a:lnTo>
                  <a:lnTo>
                    <a:pt x="211" y="708"/>
                  </a:lnTo>
                  <a:lnTo>
                    <a:pt x="211" y="648"/>
                  </a:lnTo>
                  <a:lnTo>
                    <a:pt x="181" y="648"/>
                  </a:lnTo>
                  <a:lnTo>
                    <a:pt x="175" y="647"/>
                  </a:lnTo>
                  <a:lnTo>
                    <a:pt x="169" y="645"/>
                  </a:lnTo>
                  <a:lnTo>
                    <a:pt x="164" y="643"/>
                  </a:lnTo>
                  <a:lnTo>
                    <a:pt x="159" y="638"/>
                  </a:lnTo>
                  <a:lnTo>
                    <a:pt x="156" y="634"/>
                  </a:lnTo>
                  <a:lnTo>
                    <a:pt x="153" y="629"/>
                  </a:lnTo>
                  <a:lnTo>
                    <a:pt x="152" y="623"/>
                  </a:lnTo>
                  <a:lnTo>
                    <a:pt x="151" y="618"/>
                  </a:lnTo>
                  <a:lnTo>
                    <a:pt x="151" y="587"/>
                  </a:lnTo>
                  <a:lnTo>
                    <a:pt x="152" y="581"/>
                  </a:lnTo>
                  <a:lnTo>
                    <a:pt x="153" y="576"/>
                  </a:lnTo>
                  <a:lnTo>
                    <a:pt x="156" y="571"/>
                  </a:lnTo>
                  <a:lnTo>
                    <a:pt x="159" y="566"/>
                  </a:lnTo>
                  <a:lnTo>
                    <a:pt x="164" y="562"/>
                  </a:lnTo>
                  <a:lnTo>
                    <a:pt x="169" y="560"/>
                  </a:lnTo>
                  <a:lnTo>
                    <a:pt x="175" y="558"/>
                  </a:lnTo>
                  <a:lnTo>
                    <a:pt x="181" y="557"/>
                  </a:lnTo>
                  <a:lnTo>
                    <a:pt x="211" y="557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5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6" y="182"/>
                  </a:lnTo>
                  <a:lnTo>
                    <a:pt x="153" y="177"/>
                  </a:lnTo>
                  <a:lnTo>
                    <a:pt x="152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2" y="130"/>
                  </a:lnTo>
                  <a:lnTo>
                    <a:pt x="153" y="123"/>
                  </a:lnTo>
                  <a:lnTo>
                    <a:pt x="156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5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1" name="Freeform 327">
              <a:extLst>
                <a:ext uri="{FF2B5EF4-FFF2-40B4-BE49-F238E27FC236}">
                  <a16:creationId xmlns:a16="http://schemas.microsoft.com/office/drawing/2014/main" id="{EE66CB30-F704-45C9-BA83-17BA7DC13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13" y="771525"/>
              <a:ext cx="61913" cy="287338"/>
            </a:xfrm>
            <a:custGeom>
              <a:avLst/>
              <a:gdLst>
                <a:gd name="T0" fmla="*/ 0 w 195"/>
                <a:gd name="T1" fmla="*/ 0 h 903"/>
                <a:gd name="T2" fmla="*/ 30 w 195"/>
                <a:gd name="T3" fmla="*/ 105 h 903"/>
                <a:gd name="T4" fmla="*/ 42 w 195"/>
                <a:gd name="T5" fmla="*/ 107 h 903"/>
                <a:gd name="T6" fmla="*/ 51 w 195"/>
                <a:gd name="T7" fmla="*/ 115 h 903"/>
                <a:gd name="T8" fmla="*/ 58 w 195"/>
                <a:gd name="T9" fmla="*/ 123 h 903"/>
                <a:gd name="T10" fmla="*/ 60 w 195"/>
                <a:gd name="T11" fmla="*/ 135 h 903"/>
                <a:gd name="T12" fmla="*/ 59 w 195"/>
                <a:gd name="T13" fmla="*/ 172 h 903"/>
                <a:gd name="T14" fmla="*/ 55 w 195"/>
                <a:gd name="T15" fmla="*/ 182 h 903"/>
                <a:gd name="T16" fmla="*/ 47 w 195"/>
                <a:gd name="T17" fmla="*/ 191 h 903"/>
                <a:gd name="T18" fmla="*/ 36 w 195"/>
                <a:gd name="T19" fmla="*/ 195 h 903"/>
                <a:gd name="T20" fmla="*/ 0 w 195"/>
                <a:gd name="T21" fmla="*/ 196 h 903"/>
                <a:gd name="T22" fmla="*/ 30 w 195"/>
                <a:gd name="T23" fmla="*/ 256 h 903"/>
                <a:gd name="T24" fmla="*/ 42 w 195"/>
                <a:gd name="T25" fmla="*/ 259 h 903"/>
                <a:gd name="T26" fmla="*/ 51 w 195"/>
                <a:gd name="T27" fmla="*/ 265 h 903"/>
                <a:gd name="T28" fmla="*/ 58 w 195"/>
                <a:gd name="T29" fmla="*/ 275 h 903"/>
                <a:gd name="T30" fmla="*/ 60 w 195"/>
                <a:gd name="T31" fmla="*/ 286 h 903"/>
                <a:gd name="T32" fmla="*/ 59 w 195"/>
                <a:gd name="T33" fmla="*/ 322 h 903"/>
                <a:gd name="T34" fmla="*/ 55 w 195"/>
                <a:gd name="T35" fmla="*/ 333 h 903"/>
                <a:gd name="T36" fmla="*/ 47 w 195"/>
                <a:gd name="T37" fmla="*/ 341 h 903"/>
                <a:gd name="T38" fmla="*/ 36 w 195"/>
                <a:gd name="T39" fmla="*/ 345 h 903"/>
                <a:gd name="T40" fmla="*/ 0 w 195"/>
                <a:gd name="T41" fmla="*/ 346 h 903"/>
                <a:gd name="T42" fmla="*/ 30 w 195"/>
                <a:gd name="T43" fmla="*/ 407 h 903"/>
                <a:gd name="T44" fmla="*/ 42 w 195"/>
                <a:gd name="T45" fmla="*/ 409 h 903"/>
                <a:gd name="T46" fmla="*/ 51 w 195"/>
                <a:gd name="T47" fmla="*/ 415 h 903"/>
                <a:gd name="T48" fmla="*/ 58 w 195"/>
                <a:gd name="T49" fmla="*/ 425 h 903"/>
                <a:gd name="T50" fmla="*/ 60 w 195"/>
                <a:gd name="T51" fmla="*/ 437 h 903"/>
                <a:gd name="T52" fmla="*/ 59 w 195"/>
                <a:gd name="T53" fmla="*/ 473 h 903"/>
                <a:gd name="T54" fmla="*/ 55 w 195"/>
                <a:gd name="T55" fmla="*/ 484 h 903"/>
                <a:gd name="T56" fmla="*/ 47 w 195"/>
                <a:gd name="T57" fmla="*/ 491 h 903"/>
                <a:gd name="T58" fmla="*/ 36 w 195"/>
                <a:gd name="T59" fmla="*/ 497 h 903"/>
                <a:gd name="T60" fmla="*/ 0 w 195"/>
                <a:gd name="T61" fmla="*/ 497 h 903"/>
                <a:gd name="T62" fmla="*/ 180 w 195"/>
                <a:gd name="T63" fmla="*/ 903 h 903"/>
                <a:gd name="T64" fmla="*/ 187 w 195"/>
                <a:gd name="T65" fmla="*/ 902 h 903"/>
                <a:gd name="T66" fmla="*/ 191 w 195"/>
                <a:gd name="T67" fmla="*/ 899 h 903"/>
                <a:gd name="T68" fmla="*/ 194 w 195"/>
                <a:gd name="T69" fmla="*/ 895 h 903"/>
                <a:gd name="T70" fmla="*/ 195 w 195"/>
                <a:gd name="T71" fmla="*/ 888 h 903"/>
                <a:gd name="T72" fmla="*/ 195 w 195"/>
                <a:gd name="T73" fmla="*/ 12 h 903"/>
                <a:gd name="T74" fmla="*/ 193 w 195"/>
                <a:gd name="T75" fmla="*/ 6 h 903"/>
                <a:gd name="T76" fmla="*/ 189 w 195"/>
                <a:gd name="T77" fmla="*/ 2 h 903"/>
                <a:gd name="T78" fmla="*/ 183 w 195"/>
                <a:gd name="T79" fmla="*/ 0 h 903"/>
                <a:gd name="T80" fmla="*/ 180 w 195"/>
                <a:gd name="T81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5" h="903">
                  <a:moveTo>
                    <a:pt x="180" y="0"/>
                  </a:moveTo>
                  <a:lnTo>
                    <a:pt x="0" y="0"/>
                  </a:lnTo>
                  <a:lnTo>
                    <a:pt x="0" y="105"/>
                  </a:ln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1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1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407"/>
                  </a:lnTo>
                  <a:lnTo>
                    <a:pt x="30" y="407"/>
                  </a:lnTo>
                  <a:lnTo>
                    <a:pt x="36" y="408"/>
                  </a:lnTo>
                  <a:lnTo>
                    <a:pt x="42" y="409"/>
                  </a:lnTo>
                  <a:lnTo>
                    <a:pt x="47" y="412"/>
                  </a:lnTo>
                  <a:lnTo>
                    <a:pt x="51" y="415"/>
                  </a:lnTo>
                  <a:lnTo>
                    <a:pt x="55" y="419"/>
                  </a:lnTo>
                  <a:lnTo>
                    <a:pt x="58" y="425"/>
                  </a:lnTo>
                  <a:lnTo>
                    <a:pt x="59" y="430"/>
                  </a:lnTo>
                  <a:lnTo>
                    <a:pt x="60" y="437"/>
                  </a:lnTo>
                  <a:lnTo>
                    <a:pt x="60" y="467"/>
                  </a:lnTo>
                  <a:lnTo>
                    <a:pt x="59" y="473"/>
                  </a:lnTo>
                  <a:lnTo>
                    <a:pt x="58" y="478"/>
                  </a:lnTo>
                  <a:lnTo>
                    <a:pt x="55" y="484"/>
                  </a:lnTo>
                  <a:lnTo>
                    <a:pt x="51" y="488"/>
                  </a:lnTo>
                  <a:lnTo>
                    <a:pt x="47" y="491"/>
                  </a:lnTo>
                  <a:lnTo>
                    <a:pt x="42" y="495"/>
                  </a:lnTo>
                  <a:lnTo>
                    <a:pt x="36" y="497"/>
                  </a:lnTo>
                  <a:lnTo>
                    <a:pt x="30" y="497"/>
                  </a:lnTo>
                  <a:lnTo>
                    <a:pt x="0" y="497"/>
                  </a:lnTo>
                  <a:lnTo>
                    <a:pt x="0" y="903"/>
                  </a:lnTo>
                  <a:lnTo>
                    <a:pt x="180" y="903"/>
                  </a:lnTo>
                  <a:lnTo>
                    <a:pt x="183" y="903"/>
                  </a:lnTo>
                  <a:lnTo>
                    <a:pt x="187" y="902"/>
                  </a:lnTo>
                  <a:lnTo>
                    <a:pt x="189" y="901"/>
                  </a:lnTo>
                  <a:lnTo>
                    <a:pt x="191" y="899"/>
                  </a:lnTo>
                  <a:lnTo>
                    <a:pt x="193" y="897"/>
                  </a:lnTo>
                  <a:lnTo>
                    <a:pt x="194" y="895"/>
                  </a:lnTo>
                  <a:lnTo>
                    <a:pt x="195" y="891"/>
                  </a:lnTo>
                  <a:lnTo>
                    <a:pt x="195" y="888"/>
                  </a:lnTo>
                  <a:lnTo>
                    <a:pt x="195" y="15"/>
                  </a:lnTo>
                  <a:lnTo>
                    <a:pt x="195" y="12"/>
                  </a:lnTo>
                  <a:lnTo>
                    <a:pt x="194" y="10"/>
                  </a:lnTo>
                  <a:lnTo>
                    <a:pt x="193" y="6"/>
                  </a:lnTo>
                  <a:lnTo>
                    <a:pt x="191" y="4"/>
                  </a:lnTo>
                  <a:lnTo>
                    <a:pt x="189" y="2"/>
                  </a:lnTo>
                  <a:lnTo>
                    <a:pt x="187" y="1"/>
                  </a:lnTo>
                  <a:lnTo>
                    <a:pt x="183" y="0"/>
                  </a:lnTo>
                  <a:lnTo>
                    <a:pt x="180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2" name="Freeform 2319" descr="Icon of leaf. ">
            <a:extLst>
              <a:ext uri="{FF2B5EF4-FFF2-40B4-BE49-F238E27FC236}">
                <a16:creationId xmlns:a16="http://schemas.microsoft.com/office/drawing/2014/main" id="{4C935A16-4F4C-4B17-B911-F1D554A088A8}"/>
              </a:ext>
            </a:extLst>
          </p:cNvPr>
          <p:cNvSpPr>
            <a:spLocks noEditPoints="1"/>
          </p:cNvSpPr>
          <p:nvPr/>
        </p:nvSpPr>
        <p:spPr bwMode="auto">
          <a:xfrm>
            <a:off x="10247928" y="2303513"/>
            <a:ext cx="367656" cy="367656"/>
          </a:xfrm>
          <a:custGeom>
            <a:avLst/>
            <a:gdLst>
              <a:gd name="T0" fmla="*/ 550 w 868"/>
              <a:gd name="T1" fmla="*/ 453 h 868"/>
              <a:gd name="T2" fmla="*/ 561 w 868"/>
              <a:gd name="T3" fmla="*/ 457 h 868"/>
              <a:gd name="T4" fmla="*/ 565 w 868"/>
              <a:gd name="T5" fmla="*/ 468 h 868"/>
              <a:gd name="T6" fmla="*/ 561 w 868"/>
              <a:gd name="T7" fmla="*/ 479 h 868"/>
              <a:gd name="T8" fmla="*/ 550 w 868"/>
              <a:gd name="T9" fmla="*/ 483 h 868"/>
              <a:gd name="T10" fmla="*/ 432 w 868"/>
              <a:gd name="T11" fmla="*/ 604 h 868"/>
              <a:gd name="T12" fmla="*/ 442 w 868"/>
              <a:gd name="T13" fmla="*/ 611 h 868"/>
              <a:gd name="T14" fmla="*/ 444 w 868"/>
              <a:gd name="T15" fmla="*/ 622 h 868"/>
              <a:gd name="T16" fmla="*/ 437 w 868"/>
              <a:gd name="T17" fmla="*/ 632 h 868"/>
              <a:gd name="T18" fmla="*/ 254 w 868"/>
              <a:gd name="T19" fmla="*/ 634 h 868"/>
              <a:gd name="T20" fmla="*/ 233 w 868"/>
              <a:gd name="T21" fmla="*/ 438 h 868"/>
              <a:gd name="T22" fmla="*/ 237 w 868"/>
              <a:gd name="T23" fmla="*/ 427 h 868"/>
              <a:gd name="T24" fmla="*/ 248 w 868"/>
              <a:gd name="T25" fmla="*/ 423 h 868"/>
              <a:gd name="T26" fmla="*/ 258 w 868"/>
              <a:gd name="T27" fmla="*/ 427 h 868"/>
              <a:gd name="T28" fmla="*/ 263 w 868"/>
              <a:gd name="T29" fmla="*/ 438 h 868"/>
              <a:gd name="T30" fmla="*/ 384 w 868"/>
              <a:gd name="T31" fmla="*/ 315 h 868"/>
              <a:gd name="T32" fmla="*/ 390 w 868"/>
              <a:gd name="T33" fmla="*/ 305 h 868"/>
              <a:gd name="T34" fmla="*/ 402 w 868"/>
              <a:gd name="T35" fmla="*/ 303 h 868"/>
              <a:gd name="T36" fmla="*/ 412 w 868"/>
              <a:gd name="T37" fmla="*/ 309 h 868"/>
              <a:gd name="T38" fmla="*/ 414 w 868"/>
              <a:gd name="T39" fmla="*/ 431 h 868"/>
              <a:gd name="T40" fmla="*/ 536 w 868"/>
              <a:gd name="T41" fmla="*/ 251 h 868"/>
              <a:gd name="T42" fmla="*/ 544 w 868"/>
              <a:gd name="T43" fmla="*/ 243 h 868"/>
              <a:gd name="T44" fmla="*/ 555 w 868"/>
              <a:gd name="T45" fmla="*/ 243 h 868"/>
              <a:gd name="T46" fmla="*/ 564 w 868"/>
              <a:gd name="T47" fmla="*/ 251 h 868"/>
              <a:gd name="T48" fmla="*/ 610 w 868"/>
              <a:gd name="T49" fmla="*/ 302 h 868"/>
              <a:gd name="T50" fmla="*/ 621 w 868"/>
              <a:gd name="T51" fmla="*/ 307 h 868"/>
              <a:gd name="T52" fmla="*/ 625 w 868"/>
              <a:gd name="T53" fmla="*/ 317 h 868"/>
              <a:gd name="T54" fmla="*/ 621 w 868"/>
              <a:gd name="T55" fmla="*/ 328 h 868"/>
              <a:gd name="T56" fmla="*/ 610 w 868"/>
              <a:gd name="T57" fmla="*/ 332 h 868"/>
              <a:gd name="T58" fmla="*/ 854 w 868"/>
              <a:gd name="T59" fmla="*/ 0 h 868"/>
              <a:gd name="T60" fmla="*/ 789 w 868"/>
              <a:gd name="T61" fmla="*/ 9 h 868"/>
              <a:gd name="T62" fmla="*/ 611 w 868"/>
              <a:gd name="T63" fmla="*/ 45 h 868"/>
              <a:gd name="T64" fmla="*/ 472 w 868"/>
              <a:gd name="T65" fmla="*/ 86 h 868"/>
              <a:gd name="T66" fmla="*/ 319 w 868"/>
              <a:gd name="T67" fmla="*/ 147 h 868"/>
              <a:gd name="T68" fmla="*/ 200 w 868"/>
              <a:gd name="T69" fmla="*/ 219 h 868"/>
              <a:gd name="T70" fmla="*/ 114 w 868"/>
              <a:gd name="T71" fmla="*/ 301 h 868"/>
              <a:gd name="T72" fmla="*/ 63 w 868"/>
              <a:gd name="T73" fmla="*/ 386 h 868"/>
              <a:gd name="T74" fmla="*/ 46 w 868"/>
              <a:gd name="T75" fmla="*/ 463 h 868"/>
              <a:gd name="T76" fmla="*/ 49 w 868"/>
              <a:gd name="T77" fmla="*/ 544 h 868"/>
              <a:gd name="T78" fmla="*/ 74 w 868"/>
              <a:gd name="T79" fmla="*/ 630 h 868"/>
              <a:gd name="T80" fmla="*/ 4 w 868"/>
              <a:gd name="T81" fmla="*/ 799 h 868"/>
              <a:gd name="T82" fmla="*/ 0 w 868"/>
              <a:gd name="T83" fmla="*/ 809 h 868"/>
              <a:gd name="T84" fmla="*/ 4 w 868"/>
              <a:gd name="T85" fmla="*/ 820 h 868"/>
              <a:gd name="T86" fmla="*/ 55 w 868"/>
              <a:gd name="T87" fmla="*/ 868 h 868"/>
              <a:gd name="T88" fmla="*/ 66 w 868"/>
              <a:gd name="T89" fmla="*/ 866 h 868"/>
              <a:gd name="T90" fmla="*/ 224 w 868"/>
              <a:gd name="T91" fmla="*/ 786 h 868"/>
              <a:gd name="T92" fmla="*/ 326 w 868"/>
              <a:gd name="T93" fmla="*/ 816 h 868"/>
              <a:gd name="T94" fmla="*/ 405 w 868"/>
              <a:gd name="T95" fmla="*/ 819 h 868"/>
              <a:gd name="T96" fmla="*/ 464 w 868"/>
              <a:gd name="T97" fmla="*/ 806 h 868"/>
              <a:gd name="T98" fmla="*/ 521 w 868"/>
              <a:gd name="T99" fmla="*/ 779 h 868"/>
              <a:gd name="T100" fmla="*/ 575 w 868"/>
              <a:gd name="T101" fmla="*/ 740 h 868"/>
              <a:gd name="T102" fmla="*/ 625 w 868"/>
              <a:gd name="T103" fmla="*/ 690 h 868"/>
              <a:gd name="T104" fmla="*/ 672 w 868"/>
              <a:gd name="T105" fmla="*/ 627 h 868"/>
              <a:gd name="T106" fmla="*/ 715 w 868"/>
              <a:gd name="T107" fmla="*/ 550 h 868"/>
              <a:gd name="T108" fmla="*/ 773 w 868"/>
              <a:gd name="T109" fmla="*/ 415 h 868"/>
              <a:gd name="T110" fmla="*/ 818 w 868"/>
              <a:gd name="T111" fmla="*/ 271 h 868"/>
              <a:gd name="T112" fmla="*/ 862 w 868"/>
              <a:gd name="T113" fmla="*/ 53 h 868"/>
              <a:gd name="T114" fmla="*/ 866 w 868"/>
              <a:gd name="T115" fmla="*/ 10 h 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868" h="868">
                <a:moveTo>
                  <a:pt x="610" y="332"/>
                </a:moveTo>
                <a:lnTo>
                  <a:pt x="557" y="332"/>
                </a:lnTo>
                <a:lnTo>
                  <a:pt x="435" y="453"/>
                </a:lnTo>
                <a:lnTo>
                  <a:pt x="550" y="453"/>
                </a:lnTo>
                <a:lnTo>
                  <a:pt x="553" y="453"/>
                </a:lnTo>
                <a:lnTo>
                  <a:pt x="555" y="454"/>
                </a:lnTo>
                <a:lnTo>
                  <a:pt x="559" y="456"/>
                </a:lnTo>
                <a:lnTo>
                  <a:pt x="561" y="457"/>
                </a:lnTo>
                <a:lnTo>
                  <a:pt x="563" y="460"/>
                </a:lnTo>
                <a:lnTo>
                  <a:pt x="564" y="463"/>
                </a:lnTo>
                <a:lnTo>
                  <a:pt x="565" y="466"/>
                </a:lnTo>
                <a:lnTo>
                  <a:pt x="565" y="468"/>
                </a:lnTo>
                <a:lnTo>
                  <a:pt x="565" y="471"/>
                </a:lnTo>
                <a:lnTo>
                  <a:pt x="564" y="474"/>
                </a:lnTo>
                <a:lnTo>
                  <a:pt x="563" y="476"/>
                </a:lnTo>
                <a:lnTo>
                  <a:pt x="561" y="479"/>
                </a:lnTo>
                <a:lnTo>
                  <a:pt x="559" y="481"/>
                </a:lnTo>
                <a:lnTo>
                  <a:pt x="555" y="482"/>
                </a:lnTo>
                <a:lnTo>
                  <a:pt x="553" y="483"/>
                </a:lnTo>
                <a:lnTo>
                  <a:pt x="550" y="483"/>
                </a:lnTo>
                <a:lnTo>
                  <a:pt x="405" y="483"/>
                </a:lnTo>
                <a:lnTo>
                  <a:pt x="284" y="604"/>
                </a:lnTo>
                <a:lnTo>
                  <a:pt x="429" y="604"/>
                </a:lnTo>
                <a:lnTo>
                  <a:pt x="432" y="604"/>
                </a:lnTo>
                <a:lnTo>
                  <a:pt x="435" y="605"/>
                </a:lnTo>
                <a:lnTo>
                  <a:pt x="437" y="607"/>
                </a:lnTo>
                <a:lnTo>
                  <a:pt x="440" y="608"/>
                </a:lnTo>
                <a:lnTo>
                  <a:pt x="442" y="611"/>
                </a:lnTo>
                <a:lnTo>
                  <a:pt x="443" y="614"/>
                </a:lnTo>
                <a:lnTo>
                  <a:pt x="444" y="616"/>
                </a:lnTo>
                <a:lnTo>
                  <a:pt x="444" y="619"/>
                </a:lnTo>
                <a:lnTo>
                  <a:pt x="444" y="622"/>
                </a:lnTo>
                <a:lnTo>
                  <a:pt x="443" y="626"/>
                </a:lnTo>
                <a:lnTo>
                  <a:pt x="442" y="628"/>
                </a:lnTo>
                <a:lnTo>
                  <a:pt x="440" y="630"/>
                </a:lnTo>
                <a:lnTo>
                  <a:pt x="437" y="632"/>
                </a:lnTo>
                <a:lnTo>
                  <a:pt x="435" y="633"/>
                </a:lnTo>
                <a:lnTo>
                  <a:pt x="432" y="634"/>
                </a:lnTo>
                <a:lnTo>
                  <a:pt x="429" y="634"/>
                </a:lnTo>
                <a:lnTo>
                  <a:pt x="254" y="634"/>
                </a:lnTo>
                <a:lnTo>
                  <a:pt x="58" y="830"/>
                </a:lnTo>
                <a:lnTo>
                  <a:pt x="36" y="809"/>
                </a:lnTo>
                <a:lnTo>
                  <a:pt x="233" y="613"/>
                </a:lnTo>
                <a:lnTo>
                  <a:pt x="233" y="438"/>
                </a:lnTo>
                <a:lnTo>
                  <a:pt x="233" y="435"/>
                </a:lnTo>
                <a:lnTo>
                  <a:pt x="234" y="433"/>
                </a:lnTo>
                <a:lnTo>
                  <a:pt x="236" y="429"/>
                </a:lnTo>
                <a:lnTo>
                  <a:pt x="237" y="427"/>
                </a:lnTo>
                <a:lnTo>
                  <a:pt x="239" y="426"/>
                </a:lnTo>
                <a:lnTo>
                  <a:pt x="242" y="424"/>
                </a:lnTo>
                <a:lnTo>
                  <a:pt x="244" y="423"/>
                </a:lnTo>
                <a:lnTo>
                  <a:pt x="248" y="423"/>
                </a:lnTo>
                <a:lnTo>
                  <a:pt x="251" y="423"/>
                </a:lnTo>
                <a:lnTo>
                  <a:pt x="254" y="424"/>
                </a:lnTo>
                <a:lnTo>
                  <a:pt x="256" y="426"/>
                </a:lnTo>
                <a:lnTo>
                  <a:pt x="258" y="427"/>
                </a:lnTo>
                <a:lnTo>
                  <a:pt x="261" y="429"/>
                </a:lnTo>
                <a:lnTo>
                  <a:pt x="262" y="433"/>
                </a:lnTo>
                <a:lnTo>
                  <a:pt x="263" y="435"/>
                </a:lnTo>
                <a:lnTo>
                  <a:pt x="263" y="438"/>
                </a:lnTo>
                <a:lnTo>
                  <a:pt x="263" y="583"/>
                </a:lnTo>
                <a:lnTo>
                  <a:pt x="384" y="463"/>
                </a:lnTo>
                <a:lnTo>
                  <a:pt x="384" y="317"/>
                </a:lnTo>
                <a:lnTo>
                  <a:pt x="384" y="315"/>
                </a:lnTo>
                <a:lnTo>
                  <a:pt x="385" y="311"/>
                </a:lnTo>
                <a:lnTo>
                  <a:pt x="386" y="309"/>
                </a:lnTo>
                <a:lnTo>
                  <a:pt x="388" y="307"/>
                </a:lnTo>
                <a:lnTo>
                  <a:pt x="390" y="305"/>
                </a:lnTo>
                <a:lnTo>
                  <a:pt x="393" y="303"/>
                </a:lnTo>
                <a:lnTo>
                  <a:pt x="396" y="303"/>
                </a:lnTo>
                <a:lnTo>
                  <a:pt x="399" y="302"/>
                </a:lnTo>
                <a:lnTo>
                  <a:pt x="402" y="303"/>
                </a:lnTo>
                <a:lnTo>
                  <a:pt x="405" y="303"/>
                </a:lnTo>
                <a:lnTo>
                  <a:pt x="407" y="305"/>
                </a:lnTo>
                <a:lnTo>
                  <a:pt x="410" y="307"/>
                </a:lnTo>
                <a:lnTo>
                  <a:pt x="412" y="309"/>
                </a:lnTo>
                <a:lnTo>
                  <a:pt x="413" y="311"/>
                </a:lnTo>
                <a:lnTo>
                  <a:pt x="414" y="315"/>
                </a:lnTo>
                <a:lnTo>
                  <a:pt x="414" y="317"/>
                </a:lnTo>
                <a:lnTo>
                  <a:pt x="414" y="431"/>
                </a:lnTo>
                <a:lnTo>
                  <a:pt x="535" y="311"/>
                </a:lnTo>
                <a:lnTo>
                  <a:pt x="535" y="257"/>
                </a:lnTo>
                <a:lnTo>
                  <a:pt x="535" y="253"/>
                </a:lnTo>
                <a:lnTo>
                  <a:pt x="536" y="251"/>
                </a:lnTo>
                <a:lnTo>
                  <a:pt x="537" y="248"/>
                </a:lnTo>
                <a:lnTo>
                  <a:pt x="539" y="246"/>
                </a:lnTo>
                <a:lnTo>
                  <a:pt x="542" y="245"/>
                </a:lnTo>
                <a:lnTo>
                  <a:pt x="544" y="243"/>
                </a:lnTo>
                <a:lnTo>
                  <a:pt x="547" y="242"/>
                </a:lnTo>
                <a:lnTo>
                  <a:pt x="550" y="242"/>
                </a:lnTo>
                <a:lnTo>
                  <a:pt x="553" y="242"/>
                </a:lnTo>
                <a:lnTo>
                  <a:pt x="555" y="243"/>
                </a:lnTo>
                <a:lnTo>
                  <a:pt x="559" y="245"/>
                </a:lnTo>
                <a:lnTo>
                  <a:pt x="561" y="246"/>
                </a:lnTo>
                <a:lnTo>
                  <a:pt x="563" y="248"/>
                </a:lnTo>
                <a:lnTo>
                  <a:pt x="564" y="251"/>
                </a:lnTo>
                <a:lnTo>
                  <a:pt x="565" y="253"/>
                </a:lnTo>
                <a:lnTo>
                  <a:pt x="565" y="257"/>
                </a:lnTo>
                <a:lnTo>
                  <a:pt x="565" y="302"/>
                </a:lnTo>
                <a:lnTo>
                  <a:pt x="610" y="302"/>
                </a:lnTo>
                <a:lnTo>
                  <a:pt x="613" y="303"/>
                </a:lnTo>
                <a:lnTo>
                  <a:pt x="617" y="303"/>
                </a:lnTo>
                <a:lnTo>
                  <a:pt x="619" y="305"/>
                </a:lnTo>
                <a:lnTo>
                  <a:pt x="621" y="307"/>
                </a:lnTo>
                <a:lnTo>
                  <a:pt x="623" y="309"/>
                </a:lnTo>
                <a:lnTo>
                  <a:pt x="624" y="311"/>
                </a:lnTo>
                <a:lnTo>
                  <a:pt x="625" y="315"/>
                </a:lnTo>
                <a:lnTo>
                  <a:pt x="625" y="317"/>
                </a:lnTo>
                <a:lnTo>
                  <a:pt x="625" y="320"/>
                </a:lnTo>
                <a:lnTo>
                  <a:pt x="624" y="323"/>
                </a:lnTo>
                <a:lnTo>
                  <a:pt x="623" y="326"/>
                </a:lnTo>
                <a:lnTo>
                  <a:pt x="621" y="328"/>
                </a:lnTo>
                <a:lnTo>
                  <a:pt x="619" y="330"/>
                </a:lnTo>
                <a:lnTo>
                  <a:pt x="617" y="331"/>
                </a:lnTo>
                <a:lnTo>
                  <a:pt x="613" y="332"/>
                </a:lnTo>
                <a:lnTo>
                  <a:pt x="610" y="332"/>
                </a:lnTo>
                <a:close/>
                <a:moveTo>
                  <a:pt x="863" y="5"/>
                </a:moveTo>
                <a:lnTo>
                  <a:pt x="860" y="3"/>
                </a:lnTo>
                <a:lnTo>
                  <a:pt x="857" y="1"/>
                </a:lnTo>
                <a:lnTo>
                  <a:pt x="854" y="0"/>
                </a:lnTo>
                <a:lnTo>
                  <a:pt x="850" y="0"/>
                </a:lnTo>
                <a:lnTo>
                  <a:pt x="843" y="1"/>
                </a:lnTo>
                <a:lnTo>
                  <a:pt x="821" y="5"/>
                </a:lnTo>
                <a:lnTo>
                  <a:pt x="789" y="9"/>
                </a:lnTo>
                <a:lnTo>
                  <a:pt x="747" y="16"/>
                </a:lnTo>
                <a:lnTo>
                  <a:pt x="697" y="26"/>
                </a:lnTo>
                <a:lnTo>
                  <a:pt x="641" y="38"/>
                </a:lnTo>
                <a:lnTo>
                  <a:pt x="611" y="45"/>
                </a:lnTo>
                <a:lnTo>
                  <a:pt x="580" y="54"/>
                </a:lnTo>
                <a:lnTo>
                  <a:pt x="548" y="63"/>
                </a:lnTo>
                <a:lnTo>
                  <a:pt x="516" y="72"/>
                </a:lnTo>
                <a:lnTo>
                  <a:pt x="472" y="86"/>
                </a:lnTo>
                <a:lnTo>
                  <a:pt x="431" y="100"/>
                </a:lnTo>
                <a:lnTo>
                  <a:pt x="391" y="115"/>
                </a:lnTo>
                <a:lnTo>
                  <a:pt x="355" y="131"/>
                </a:lnTo>
                <a:lnTo>
                  <a:pt x="319" y="147"/>
                </a:lnTo>
                <a:lnTo>
                  <a:pt x="286" y="164"/>
                </a:lnTo>
                <a:lnTo>
                  <a:pt x="256" y="182"/>
                </a:lnTo>
                <a:lnTo>
                  <a:pt x="227" y="200"/>
                </a:lnTo>
                <a:lnTo>
                  <a:pt x="200" y="219"/>
                </a:lnTo>
                <a:lnTo>
                  <a:pt x="176" y="238"/>
                </a:lnTo>
                <a:lnTo>
                  <a:pt x="153" y="259"/>
                </a:lnTo>
                <a:lnTo>
                  <a:pt x="133" y="279"/>
                </a:lnTo>
                <a:lnTo>
                  <a:pt x="114" y="301"/>
                </a:lnTo>
                <a:lnTo>
                  <a:pt x="97" y="323"/>
                </a:lnTo>
                <a:lnTo>
                  <a:pt x="84" y="346"/>
                </a:lnTo>
                <a:lnTo>
                  <a:pt x="72" y="368"/>
                </a:lnTo>
                <a:lnTo>
                  <a:pt x="63" y="386"/>
                </a:lnTo>
                <a:lnTo>
                  <a:pt x="57" y="406"/>
                </a:lnTo>
                <a:lnTo>
                  <a:pt x="51" y="424"/>
                </a:lnTo>
                <a:lnTo>
                  <a:pt x="48" y="443"/>
                </a:lnTo>
                <a:lnTo>
                  <a:pt x="46" y="463"/>
                </a:lnTo>
                <a:lnTo>
                  <a:pt x="44" y="483"/>
                </a:lnTo>
                <a:lnTo>
                  <a:pt x="45" y="503"/>
                </a:lnTo>
                <a:lnTo>
                  <a:pt x="46" y="524"/>
                </a:lnTo>
                <a:lnTo>
                  <a:pt x="49" y="544"/>
                </a:lnTo>
                <a:lnTo>
                  <a:pt x="54" y="564"/>
                </a:lnTo>
                <a:lnTo>
                  <a:pt x="59" y="586"/>
                </a:lnTo>
                <a:lnTo>
                  <a:pt x="65" y="607"/>
                </a:lnTo>
                <a:lnTo>
                  <a:pt x="74" y="630"/>
                </a:lnTo>
                <a:lnTo>
                  <a:pt x="84" y="651"/>
                </a:lnTo>
                <a:lnTo>
                  <a:pt x="94" y="674"/>
                </a:lnTo>
                <a:lnTo>
                  <a:pt x="107" y="696"/>
                </a:lnTo>
                <a:lnTo>
                  <a:pt x="4" y="799"/>
                </a:lnTo>
                <a:lnTo>
                  <a:pt x="2" y="801"/>
                </a:lnTo>
                <a:lnTo>
                  <a:pt x="1" y="804"/>
                </a:lnTo>
                <a:lnTo>
                  <a:pt x="0" y="807"/>
                </a:lnTo>
                <a:lnTo>
                  <a:pt x="0" y="809"/>
                </a:lnTo>
                <a:lnTo>
                  <a:pt x="0" y="812"/>
                </a:lnTo>
                <a:lnTo>
                  <a:pt x="1" y="815"/>
                </a:lnTo>
                <a:lnTo>
                  <a:pt x="2" y="817"/>
                </a:lnTo>
                <a:lnTo>
                  <a:pt x="4" y="820"/>
                </a:lnTo>
                <a:lnTo>
                  <a:pt x="47" y="864"/>
                </a:lnTo>
                <a:lnTo>
                  <a:pt x="49" y="866"/>
                </a:lnTo>
                <a:lnTo>
                  <a:pt x="52" y="867"/>
                </a:lnTo>
                <a:lnTo>
                  <a:pt x="55" y="868"/>
                </a:lnTo>
                <a:lnTo>
                  <a:pt x="58" y="868"/>
                </a:lnTo>
                <a:lnTo>
                  <a:pt x="61" y="868"/>
                </a:lnTo>
                <a:lnTo>
                  <a:pt x="63" y="867"/>
                </a:lnTo>
                <a:lnTo>
                  <a:pt x="66" y="866"/>
                </a:lnTo>
                <a:lnTo>
                  <a:pt x="69" y="864"/>
                </a:lnTo>
                <a:lnTo>
                  <a:pt x="171" y="760"/>
                </a:lnTo>
                <a:lnTo>
                  <a:pt x="198" y="773"/>
                </a:lnTo>
                <a:lnTo>
                  <a:pt x="224" y="786"/>
                </a:lnTo>
                <a:lnTo>
                  <a:pt x="250" y="796"/>
                </a:lnTo>
                <a:lnTo>
                  <a:pt x="276" y="805"/>
                </a:lnTo>
                <a:lnTo>
                  <a:pt x="301" y="811"/>
                </a:lnTo>
                <a:lnTo>
                  <a:pt x="326" y="816"/>
                </a:lnTo>
                <a:lnTo>
                  <a:pt x="350" y="819"/>
                </a:lnTo>
                <a:lnTo>
                  <a:pt x="374" y="820"/>
                </a:lnTo>
                <a:lnTo>
                  <a:pt x="389" y="820"/>
                </a:lnTo>
                <a:lnTo>
                  <a:pt x="405" y="819"/>
                </a:lnTo>
                <a:lnTo>
                  <a:pt x="420" y="816"/>
                </a:lnTo>
                <a:lnTo>
                  <a:pt x="435" y="813"/>
                </a:lnTo>
                <a:lnTo>
                  <a:pt x="450" y="810"/>
                </a:lnTo>
                <a:lnTo>
                  <a:pt x="464" y="806"/>
                </a:lnTo>
                <a:lnTo>
                  <a:pt x="479" y="800"/>
                </a:lnTo>
                <a:lnTo>
                  <a:pt x="493" y="794"/>
                </a:lnTo>
                <a:lnTo>
                  <a:pt x="507" y="787"/>
                </a:lnTo>
                <a:lnTo>
                  <a:pt x="521" y="779"/>
                </a:lnTo>
                <a:lnTo>
                  <a:pt x="535" y="770"/>
                </a:lnTo>
                <a:lnTo>
                  <a:pt x="549" y="762"/>
                </a:lnTo>
                <a:lnTo>
                  <a:pt x="562" y="751"/>
                </a:lnTo>
                <a:lnTo>
                  <a:pt x="575" y="740"/>
                </a:lnTo>
                <a:lnTo>
                  <a:pt x="588" y="730"/>
                </a:lnTo>
                <a:lnTo>
                  <a:pt x="600" y="717"/>
                </a:lnTo>
                <a:lnTo>
                  <a:pt x="613" y="704"/>
                </a:lnTo>
                <a:lnTo>
                  <a:pt x="625" y="690"/>
                </a:lnTo>
                <a:lnTo>
                  <a:pt x="638" y="675"/>
                </a:lnTo>
                <a:lnTo>
                  <a:pt x="650" y="660"/>
                </a:lnTo>
                <a:lnTo>
                  <a:pt x="661" y="643"/>
                </a:lnTo>
                <a:lnTo>
                  <a:pt x="672" y="627"/>
                </a:lnTo>
                <a:lnTo>
                  <a:pt x="683" y="608"/>
                </a:lnTo>
                <a:lnTo>
                  <a:pt x="695" y="590"/>
                </a:lnTo>
                <a:lnTo>
                  <a:pt x="706" y="571"/>
                </a:lnTo>
                <a:lnTo>
                  <a:pt x="715" y="550"/>
                </a:lnTo>
                <a:lnTo>
                  <a:pt x="726" y="530"/>
                </a:lnTo>
                <a:lnTo>
                  <a:pt x="736" y="509"/>
                </a:lnTo>
                <a:lnTo>
                  <a:pt x="755" y="464"/>
                </a:lnTo>
                <a:lnTo>
                  <a:pt x="773" y="415"/>
                </a:lnTo>
                <a:lnTo>
                  <a:pt x="786" y="379"/>
                </a:lnTo>
                <a:lnTo>
                  <a:pt x="798" y="341"/>
                </a:lnTo>
                <a:lnTo>
                  <a:pt x="809" y="306"/>
                </a:lnTo>
                <a:lnTo>
                  <a:pt x="818" y="271"/>
                </a:lnTo>
                <a:lnTo>
                  <a:pt x="834" y="204"/>
                </a:lnTo>
                <a:lnTo>
                  <a:pt x="847" y="143"/>
                </a:lnTo>
                <a:lnTo>
                  <a:pt x="856" y="93"/>
                </a:lnTo>
                <a:lnTo>
                  <a:pt x="862" y="53"/>
                </a:lnTo>
                <a:lnTo>
                  <a:pt x="865" y="26"/>
                </a:lnTo>
                <a:lnTo>
                  <a:pt x="868" y="16"/>
                </a:lnTo>
                <a:lnTo>
                  <a:pt x="868" y="13"/>
                </a:lnTo>
                <a:lnTo>
                  <a:pt x="866" y="10"/>
                </a:lnTo>
                <a:lnTo>
                  <a:pt x="865" y="7"/>
                </a:lnTo>
                <a:lnTo>
                  <a:pt x="863" y="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DAD035-91F1-C382-5E7F-F40CDCCAC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003359"/>
              </p:ext>
            </p:extLst>
          </p:nvPr>
        </p:nvGraphicFramePr>
        <p:xfrm>
          <a:off x="1076604" y="725428"/>
          <a:ext cx="2149151" cy="48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9151">
                  <a:extLst>
                    <a:ext uri="{9D8B030D-6E8A-4147-A177-3AD203B41FA5}">
                      <a16:colId xmlns:a16="http://schemas.microsoft.com/office/drawing/2014/main" val="1942931143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total registered and casual riders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17047660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1BD9065-46DC-DD0E-F5DE-8104A8CE54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0101927"/>
              </p:ext>
            </p:extLst>
          </p:nvPr>
        </p:nvGraphicFramePr>
        <p:xfrm>
          <a:off x="1079658" y="1385328"/>
          <a:ext cx="3429388" cy="24977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700ADDD-D8DD-6825-7067-ACD3E4294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5086"/>
              </p:ext>
            </p:extLst>
          </p:nvPr>
        </p:nvGraphicFramePr>
        <p:xfrm>
          <a:off x="4861966" y="791377"/>
          <a:ext cx="2432777" cy="335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2777">
                  <a:extLst>
                    <a:ext uri="{9D8B030D-6E8A-4147-A177-3AD203B41FA5}">
                      <a16:colId xmlns:a16="http://schemas.microsoft.com/office/drawing/2014/main" val="830633211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average of days where bikes are used more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6083966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highest number of usage </a:t>
                      </a:r>
                      <a:r>
                        <a:rPr lang="en-US" sz="1000" u="none" strike="noStrike" dirty="0" err="1">
                          <a:effectLst/>
                        </a:rPr>
                        <a:t>dayvise</a:t>
                      </a:r>
                      <a:r>
                        <a:rPr lang="en-US" sz="1000" u="none" strike="noStrike" dirty="0">
                          <a:effectLst/>
                        </a:rPr>
                        <a:t>,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9218562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92CA32C-7156-4819-7154-BFD65DDFF1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258673"/>
              </p:ext>
            </p:extLst>
          </p:nvPr>
        </p:nvGraphicFramePr>
        <p:xfrm>
          <a:off x="4859745" y="1263388"/>
          <a:ext cx="3632200" cy="132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65421954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21947433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7669054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134460025"/>
                    </a:ext>
                  </a:extLst>
                </a:gridCol>
              </a:tblGrid>
              <a:tr h="897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Weekdays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casual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registered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Total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4621347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Sunday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1467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6605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8072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2476059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Monday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532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7776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8308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5153506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Tuesday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473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8149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8622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0610282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Wednesday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360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8103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8463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2415656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Thursday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326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8236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8562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5558305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Friday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537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7981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8518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667752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Saturday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1226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6533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7759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7458242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572F51A-37EB-1791-61E8-462924692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211" y="1157253"/>
            <a:ext cx="3452690" cy="1793697"/>
          </a:xfrm>
          <a:prstGeom prst="rect">
            <a:avLst/>
          </a:prstGeom>
        </p:spPr>
      </p:pic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C32A84C6-85DC-C451-1159-55408C53AC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0680417"/>
              </p:ext>
            </p:extLst>
          </p:nvPr>
        </p:nvGraphicFramePr>
        <p:xfrm>
          <a:off x="4913136" y="2965091"/>
          <a:ext cx="6507048" cy="2733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9CA4A5E-D6A4-53B3-FBF6-50B56F8DE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453566"/>
              </p:ext>
            </p:extLst>
          </p:nvPr>
        </p:nvGraphicFramePr>
        <p:xfrm>
          <a:off x="4946607" y="5931642"/>
          <a:ext cx="5668977" cy="2699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68977">
                  <a:extLst>
                    <a:ext uri="{9D8B030D-6E8A-4147-A177-3AD203B41FA5}">
                      <a16:colId xmlns:a16="http://schemas.microsoft.com/office/drawing/2014/main" val="1683777576"/>
                    </a:ext>
                  </a:extLst>
                </a:gridCol>
              </a:tblGrid>
              <a:tr h="2699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with the help of the table above the highest number total riders have used the bikes on 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0619750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0F5AFBA-6740-45FB-E733-1A371D29E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988632"/>
              </p:ext>
            </p:extLst>
          </p:nvPr>
        </p:nvGraphicFramePr>
        <p:xfrm>
          <a:off x="1237082" y="4885947"/>
          <a:ext cx="3632200" cy="1341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38287651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26561471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53027676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586535882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Total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Registered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Casual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5627556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Tuesday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Thursday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Sunday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0354841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Thursday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Tuesday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Saturday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2820819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Friday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Wednesday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Friday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0590674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Wednesday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Friday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Monday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3498509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Monday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Monday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Tuesday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3216372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Sunday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Sunday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Wednesday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5097295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Saturday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Saturday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Thursday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31208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ED2F5393-91A3-4102-A584-E902285C5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21824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E28618-CBDD-9C69-C147-2BF7F6A14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964753"/>
              </p:ext>
            </p:extLst>
          </p:nvPr>
        </p:nvGraphicFramePr>
        <p:xfrm>
          <a:off x="463550" y="743737"/>
          <a:ext cx="1803400" cy="167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3410897071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Percentage table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6583317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A61F89-315F-5256-753C-0624933C7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95190"/>
              </p:ext>
            </p:extLst>
          </p:nvPr>
        </p:nvGraphicFramePr>
        <p:xfrm>
          <a:off x="463550" y="1132215"/>
          <a:ext cx="2832100" cy="1341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54679195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94214849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4615986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Weekdays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Casual%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Registered%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3473625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Sunday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18.17%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81.83%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0949728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Monday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6.40%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93.60%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933037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Tuesday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5.49%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94.51%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8543255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Wednesday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4.25%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95.75%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79926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Thursday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3.81%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96.19%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9280765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Friday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6.30%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93.70%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3823006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Saturday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15.80%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84.20%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7380077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E9C05F7-CCF3-F8F4-6378-EFD16F4C6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629" y="1132215"/>
            <a:ext cx="2981741" cy="1505160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46BAB6F-E437-A50B-A6EA-5BCA1AF3D1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7074725"/>
              </p:ext>
            </p:extLst>
          </p:nvPr>
        </p:nvGraphicFramePr>
        <p:xfrm>
          <a:off x="463550" y="2637375"/>
          <a:ext cx="2422953" cy="1949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76C7A81E-37A3-CA47-40A7-C3046E49AF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7439415"/>
              </p:ext>
            </p:extLst>
          </p:nvPr>
        </p:nvGraphicFramePr>
        <p:xfrm>
          <a:off x="3155950" y="2697065"/>
          <a:ext cx="2374900" cy="1830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88475D84-4D5B-F1A2-6072-4B8E5661BC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2647718"/>
              </p:ext>
            </p:extLst>
          </p:nvPr>
        </p:nvGraphicFramePr>
        <p:xfrm>
          <a:off x="5800297" y="2697065"/>
          <a:ext cx="2372360" cy="1774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BFB838DF-6AB6-25B0-720F-89D73944AA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505075"/>
              </p:ext>
            </p:extLst>
          </p:nvPr>
        </p:nvGraphicFramePr>
        <p:xfrm>
          <a:off x="8442104" y="2637375"/>
          <a:ext cx="2377440" cy="1858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50E82A3D-CB9B-0DDF-7300-6C802D00A1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7673576"/>
              </p:ext>
            </p:extLst>
          </p:nvPr>
        </p:nvGraphicFramePr>
        <p:xfrm>
          <a:off x="740410" y="4739425"/>
          <a:ext cx="2278380" cy="1835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6158162D-FF54-F205-0FC0-86B60BB6CB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4964939"/>
              </p:ext>
            </p:extLst>
          </p:nvPr>
        </p:nvGraphicFramePr>
        <p:xfrm>
          <a:off x="3223260" y="4851185"/>
          <a:ext cx="2240280" cy="1611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342003B9-C732-8943-3420-7F784AD595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6317197"/>
              </p:ext>
            </p:extLst>
          </p:nvPr>
        </p:nvGraphicFramePr>
        <p:xfrm>
          <a:off x="5668010" y="4688625"/>
          <a:ext cx="2613660" cy="1774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CA77D8F-08C8-4FF6-6AA3-2CFC68B72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478535"/>
              </p:ext>
            </p:extLst>
          </p:nvPr>
        </p:nvGraphicFramePr>
        <p:xfrm>
          <a:off x="8524239" y="4688625"/>
          <a:ext cx="3201035" cy="3977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1035">
                  <a:extLst>
                    <a:ext uri="{9D8B030D-6E8A-4147-A177-3AD203B41FA5}">
                      <a16:colId xmlns:a16="http://schemas.microsoft.com/office/drawing/2014/main" val="3293038488"/>
                    </a:ext>
                  </a:extLst>
                </a:gridCol>
              </a:tblGrid>
              <a:tr h="3977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It shows % of casual riders vs registered riders for each day in a week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1514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768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2AC0C949-7A02-4C95-8017-D82E7E71C4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E7B386-D600-7E21-6F6D-3EF0C6B07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423714"/>
              </p:ext>
            </p:extLst>
          </p:nvPr>
        </p:nvGraphicFramePr>
        <p:xfrm>
          <a:off x="508000" y="966097"/>
          <a:ext cx="2794000" cy="1310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13469389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8253566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454624165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Temperature Range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Registered riders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Casual Riders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99649929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0.02 - 0.08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1425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0501809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0.1 - 0.18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17871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884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5166274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0.2 - 0.28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24099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1984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3224062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0.3 - 0.38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8298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1462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3968766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0.4 - 0.46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1463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9818507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Grand total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53156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4925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9610996"/>
                  </a:ext>
                </a:extLst>
              </a:tr>
            </a:tbl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D58E63E-FA9D-42F1-976F-310665C453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6361578"/>
              </p:ext>
            </p:extLst>
          </p:nvPr>
        </p:nvGraphicFramePr>
        <p:xfrm>
          <a:off x="3679451" y="863700"/>
          <a:ext cx="5121649" cy="2565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AFA9F0-A3D2-38D4-85B8-C11FB8866C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253491"/>
              </p:ext>
            </p:extLst>
          </p:nvPr>
        </p:nvGraphicFramePr>
        <p:xfrm>
          <a:off x="508000" y="4038600"/>
          <a:ext cx="2810249" cy="167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0249">
                  <a:extLst>
                    <a:ext uri="{9D8B030D-6E8A-4147-A177-3AD203B41FA5}">
                      <a16:colId xmlns:a16="http://schemas.microsoft.com/office/drawing/2014/main" val="3686359699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average of days where bikes are used more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7792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2983EA-1B06-4233-66DF-D1D34F8FF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733818"/>
              </p:ext>
            </p:extLst>
          </p:nvPr>
        </p:nvGraphicFramePr>
        <p:xfrm>
          <a:off x="508000" y="4413623"/>
          <a:ext cx="4784725" cy="1341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20890918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399345450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75001027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11635528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43384910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493320867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1077492858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repeated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Days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Total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Registered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Casual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Average 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Average 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8264974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Saturday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7759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6533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1226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933.3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175.1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3508819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Sunday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8072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6605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1467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943.6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209.6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6900991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Monday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8188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6547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1641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935.3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234.4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9533591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Tuesday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8622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8149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473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1358.2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78.8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7428707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Wednesday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8463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8103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360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1350.5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60.0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6854405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Thursday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8562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8236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326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1372.7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54.3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3262220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Friday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8518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7981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537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1330.2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89.5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2881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140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00F5AC-0A55-ECF2-6BB1-CAD89F60B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241286"/>
              </p:ext>
            </p:extLst>
          </p:nvPr>
        </p:nvGraphicFramePr>
        <p:xfrm>
          <a:off x="5214937" y="762000"/>
          <a:ext cx="1762125" cy="2802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2125">
                  <a:extLst>
                    <a:ext uri="{9D8B030D-6E8A-4147-A177-3AD203B41FA5}">
                      <a16:colId xmlns:a16="http://schemas.microsoft.com/office/drawing/2014/main" val="4204121117"/>
                    </a:ext>
                  </a:extLst>
                </a:gridCol>
              </a:tblGrid>
              <a:tr h="2802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Weekdays VS Weekends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1242496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ED036A-6BCC-9530-5FE3-98352BFD7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499222"/>
              </p:ext>
            </p:extLst>
          </p:nvPr>
        </p:nvGraphicFramePr>
        <p:xfrm>
          <a:off x="2133601" y="1605947"/>
          <a:ext cx="2311400" cy="335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349478264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1312587924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1947964795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Weekdays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Weekends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265871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Registered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40245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13138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70225518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A4E318A-D888-85F9-3CBC-0A2D5E3D92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8981182"/>
              </p:ext>
            </p:extLst>
          </p:nvPr>
        </p:nvGraphicFramePr>
        <p:xfrm>
          <a:off x="1836737" y="2268220"/>
          <a:ext cx="3098800" cy="232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DCCF8A-9D22-34FF-C16C-EC5D1E896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295280"/>
              </p:ext>
            </p:extLst>
          </p:nvPr>
        </p:nvGraphicFramePr>
        <p:xfrm>
          <a:off x="7747001" y="1605947"/>
          <a:ext cx="1917700" cy="335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4028033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26744119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72167178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Weekdays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Weekends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302322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Casuals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2228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2693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07788824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E28CB33-A439-48E4-5FEC-D25930A60A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7560493"/>
              </p:ext>
            </p:extLst>
          </p:nvPr>
        </p:nvGraphicFramePr>
        <p:xfrm>
          <a:off x="6745290" y="2409085"/>
          <a:ext cx="370840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87579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D33B6BF4-2C08-4464-A4ED-A7F5F991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551EA-9F3C-4E6B-8292-6C64ABE1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pPr/>
              <a:t>8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256658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reeform 3886" descr="Icon of magnifying glass representing search. ">
            <a:extLst>
              <a:ext uri="{FF2B5EF4-FFF2-40B4-BE49-F238E27FC236}">
                <a16:creationId xmlns:a16="http://schemas.microsoft.com/office/drawing/2014/main" id="{9EE2839B-44FB-42AC-BF2D-037A4BE4BEC7}"/>
              </a:ext>
            </a:extLst>
          </p:cNvPr>
          <p:cNvSpPr>
            <a:spLocks noEditPoints="1"/>
          </p:cNvSpPr>
          <p:nvPr/>
        </p:nvSpPr>
        <p:spPr bwMode="auto">
          <a:xfrm>
            <a:off x="845745" y="1368977"/>
            <a:ext cx="287338" cy="285750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50" name="Group 49" descr="Icon of paper and pen. ">
            <a:extLst>
              <a:ext uri="{FF2B5EF4-FFF2-40B4-BE49-F238E27FC236}">
                <a16:creationId xmlns:a16="http://schemas.microsoft.com/office/drawing/2014/main" id="{2FA1B3F0-F0C6-4C2E-ABD3-6AE2AAF66A07}"/>
              </a:ext>
            </a:extLst>
          </p:cNvPr>
          <p:cNvGrpSpPr/>
          <p:nvPr/>
        </p:nvGrpSpPr>
        <p:grpSpPr>
          <a:xfrm>
            <a:off x="1989538" y="1368977"/>
            <a:ext cx="287337" cy="285750"/>
            <a:chOff x="7018338" y="4656138"/>
            <a:chExt cx="287337" cy="285750"/>
          </a:xfrm>
          <a:solidFill>
            <a:schemeClr val="bg1"/>
          </a:solidFill>
        </p:grpSpPr>
        <p:sp>
          <p:nvSpPr>
            <p:cNvPr id="51" name="Freeform 4604">
              <a:extLst>
                <a:ext uri="{FF2B5EF4-FFF2-40B4-BE49-F238E27FC236}">
                  <a16:creationId xmlns:a16="http://schemas.microsoft.com/office/drawing/2014/main" id="{F6337A0B-842D-4F0F-B93C-DA957BFFC1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18338" y="4656138"/>
              <a:ext cx="230188" cy="285750"/>
            </a:xfrm>
            <a:custGeom>
              <a:avLst/>
              <a:gdLst>
                <a:gd name="T0" fmla="*/ 351 w 723"/>
                <a:gd name="T1" fmla="*/ 416 h 903"/>
                <a:gd name="T2" fmla="*/ 348 w 723"/>
                <a:gd name="T3" fmla="*/ 400 h 903"/>
                <a:gd name="T4" fmla="*/ 362 w 723"/>
                <a:gd name="T5" fmla="*/ 391 h 903"/>
                <a:gd name="T6" fmla="*/ 525 w 723"/>
                <a:gd name="T7" fmla="*/ 398 h 903"/>
                <a:gd name="T8" fmla="*/ 525 w 723"/>
                <a:gd name="T9" fmla="*/ 414 h 903"/>
                <a:gd name="T10" fmla="*/ 513 w 723"/>
                <a:gd name="T11" fmla="*/ 572 h 903"/>
                <a:gd name="T12" fmla="*/ 349 w 723"/>
                <a:gd name="T13" fmla="*/ 565 h 903"/>
                <a:gd name="T14" fmla="*/ 349 w 723"/>
                <a:gd name="T15" fmla="*/ 548 h 903"/>
                <a:gd name="T16" fmla="*/ 513 w 723"/>
                <a:gd name="T17" fmla="*/ 542 h 903"/>
                <a:gd name="T18" fmla="*/ 526 w 723"/>
                <a:gd name="T19" fmla="*/ 551 h 903"/>
                <a:gd name="T20" fmla="*/ 523 w 723"/>
                <a:gd name="T21" fmla="*/ 568 h 903"/>
                <a:gd name="T22" fmla="*/ 362 w 723"/>
                <a:gd name="T23" fmla="*/ 722 h 903"/>
                <a:gd name="T24" fmla="*/ 348 w 723"/>
                <a:gd name="T25" fmla="*/ 713 h 903"/>
                <a:gd name="T26" fmla="*/ 351 w 723"/>
                <a:gd name="T27" fmla="*/ 696 h 903"/>
                <a:gd name="T28" fmla="*/ 515 w 723"/>
                <a:gd name="T29" fmla="*/ 693 h 903"/>
                <a:gd name="T30" fmla="*/ 528 w 723"/>
                <a:gd name="T31" fmla="*/ 704 h 903"/>
                <a:gd name="T32" fmla="*/ 521 w 723"/>
                <a:gd name="T33" fmla="*/ 720 h 903"/>
                <a:gd name="T34" fmla="*/ 232 w 723"/>
                <a:gd name="T35" fmla="*/ 405 h 903"/>
                <a:gd name="T36" fmla="*/ 198 w 723"/>
                <a:gd name="T37" fmla="*/ 381 h 903"/>
                <a:gd name="T38" fmla="*/ 200 w 723"/>
                <a:gd name="T39" fmla="*/ 365 h 903"/>
                <a:gd name="T40" fmla="*/ 217 w 723"/>
                <a:gd name="T41" fmla="*/ 362 h 903"/>
                <a:gd name="T42" fmla="*/ 296 w 723"/>
                <a:gd name="T43" fmla="*/ 302 h 903"/>
                <a:gd name="T44" fmla="*/ 312 w 723"/>
                <a:gd name="T45" fmla="*/ 306 h 903"/>
                <a:gd name="T46" fmla="*/ 315 w 723"/>
                <a:gd name="T47" fmla="*/ 321 h 903"/>
                <a:gd name="T48" fmla="*/ 226 w 723"/>
                <a:gd name="T49" fmla="*/ 556 h 903"/>
                <a:gd name="T50" fmla="*/ 197 w 723"/>
                <a:gd name="T51" fmla="*/ 529 h 903"/>
                <a:gd name="T52" fmla="*/ 203 w 723"/>
                <a:gd name="T53" fmla="*/ 514 h 903"/>
                <a:gd name="T54" fmla="*/ 219 w 723"/>
                <a:gd name="T55" fmla="*/ 514 h 903"/>
                <a:gd name="T56" fmla="*/ 298 w 723"/>
                <a:gd name="T57" fmla="*/ 451 h 903"/>
                <a:gd name="T58" fmla="*/ 314 w 723"/>
                <a:gd name="T59" fmla="*/ 458 h 903"/>
                <a:gd name="T60" fmla="*/ 314 w 723"/>
                <a:gd name="T61" fmla="*/ 475 h 903"/>
                <a:gd name="T62" fmla="*/ 155 w 723"/>
                <a:gd name="T63" fmla="*/ 238 h 903"/>
                <a:gd name="T64" fmla="*/ 208 w 723"/>
                <a:gd name="T65" fmla="*/ 197 h 903"/>
                <a:gd name="T66" fmla="*/ 164 w 723"/>
                <a:gd name="T67" fmla="*/ 236 h 903"/>
                <a:gd name="T68" fmla="*/ 31 w 723"/>
                <a:gd name="T69" fmla="*/ 125 h 903"/>
                <a:gd name="T70" fmla="*/ 53 w 723"/>
                <a:gd name="T71" fmla="*/ 68 h 903"/>
                <a:gd name="T72" fmla="*/ 101 w 723"/>
                <a:gd name="T73" fmla="*/ 35 h 903"/>
                <a:gd name="T74" fmla="*/ 150 w 723"/>
                <a:gd name="T75" fmla="*/ 36 h 903"/>
                <a:gd name="T76" fmla="*/ 210 w 723"/>
                <a:gd name="T77" fmla="*/ 80 h 903"/>
                <a:gd name="T78" fmla="*/ 226 w 723"/>
                <a:gd name="T79" fmla="*/ 143 h 903"/>
                <a:gd name="T80" fmla="*/ 125 w 723"/>
                <a:gd name="T81" fmla="*/ 154 h 903"/>
                <a:gd name="T82" fmla="*/ 136 w 723"/>
                <a:gd name="T83" fmla="*/ 0 h 903"/>
                <a:gd name="T84" fmla="*/ 104 w 723"/>
                <a:gd name="T85" fmla="*/ 2 h 903"/>
                <a:gd name="T86" fmla="*/ 39 w 723"/>
                <a:gd name="T87" fmla="*/ 40 h 903"/>
                <a:gd name="T88" fmla="*/ 4 w 723"/>
                <a:gd name="T89" fmla="*/ 108 h 903"/>
                <a:gd name="T90" fmla="*/ 4 w 723"/>
                <a:gd name="T91" fmla="*/ 625 h 903"/>
                <a:gd name="T92" fmla="*/ 121 w 723"/>
                <a:gd name="T93" fmla="*/ 632 h 903"/>
                <a:gd name="T94" fmla="*/ 128 w 723"/>
                <a:gd name="T95" fmla="*/ 901 h 903"/>
                <a:gd name="T96" fmla="*/ 593 w 723"/>
                <a:gd name="T97" fmla="*/ 902 h 903"/>
                <a:gd name="T98" fmla="*/ 603 w 723"/>
                <a:gd name="T99" fmla="*/ 888 h 903"/>
                <a:gd name="T100" fmla="*/ 660 w 723"/>
                <a:gd name="T101" fmla="*/ 248 h 903"/>
                <a:gd name="T102" fmla="*/ 708 w 723"/>
                <a:gd name="T103" fmla="*/ 194 h 903"/>
                <a:gd name="T104" fmla="*/ 723 w 723"/>
                <a:gd name="T105" fmla="*/ 121 h 903"/>
                <a:gd name="T106" fmla="*/ 691 w 723"/>
                <a:gd name="T107" fmla="*/ 50 h 903"/>
                <a:gd name="T108" fmla="*/ 627 w 723"/>
                <a:gd name="T109" fmla="*/ 6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23" h="903">
                  <a:moveTo>
                    <a:pt x="513" y="421"/>
                  </a:moveTo>
                  <a:lnTo>
                    <a:pt x="362" y="421"/>
                  </a:lnTo>
                  <a:lnTo>
                    <a:pt x="359" y="421"/>
                  </a:lnTo>
                  <a:lnTo>
                    <a:pt x="356" y="420"/>
                  </a:lnTo>
                  <a:lnTo>
                    <a:pt x="354" y="418"/>
                  </a:lnTo>
                  <a:lnTo>
                    <a:pt x="351" y="416"/>
                  </a:lnTo>
                  <a:lnTo>
                    <a:pt x="349" y="414"/>
                  </a:lnTo>
                  <a:lnTo>
                    <a:pt x="348" y="412"/>
                  </a:lnTo>
                  <a:lnTo>
                    <a:pt x="347" y="409"/>
                  </a:lnTo>
                  <a:lnTo>
                    <a:pt x="347" y="406"/>
                  </a:lnTo>
                  <a:lnTo>
                    <a:pt x="347" y="403"/>
                  </a:lnTo>
                  <a:lnTo>
                    <a:pt x="348" y="400"/>
                  </a:lnTo>
                  <a:lnTo>
                    <a:pt x="349" y="398"/>
                  </a:lnTo>
                  <a:lnTo>
                    <a:pt x="351" y="396"/>
                  </a:lnTo>
                  <a:lnTo>
                    <a:pt x="354" y="394"/>
                  </a:lnTo>
                  <a:lnTo>
                    <a:pt x="356" y="393"/>
                  </a:lnTo>
                  <a:lnTo>
                    <a:pt x="359" y="391"/>
                  </a:lnTo>
                  <a:lnTo>
                    <a:pt x="362" y="391"/>
                  </a:lnTo>
                  <a:lnTo>
                    <a:pt x="513" y="391"/>
                  </a:lnTo>
                  <a:lnTo>
                    <a:pt x="515" y="391"/>
                  </a:lnTo>
                  <a:lnTo>
                    <a:pt x="519" y="393"/>
                  </a:lnTo>
                  <a:lnTo>
                    <a:pt x="521" y="394"/>
                  </a:lnTo>
                  <a:lnTo>
                    <a:pt x="523" y="396"/>
                  </a:lnTo>
                  <a:lnTo>
                    <a:pt x="525" y="398"/>
                  </a:lnTo>
                  <a:lnTo>
                    <a:pt x="526" y="400"/>
                  </a:lnTo>
                  <a:lnTo>
                    <a:pt x="528" y="403"/>
                  </a:lnTo>
                  <a:lnTo>
                    <a:pt x="528" y="406"/>
                  </a:lnTo>
                  <a:lnTo>
                    <a:pt x="528" y="409"/>
                  </a:lnTo>
                  <a:lnTo>
                    <a:pt x="526" y="412"/>
                  </a:lnTo>
                  <a:lnTo>
                    <a:pt x="525" y="414"/>
                  </a:lnTo>
                  <a:lnTo>
                    <a:pt x="523" y="416"/>
                  </a:lnTo>
                  <a:lnTo>
                    <a:pt x="521" y="418"/>
                  </a:lnTo>
                  <a:lnTo>
                    <a:pt x="519" y="420"/>
                  </a:lnTo>
                  <a:lnTo>
                    <a:pt x="515" y="421"/>
                  </a:lnTo>
                  <a:lnTo>
                    <a:pt x="513" y="421"/>
                  </a:lnTo>
                  <a:close/>
                  <a:moveTo>
                    <a:pt x="513" y="572"/>
                  </a:moveTo>
                  <a:lnTo>
                    <a:pt x="362" y="572"/>
                  </a:lnTo>
                  <a:lnTo>
                    <a:pt x="359" y="571"/>
                  </a:lnTo>
                  <a:lnTo>
                    <a:pt x="356" y="571"/>
                  </a:lnTo>
                  <a:lnTo>
                    <a:pt x="354" y="569"/>
                  </a:lnTo>
                  <a:lnTo>
                    <a:pt x="351" y="568"/>
                  </a:lnTo>
                  <a:lnTo>
                    <a:pt x="349" y="565"/>
                  </a:lnTo>
                  <a:lnTo>
                    <a:pt x="348" y="563"/>
                  </a:lnTo>
                  <a:lnTo>
                    <a:pt x="347" y="560"/>
                  </a:lnTo>
                  <a:lnTo>
                    <a:pt x="347" y="556"/>
                  </a:lnTo>
                  <a:lnTo>
                    <a:pt x="347" y="554"/>
                  </a:lnTo>
                  <a:lnTo>
                    <a:pt x="348" y="551"/>
                  </a:lnTo>
                  <a:lnTo>
                    <a:pt x="349" y="548"/>
                  </a:lnTo>
                  <a:lnTo>
                    <a:pt x="351" y="546"/>
                  </a:lnTo>
                  <a:lnTo>
                    <a:pt x="354" y="544"/>
                  </a:lnTo>
                  <a:lnTo>
                    <a:pt x="356" y="543"/>
                  </a:lnTo>
                  <a:lnTo>
                    <a:pt x="359" y="542"/>
                  </a:lnTo>
                  <a:lnTo>
                    <a:pt x="362" y="542"/>
                  </a:lnTo>
                  <a:lnTo>
                    <a:pt x="513" y="542"/>
                  </a:lnTo>
                  <a:lnTo>
                    <a:pt x="515" y="542"/>
                  </a:lnTo>
                  <a:lnTo>
                    <a:pt x="519" y="543"/>
                  </a:lnTo>
                  <a:lnTo>
                    <a:pt x="521" y="544"/>
                  </a:lnTo>
                  <a:lnTo>
                    <a:pt x="523" y="546"/>
                  </a:lnTo>
                  <a:lnTo>
                    <a:pt x="525" y="548"/>
                  </a:lnTo>
                  <a:lnTo>
                    <a:pt x="526" y="551"/>
                  </a:lnTo>
                  <a:lnTo>
                    <a:pt x="528" y="554"/>
                  </a:lnTo>
                  <a:lnTo>
                    <a:pt x="528" y="556"/>
                  </a:lnTo>
                  <a:lnTo>
                    <a:pt x="528" y="560"/>
                  </a:lnTo>
                  <a:lnTo>
                    <a:pt x="526" y="563"/>
                  </a:lnTo>
                  <a:lnTo>
                    <a:pt x="525" y="565"/>
                  </a:lnTo>
                  <a:lnTo>
                    <a:pt x="523" y="568"/>
                  </a:lnTo>
                  <a:lnTo>
                    <a:pt x="521" y="569"/>
                  </a:lnTo>
                  <a:lnTo>
                    <a:pt x="519" y="571"/>
                  </a:lnTo>
                  <a:lnTo>
                    <a:pt x="515" y="571"/>
                  </a:lnTo>
                  <a:lnTo>
                    <a:pt x="513" y="572"/>
                  </a:lnTo>
                  <a:close/>
                  <a:moveTo>
                    <a:pt x="513" y="722"/>
                  </a:moveTo>
                  <a:lnTo>
                    <a:pt x="362" y="722"/>
                  </a:lnTo>
                  <a:lnTo>
                    <a:pt x="359" y="722"/>
                  </a:lnTo>
                  <a:lnTo>
                    <a:pt x="356" y="721"/>
                  </a:lnTo>
                  <a:lnTo>
                    <a:pt x="354" y="720"/>
                  </a:lnTo>
                  <a:lnTo>
                    <a:pt x="351" y="718"/>
                  </a:lnTo>
                  <a:lnTo>
                    <a:pt x="349" y="716"/>
                  </a:lnTo>
                  <a:lnTo>
                    <a:pt x="348" y="713"/>
                  </a:lnTo>
                  <a:lnTo>
                    <a:pt x="347" y="710"/>
                  </a:lnTo>
                  <a:lnTo>
                    <a:pt x="347" y="708"/>
                  </a:lnTo>
                  <a:lnTo>
                    <a:pt x="347" y="704"/>
                  </a:lnTo>
                  <a:lnTo>
                    <a:pt x="348" y="702"/>
                  </a:lnTo>
                  <a:lnTo>
                    <a:pt x="349" y="699"/>
                  </a:lnTo>
                  <a:lnTo>
                    <a:pt x="351" y="696"/>
                  </a:lnTo>
                  <a:lnTo>
                    <a:pt x="354" y="695"/>
                  </a:lnTo>
                  <a:lnTo>
                    <a:pt x="356" y="693"/>
                  </a:lnTo>
                  <a:lnTo>
                    <a:pt x="359" y="693"/>
                  </a:lnTo>
                  <a:lnTo>
                    <a:pt x="362" y="692"/>
                  </a:lnTo>
                  <a:lnTo>
                    <a:pt x="513" y="692"/>
                  </a:lnTo>
                  <a:lnTo>
                    <a:pt x="515" y="693"/>
                  </a:lnTo>
                  <a:lnTo>
                    <a:pt x="519" y="693"/>
                  </a:lnTo>
                  <a:lnTo>
                    <a:pt x="521" y="695"/>
                  </a:lnTo>
                  <a:lnTo>
                    <a:pt x="523" y="696"/>
                  </a:lnTo>
                  <a:lnTo>
                    <a:pt x="525" y="699"/>
                  </a:lnTo>
                  <a:lnTo>
                    <a:pt x="526" y="702"/>
                  </a:lnTo>
                  <a:lnTo>
                    <a:pt x="528" y="704"/>
                  </a:lnTo>
                  <a:lnTo>
                    <a:pt x="528" y="708"/>
                  </a:lnTo>
                  <a:lnTo>
                    <a:pt x="528" y="710"/>
                  </a:lnTo>
                  <a:lnTo>
                    <a:pt x="526" y="713"/>
                  </a:lnTo>
                  <a:lnTo>
                    <a:pt x="525" y="716"/>
                  </a:lnTo>
                  <a:lnTo>
                    <a:pt x="523" y="718"/>
                  </a:lnTo>
                  <a:lnTo>
                    <a:pt x="521" y="720"/>
                  </a:lnTo>
                  <a:lnTo>
                    <a:pt x="519" y="721"/>
                  </a:lnTo>
                  <a:lnTo>
                    <a:pt x="515" y="722"/>
                  </a:lnTo>
                  <a:lnTo>
                    <a:pt x="513" y="722"/>
                  </a:lnTo>
                  <a:close/>
                  <a:moveTo>
                    <a:pt x="312" y="326"/>
                  </a:moveTo>
                  <a:lnTo>
                    <a:pt x="237" y="402"/>
                  </a:lnTo>
                  <a:lnTo>
                    <a:pt x="232" y="405"/>
                  </a:lnTo>
                  <a:lnTo>
                    <a:pt x="226" y="406"/>
                  </a:lnTo>
                  <a:lnTo>
                    <a:pt x="220" y="405"/>
                  </a:lnTo>
                  <a:lnTo>
                    <a:pt x="216" y="402"/>
                  </a:lnTo>
                  <a:lnTo>
                    <a:pt x="200" y="387"/>
                  </a:lnTo>
                  <a:lnTo>
                    <a:pt x="199" y="385"/>
                  </a:lnTo>
                  <a:lnTo>
                    <a:pt x="198" y="381"/>
                  </a:lnTo>
                  <a:lnTo>
                    <a:pt x="197" y="379"/>
                  </a:lnTo>
                  <a:lnTo>
                    <a:pt x="197" y="376"/>
                  </a:lnTo>
                  <a:lnTo>
                    <a:pt x="197" y="373"/>
                  </a:lnTo>
                  <a:lnTo>
                    <a:pt x="198" y="370"/>
                  </a:lnTo>
                  <a:lnTo>
                    <a:pt x="199" y="368"/>
                  </a:lnTo>
                  <a:lnTo>
                    <a:pt x="200" y="365"/>
                  </a:lnTo>
                  <a:lnTo>
                    <a:pt x="203" y="363"/>
                  </a:lnTo>
                  <a:lnTo>
                    <a:pt x="206" y="362"/>
                  </a:lnTo>
                  <a:lnTo>
                    <a:pt x="208" y="361"/>
                  </a:lnTo>
                  <a:lnTo>
                    <a:pt x="211" y="361"/>
                  </a:lnTo>
                  <a:lnTo>
                    <a:pt x="214" y="361"/>
                  </a:lnTo>
                  <a:lnTo>
                    <a:pt x="217" y="362"/>
                  </a:lnTo>
                  <a:lnTo>
                    <a:pt x="219" y="363"/>
                  </a:lnTo>
                  <a:lnTo>
                    <a:pt x="221" y="365"/>
                  </a:lnTo>
                  <a:lnTo>
                    <a:pt x="226" y="370"/>
                  </a:lnTo>
                  <a:lnTo>
                    <a:pt x="290" y="306"/>
                  </a:lnTo>
                  <a:lnTo>
                    <a:pt x="294" y="303"/>
                  </a:lnTo>
                  <a:lnTo>
                    <a:pt x="296" y="302"/>
                  </a:lnTo>
                  <a:lnTo>
                    <a:pt x="298" y="301"/>
                  </a:lnTo>
                  <a:lnTo>
                    <a:pt x="302" y="301"/>
                  </a:lnTo>
                  <a:lnTo>
                    <a:pt x="304" y="301"/>
                  </a:lnTo>
                  <a:lnTo>
                    <a:pt x="307" y="302"/>
                  </a:lnTo>
                  <a:lnTo>
                    <a:pt x="310" y="303"/>
                  </a:lnTo>
                  <a:lnTo>
                    <a:pt x="312" y="306"/>
                  </a:lnTo>
                  <a:lnTo>
                    <a:pt x="314" y="308"/>
                  </a:lnTo>
                  <a:lnTo>
                    <a:pt x="315" y="310"/>
                  </a:lnTo>
                  <a:lnTo>
                    <a:pt x="316" y="312"/>
                  </a:lnTo>
                  <a:lnTo>
                    <a:pt x="316" y="316"/>
                  </a:lnTo>
                  <a:lnTo>
                    <a:pt x="316" y="319"/>
                  </a:lnTo>
                  <a:lnTo>
                    <a:pt x="315" y="321"/>
                  </a:lnTo>
                  <a:lnTo>
                    <a:pt x="314" y="324"/>
                  </a:lnTo>
                  <a:lnTo>
                    <a:pt x="312" y="326"/>
                  </a:lnTo>
                  <a:close/>
                  <a:moveTo>
                    <a:pt x="312" y="477"/>
                  </a:moveTo>
                  <a:lnTo>
                    <a:pt x="237" y="552"/>
                  </a:lnTo>
                  <a:lnTo>
                    <a:pt x="232" y="555"/>
                  </a:lnTo>
                  <a:lnTo>
                    <a:pt x="226" y="556"/>
                  </a:lnTo>
                  <a:lnTo>
                    <a:pt x="220" y="555"/>
                  </a:lnTo>
                  <a:lnTo>
                    <a:pt x="216" y="552"/>
                  </a:lnTo>
                  <a:lnTo>
                    <a:pt x="200" y="537"/>
                  </a:lnTo>
                  <a:lnTo>
                    <a:pt x="199" y="535"/>
                  </a:lnTo>
                  <a:lnTo>
                    <a:pt x="198" y="533"/>
                  </a:lnTo>
                  <a:lnTo>
                    <a:pt x="197" y="529"/>
                  </a:lnTo>
                  <a:lnTo>
                    <a:pt x="197" y="527"/>
                  </a:lnTo>
                  <a:lnTo>
                    <a:pt x="197" y="524"/>
                  </a:lnTo>
                  <a:lnTo>
                    <a:pt x="198" y="521"/>
                  </a:lnTo>
                  <a:lnTo>
                    <a:pt x="199" y="518"/>
                  </a:lnTo>
                  <a:lnTo>
                    <a:pt x="200" y="516"/>
                  </a:lnTo>
                  <a:lnTo>
                    <a:pt x="203" y="514"/>
                  </a:lnTo>
                  <a:lnTo>
                    <a:pt x="206" y="512"/>
                  </a:lnTo>
                  <a:lnTo>
                    <a:pt x="208" y="512"/>
                  </a:lnTo>
                  <a:lnTo>
                    <a:pt x="211" y="511"/>
                  </a:lnTo>
                  <a:lnTo>
                    <a:pt x="214" y="512"/>
                  </a:lnTo>
                  <a:lnTo>
                    <a:pt x="217" y="512"/>
                  </a:lnTo>
                  <a:lnTo>
                    <a:pt x="219" y="514"/>
                  </a:lnTo>
                  <a:lnTo>
                    <a:pt x="221" y="516"/>
                  </a:lnTo>
                  <a:lnTo>
                    <a:pt x="226" y="520"/>
                  </a:lnTo>
                  <a:lnTo>
                    <a:pt x="290" y="456"/>
                  </a:lnTo>
                  <a:lnTo>
                    <a:pt x="294" y="454"/>
                  </a:lnTo>
                  <a:lnTo>
                    <a:pt x="296" y="452"/>
                  </a:lnTo>
                  <a:lnTo>
                    <a:pt x="298" y="451"/>
                  </a:lnTo>
                  <a:lnTo>
                    <a:pt x="302" y="451"/>
                  </a:lnTo>
                  <a:lnTo>
                    <a:pt x="304" y="451"/>
                  </a:lnTo>
                  <a:lnTo>
                    <a:pt x="307" y="452"/>
                  </a:lnTo>
                  <a:lnTo>
                    <a:pt x="310" y="454"/>
                  </a:lnTo>
                  <a:lnTo>
                    <a:pt x="312" y="456"/>
                  </a:lnTo>
                  <a:lnTo>
                    <a:pt x="314" y="458"/>
                  </a:lnTo>
                  <a:lnTo>
                    <a:pt x="315" y="460"/>
                  </a:lnTo>
                  <a:lnTo>
                    <a:pt x="316" y="464"/>
                  </a:lnTo>
                  <a:lnTo>
                    <a:pt x="316" y="466"/>
                  </a:lnTo>
                  <a:lnTo>
                    <a:pt x="316" y="469"/>
                  </a:lnTo>
                  <a:lnTo>
                    <a:pt x="315" y="472"/>
                  </a:lnTo>
                  <a:lnTo>
                    <a:pt x="314" y="475"/>
                  </a:lnTo>
                  <a:lnTo>
                    <a:pt x="312" y="477"/>
                  </a:lnTo>
                  <a:close/>
                  <a:moveTo>
                    <a:pt x="164" y="236"/>
                  </a:moveTo>
                  <a:lnTo>
                    <a:pt x="162" y="237"/>
                  </a:lnTo>
                  <a:lnTo>
                    <a:pt x="158" y="238"/>
                  </a:lnTo>
                  <a:lnTo>
                    <a:pt x="157" y="238"/>
                  </a:lnTo>
                  <a:lnTo>
                    <a:pt x="155" y="238"/>
                  </a:lnTo>
                  <a:lnTo>
                    <a:pt x="153" y="239"/>
                  </a:lnTo>
                  <a:lnTo>
                    <a:pt x="151" y="239"/>
                  </a:lnTo>
                  <a:lnTo>
                    <a:pt x="151" y="180"/>
                  </a:lnTo>
                  <a:lnTo>
                    <a:pt x="217" y="180"/>
                  </a:lnTo>
                  <a:lnTo>
                    <a:pt x="214" y="188"/>
                  </a:lnTo>
                  <a:lnTo>
                    <a:pt x="208" y="197"/>
                  </a:lnTo>
                  <a:lnTo>
                    <a:pt x="203" y="205"/>
                  </a:lnTo>
                  <a:lnTo>
                    <a:pt x="197" y="212"/>
                  </a:lnTo>
                  <a:lnTo>
                    <a:pt x="190" y="220"/>
                  </a:lnTo>
                  <a:lnTo>
                    <a:pt x="182" y="225"/>
                  </a:lnTo>
                  <a:lnTo>
                    <a:pt x="173" y="231"/>
                  </a:lnTo>
                  <a:lnTo>
                    <a:pt x="164" y="236"/>
                  </a:lnTo>
                  <a:close/>
                  <a:moveTo>
                    <a:pt x="121" y="166"/>
                  </a:moveTo>
                  <a:lnTo>
                    <a:pt x="121" y="256"/>
                  </a:lnTo>
                  <a:lnTo>
                    <a:pt x="121" y="601"/>
                  </a:lnTo>
                  <a:lnTo>
                    <a:pt x="31" y="601"/>
                  </a:lnTo>
                  <a:lnTo>
                    <a:pt x="31" y="135"/>
                  </a:lnTo>
                  <a:lnTo>
                    <a:pt x="31" y="125"/>
                  </a:lnTo>
                  <a:lnTo>
                    <a:pt x="33" y="115"/>
                  </a:lnTo>
                  <a:lnTo>
                    <a:pt x="35" y="105"/>
                  </a:lnTo>
                  <a:lnTo>
                    <a:pt x="39" y="94"/>
                  </a:lnTo>
                  <a:lnTo>
                    <a:pt x="43" y="85"/>
                  </a:lnTo>
                  <a:lnTo>
                    <a:pt x="48" y="77"/>
                  </a:lnTo>
                  <a:lnTo>
                    <a:pt x="53" y="68"/>
                  </a:lnTo>
                  <a:lnTo>
                    <a:pt x="60" y="62"/>
                  </a:lnTo>
                  <a:lnTo>
                    <a:pt x="67" y="55"/>
                  </a:lnTo>
                  <a:lnTo>
                    <a:pt x="75" y="48"/>
                  </a:lnTo>
                  <a:lnTo>
                    <a:pt x="83" y="42"/>
                  </a:lnTo>
                  <a:lnTo>
                    <a:pt x="92" y="38"/>
                  </a:lnTo>
                  <a:lnTo>
                    <a:pt x="101" y="35"/>
                  </a:lnTo>
                  <a:lnTo>
                    <a:pt x="110" y="32"/>
                  </a:lnTo>
                  <a:lnTo>
                    <a:pt x="120" y="30"/>
                  </a:lnTo>
                  <a:lnTo>
                    <a:pt x="129" y="30"/>
                  </a:lnTo>
                  <a:lnTo>
                    <a:pt x="132" y="30"/>
                  </a:lnTo>
                  <a:lnTo>
                    <a:pt x="135" y="30"/>
                  </a:lnTo>
                  <a:lnTo>
                    <a:pt x="150" y="36"/>
                  </a:lnTo>
                  <a:lnTo>
                    <a:pt x="164" y="41"/>
                  </a:lnTo>
                  <a:lnTo>
                    <a:pt x="176" y="48"/>
                  </a:lnTo>
                  <a:lnTo>
                    <a:pt x="188" y="56"/>
                  </a:lnTo>
                  <a:lnTo>
                    <a:pt x="197" y="63"/>
                  </a:lnTo>
                  <a:lnTo>
                    <a:pt x="205" y="71"/>
                  </a:lnTo>
                  <a:lnTo>
                    <a:pt x="210" y="80"/>
                  </a:lnTo>
                  <a:lnTo>
                    <a:pt x="216" y="88"/>
                  </a:lnTo>
                  <a:lnTo>
                    <a:pt x="220" y="99"/>
                  </a:lnTo>
                  <a:lnTo>
                    <a:pt x="224" y="110"/>
                  </a:lnTo>
                  <a:lnTo>
                    <a:pt x="226" y="123"/>
                  </a:lnTo>
                  <a:lnTo>
                    <a:pt x="226" y="135"/>
                  </a:lnTo>
                  <a:lnTo>
                    <a:pt x="226" y="143"/>
                  </a:lnTo>
                  <a:lnTo>
                    <a:pt x="225" y="150"/>
                  </a:lnTo>
                  <a:lnTo>
                    <a:pt x="136" y="150"/>
                  </a:lnTo>
                  <a:lnTo>
                    <a:pt x="133" y="151"/>
                  </a:lnTo>
                  <a:lnTo>
                    <a:pt x="130" y="151"/>
                  </a:lnTo>
                  <a:lnTo>
                    <a:pt x="128" y="153"/>
                  </a:lnTo>
                  <a:lnTo>
                    <a:pt x="125" y="154"/>
                  </a:lnTo>
                  <a:lnTo>
                    <a:pt x="123" y="156"/>
                  </a:lnTo>
                  <a:lnTo>
                    <a:pt x="122" y="160"/>
                  </a:lnTo>
                  <a:lnTo>
                    <a:pt x="121" y="162"/>
                  </a:lnTo>
                  <a:lnTo>
                    <a:pt x="121" y="166"/>
                  </a:lnTo>
                  <a:close/>
                  <a:moveTo>
                    <a:pt x="587" y="0"/>
                  </a:moveTo>
                  <a:lnTo>
                    <a:pt x="136" y="0"/>
                  </a:lnTo>
                  <a:lnTo>
                    <a:pt x="136" y="0"/>
                  </a:lnTo>
                  <a:lnTo>
                    <a:pt x="135" y="0"/>
                  </a:lnTo>
                  <a:lnTo>
                    <a:pt x="132" y="0"/>
                  </a:lnTo>
                  <a:lnTo>
                    <a:pt x="129" y="0"/>
                  </a:lnTo>
                  <a:lnTo>
                    <a:pt x="116" y="1"/>
                  </a:lnTo>
                  <a:lnTo>
                    <a:pt x="104" y="2"/>
                  </a:lnTo>
                  <a:lnTo>
                    <a:pt x="92" y="5"/>
                  </a:lnTo>
                  <a:lnTo>
                    <a:pt x="80" y="11"/>
                  </a:lnTo>
                  <a:lnTo>
                    <a:pt x="69" y="16"/>
                  </a:lnTo>
                  <a:lnTo>
                    <a:pt x="58" y="23"/>
                  </a:lnTo>
                  <a:lnTo>
                    <a:pt x="48" y="31"/>
                  </a:lnTo>
                  <a:lnTo>
                    <a:pt x="39" y="40"/>
                  </a:lnTo>
                  <a:lnTo>
                    <a:pt x="31" y="49"/>
                  </a:lnTo>
                  <a:lnTo>
                    <a:pt x="23" y="59"/>
                  </a:lnTo>
                  <a:lnTo>
                    <a:pt x="16" y="71"/>
                  </a:lnTo>
                  <a:lnTo>
                    <a:pt x="10" y="83"/>
                  </a:lnTo>
                  <a:lnTo>
                    <a:pt x="6" y="95"/>
                  </a:lnTo>
                  <a:lnTo>
                    <a:pt x="4" y="108"/>
                  </a:lnTo>
                  <a:lnTo>
                    <a:pt x="1" y="121"/>
                  </a:lnTo>
                  <a:lnTo>
                    <a:pt x="0" y="135"/>
                  </a:lnTo>
                  <a:lnTo>
                    <a:pt x="0" y="617"/>
                  </a:lnTo>
                  <a:lnTo>
                    <a:pt x="1" y="620"/>
                  </a:lnTo>
                  <a:lnTo>
                    <a:pt x="1" y="623"/>
                  </a:lnTo>
                  <a:lnTo>
                    <a:pt x="4" y="625"/>
                  </a:lnTo>
                  <a:lnTo>
                    <a:pt x="5" y="627"/>
                  </a:lnTo>
                  <a:lnTo>
                    <a:pt x="7" y="630"/>
                  </a:lnTo>
                  <a:lnTo>
                    <a:pt x="9" y="631"/>
                  </a:lnTo>
                  <a:lnTo>
                    <a:pt x="13" y="632"/>
                  </a:lnTo>
                  <a:lnTo>
                    <a:pt x="16" y="632"/>
                  </a:lnTo>
                  <a:lnTo>
                    <a:pt x="121" y="632"/>
                  </a:lnTo>
                  <a:lnTo>
                    <a:pt x="121" y="888"/>
                  </a:lnTo>
                  <a:lnTo>
                    <a:pt x="121" y="891"/>
                  </a:lnTo>
                  <a:lnTo>
                    <a:pt x="122" y="894"/>
                  </a:lnTo>
                  <a:lnTo>
                    <a:pt x="123" y="896"/>
                  </a:lnTo>
                  <a:lnTo>
                    <a:pt x="125" y="898"/>
                  </a:lnTo>
                  <a:lnTo>
                    <a:pt x="128" y="901"/>
                  </a:lnTo>
                  <a:lnTo>
                    <a:pt x="130" y="902"/>
                  </a:lnTo>
                  <a:lnTo>
                    <a:pt x="133" y="903"/>
                  </a:lnTo>
                  <a:lnTo>
                    <a:pt x="136" y="903"/>
                  </a:lnTo>
                  <a:lnTo>
                    <a:pt x="587" y="903"/>
                  </a:lnTo>
                  <a:lnTo>
                    <a:pt x="591" y="903"/>
                  </a:lnTo>
                  <a:lnTo>
                    <a:pt x="593" y="902"/>
                  </a:lnTo>
                  <a:lnTo>
                    <a:pt x="596" y="901"/>
                  </a:lnTo>
                  <a:lnTo>
                    <a:pt x="599" y="898"/>
                  </a:lnTo>
                  <a:lnTo>
                    <a:pt x="600" y="896"/>
                  </a:lnTo>
                  <a:lnTo>
                    <a:pt x="602" y="894"/>
                  </a:lnTo>
                  <a:lnTo>
                    <a:pt x="602" y="891"/>
                  </a:lnTo>
                  <a:lnTo>
                    <a:pt x="603" y="888"/>
                  </a:lnTo>
                  <a:lnTo>
                    <a:pt x="603" y="269"/>
                  </a:lnTo>
                  <a:lnTo>
                    <a:pt x="615" y="267"/>
                  </a:lnTo>
                  <a:lnTo>
                    <a:pt x="627" y="264"/>
                  </a:lnTo>
                  <a:lnTo>
                    <a:pt x="638" y="259"/>
                  </a:lnTo>
                  <a:lnTo>
                    <a:pt x="648" y="255"/>
                  </a:lnTo>
                  <a:lnTo>
                    <a:pt x="660" y="248"/>
                  </a:lnTo>
                  <a:lnTo>
                    <a:pt x="670" y="241"/>
                  </a:lnTo>
                  <a:lnTo>
                    <a:pt x="679" y="232"/>
                  </a:lnTo>
                  <a:lnTo>
                    <a:pt x="687" y="224"/>
                  </a:lnTo>
                  <a:lnTo>
                    <a:pt x="695" y="214"/>
                  </a:lnTo>
                  <a:lnTo>
                    <a:pt x="703" y="204"/>
                  </a:lnTo>
                  <a:lnTo>
                    <a:pt x="708" y="194"/>
                  </a:lnTo>
                  <a:lnTo>
                    <a:pt x="714" y="182"/>
                  </a:lnTo>
                  <a:lnTo>
                    <a:pt x="717" y="171"/>
                  </a:lnTo>
                  <a:lnTo>
                    <a:pt x="721" y="160"/>
                  </a:lnTo>
                  <a:lnTo>
                    <a:pt x="723" y="147"/>
                  </a:lnTo>
                  <a:lnTo>
                    <a:pt x="723" y="135"/>
                  </a:lnTo>
                  <a:lnTo>
                    <a:pt x="723" y="121"/>
                  </a:lnTo>
                  <a:lnTo>
                    <a:pt x="721" y="109"/>
                  </a:lnTo>
                  <a:lnTo>
                    <a:pt x="717" y="97"/>
                  </a:lnTo>
                  <a:lnTo>
                    <a:pt x="712" y="84"/>
                  </a:lnTo>
                  <a:lnTo>
                    <a:pt x="706" y="72"/>
                  </a:lnTo>
                  <a:lnTo>
                    <a:pt x="699" y="60"/>
                  </a:lnTo>
                  <a:lnTo>
                    <a:pt x="691" y="50"/>
                  </a:lnTo>
                  <a:lnTo>
                    <a:pt x="682" y="40"/>
                  </a:lnTo>
                  <a:lnTo>
                    <a:pt x="672" y="32"/>
                  </a:lnTo>
                  <a:lnTo>
                    <a:pt x="662" y="23"/>
                  </a:lnTo>
                  <a:lnTo>
                    <a:pt x="651" y="16"/>
                  </a:lnTo>
                  <a:lnTo>
                    <a:pt x="638" y="11"/>
                  </a:lnTo>
                  <a:lnTo>
                    <a:pt x="627" y="6"/>
                  </a:lnTo>
                  <a:lnTo>
                    <a:pt x="613" y="3"/>
                  </a:lnTo>
                  <a:lnTo>
                    <a:pt x="601" y="1"/>
                  </a:lnTo>
                  <a:lnTo>
                    <a:pt x="587" y="0"/>
                  </a:lnTo>
                  <a:lnTo>
                    <a:pt x="58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9" name="Freeform 4605">
              <a:extLst>
                <a:ext uri="{FF2B5EF4-FFF2-40B4-BE49-F238E27FC236}">
                  <a16:creationId xmlns:a16="http://schemas.microsoft.com/office/drawing/2014/main" id="{1D074A71-FBEB-4855-BA1E-068499BF4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9000" y="4722813"/>
              <a:ext cx="66675" cy="128588"/>
            </a:xfrm>
            <a:custGeom>
              <a:avLst/>
              <a:gdLst>
                <a:gd name="T0" fmla="*/ 123 w 210"/>
                <a:gd name="T1" fmla="*/ 1 h 407"/>
                <a:gd name="T2" fmla="*/ 101 w 210"/>
                <a:gd name="T3" fmla="*/ 8 h 407"/>
                <a:gd name="T4" fmla="*/ 82 w 210"/>
                <a:gd name="T5" fmla="*/ 21 h 407"/>
                <a:gd name="T6" fmla="*/ 67 w 210"/>
                <a:gd name="T7" fmla="*/ 37 h 407"/>
                <a:gd name="T8" fmla="*/ 50 w 210"/>
                <a:gd name="T9" fmla="*/ 47 h 407"/>
                <a:gd name="T10" fmla="*/ 33 w 210"/>
                <a:gd name="T11" fmla="*/ 54 h 407"/>
                <a:gd name="T12" fmla="*/ 23 w 210"/>
                <a:gd name="T13" fmla="*/ 61 h 407"/>
                <a:gd name="T14" fmla="*/ 14 w 210"/>
                <a:gd name="T15" fmla="*/ 70 h 407"/>
                <a:gd name="T16" fmla="*/ 7 w 210"/>
                <a:gd name="T17" fmla="*/ 81 h 407"/>
                <a:gd name="T18" fmla="*/ 2 w 210"/>
                <a:gd name="T19" fmla="*/ 95 h 407"/>
                <a:gd name="T20" fmla="*/ 0 w 210"/>
                <a:gd name="T21" fmla="*/ 110 h 407"/>
                <a:gd name="T22" fmla="*/ 0 w 210"/>
                <a:gd name="T23" fmla="*/ 393 h 407"/>
                <a:gd name="T24" fmla="*/ 1 w 210"/>
                <a:gd name="T25" fmla="*/ 398 h 407"/>
                <a:gd name="T26" fmla="*/ 3 w 210"/>
                <a:gd name="T27" fmla="*/ 403 h 407"/>
                <a:gd name="T28" fmla="*/ 9 w 210"/>
                <a:gd name="T29" fmla="*/ 406 h 407"/>
                <a:gd name="T30" fmla="*/ 14 w 210"/>
                <a:gd name="T31" fmla="*/ 407 h 407"/>
                <a:gd name="T32" fmla="*/ 20 w 210"/>
                <a:gd name="T33" fmla="*/ 406 h 407"/>
                <a:gd name="T34" fmla="*/ 24 w 210"/>
                <a:gd name="T35" fmla="*/ 403 h 407"/>
                <a:gd name="T36" fmla="*/ 28 w 210"/>
                <a:gd name="T37" fmla="*/ 398 h 407"/>
                <a:gd name="T38" fmla="*/ 29 w 210"/>
                <a:gd name="T39" fmla="*/ 393 h 407"/>
                <a:gd name="T40" fmla="*/ 30 w 210"/>
                <a:gd name="T41" fmla="*/ 110 h 407"/>
                <a:gd name="T42" fmla="*/ 35 w 210"/>
                <a:gd name="T43" fmla="*/ 95 h 407"/>
                <a:gd name="T44" fmla="*/ 42 w 210"/>
                <a:gd name="T45" fmla="*/ 84 h 407"/>
                <a:gd name="T46" fmla="*/ 54 w 210"/>
                <a:gd name="T47" fmla="*/ 78 h 407"/>
                <a:gd name="T48" fmla="*/ 59 w 210"/>
                <a:gd name="T49" fmla="*/ 331 h 407"/>
                <a:gd name="T50" fmla="*/ 210 w 210"/>
                <a:gd name="T51" fmla="*/ 60 h 407"/>
                <a:gd name="T52" fmla="*/ 209 w 210"/>
                <a:gd name="T53" fmla="*/ 49 h 407"/>
                <a:gd name="T54" fmla="*/ 203 w 210"/>
                <a:gd name="T55" fmla="*/ 39 h 407"/>
                <a:gd name="T56" fmla="*/ 186 w 210"/>
                <a:gd name="T57" fmla="*/ 20 h 407"/>
                <a:gd name="T58" fmla="*/ 162 w 210"/>
                <a:gd name="T59" fmla="*/ 5 h 407"/>
                <a:gd name="T60" fmla="*/ 149 w 210"/>
                <a:gd name="T61" fmla="*/ 1 h 407"/>
                <a:gd name="T62" fmla="*/ 135 w 210"/>
                <a:gd name="T63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0" h="407">
                  <a:moveTo>
                    <a:pt x="135" y="0"/>
                  </a:moveTo>
                  <a:lnTo>
                    <a:pt x="123" y="1"/>
                  </a:lnTo>
                  <a:lnTo>
                    <a:pt x="111" y="3"/>
                  </a:lnTo>
                  <a:lnTo>
                    <a:pt x="101" y="8"/>
                  </a:lnTo>
                  <a:lnTo>
                    <a:pt x="91" y="14"/>
                  </a:lnTo>
                  <a:lnTo>
                    <a:pt x="82" y="21"/>
                  </a:lnTo>
                  <a:lnTo>
                    <a:pt x="74" y="29"/>
                  </a:lnTo>
                  <a:lnTo>
                    <a:pt x="67" y="37"/>
                  </a:lnTo>
                  <a:lnTo>
                    <a:pt x="63" y="45"/>
                  </a:lnTo>
                  <a:lnTo>
                    <a:pt x="50" y="47"/>
                  </a:lnTo>
                  <a:lnTo>
                    <a:pt x="39" y="52"/>
                  </a:lnTo>
                  <a:lnTo>
                    <a:pt x="33" y="54"/>
                  </a:lnTo>
                  <a:lnTo>
                    <a:pt x="28" y="57"/>
                  </a:lnTo>
                  <a:lnTo>
                    <a:pt x="23" y="61"/>
                  </a:lnTo>
                  <a:lnTo>
                    <a:pt x="19" y="65"/>
                  </a:lnTo>
                  <a:lnTo>
                    <a:pt x="14" y="70"/>
                  </a:lnTo>
                  <a:lnTo>
                    <a:pt x="11" y="75"/>
                  </a:lnTo>
                  <a:lnTo>
                    <a:pt x="7" y="81"/>
                  </a:lnTo>
                  <a:lnTo>
                    <a:pt x="4" y="88"/>
                  </a:lnTo>
                  <a:lnTo>
                    <a:pt x="2" y="95"/>
                  </a:lnTo>
                  <a:lnTo>
                    <a:pt x="1" y="102"/>
                  </a:lnTo>
                  <a:lnTo>
                    <a:pt x="0" y="110"/>
                  </a:lnTo>
                  <a:lnTo>
                    <a:pt x="0" y="119"/>
                  </a:lnTo>
                  <a:lnTo>
                    <a:pt x="0" y="393"/>
                  </a:lnTo>
                  <a:lnTo>
                    <a:pt x="0" y="395"/>
                  </a:lnTo>
                  <a:lnTo>
                    <a:pt x="1" y="398"/>
                  </a:lnTo>
                  <a:lnTo>
                    <a:pt x="2" y="401"/>
                  </a:lnTo>
                  <a:lnTo>
                    <a:pt x="3" y="403"/>
                  </a:lnTo>
                  <a:lnTo>
                    <a:pt x="5" y="405"/>
                  </a:lnTo>
                  <a:lnTo>
                    <a:pt x="9" y="406"/>
                  </a:lnTo>
                  <a:lnTo>
                    <a:pt x="11" y="407"/>
                  </a:lnTo>
                  <a:lnTo>
                    <a:pt x="14" y="407"/>
                  </a:lnTo>
                  <a:lnTo>
                    <a:pt x="18" y="407"/>
                  </a:lnTo>
                  <a:lnTo>
                    <a:pt x="20" y="406"/>
                  </a:lnTo>
                  <a:lnTo>
                    <a:pt x="22" y="405"/>
                  </a:lnTo>
                  <a:lnTo>
                    <a:pt x="24" y="403"/>
                  </a:lnTo>
                  <a:lnTo>
                    <a:pt x="27" y="401"/>
                  </a:lnTo>
                  <a:lnTo>
                    <a:pt x="28" y="398"/>
                  </a:lnTo>
                  <a:lnTo>
                    <a:pt x="29" y="395"/>
                  </a:lnTo>
                  <a:lnTo>
                    <a:pt x="29" y="393"/>
                  </a:lnTo>
                  <a:lnTo>
                    <a:pt x="29" y="119"/>
                  </a:lnTo>
                  <a:lnTo>
                    <a:pt x="30" y="110"/>
                  </a:lnTo>
                  <a:lnTo>
                    <a:pt x="31" y="101"/>
                  </a:lnTo>
                  <a:lnTo>
                    <a:pt x="35" y="95"/>
                  </a:lnTo>
                  <a:lnTo>
                    <a:pt x="38" y="89"/>
                  </a:lnTo>
                  <a:lnTo>
                    <a:pt x="42" y="84"/>
                  </a:lnTo>
                  <a:lnTo>
                    <a:pt x="48" y="81"/>
                  </a:lnTo>
                  <a:lnTo>
                    <a:pt x="54" y="78"/>
                  </a:lnTo>
                  <a:lnTo>
                    <a:pt x="59" y="76"/>
                  </a:lnTo>
                  <a:lnTo>
                    <a:pt x="59" y="331"/>
                  </a:lnTo>
                  <a:lnTo>
                    <a:pt x="210" y="331"/>
                  </a:lnTo>
                  <a:lnTo>
                    <a:pt x="210" y="60"/>
                  </a:lnTo>
                  <a:lnTo>
                    <a:pt x="210" y="55"/>
                  </a:lnTo>
                  <a:lnTo>
                    <a:pt x="209" y="49"/>
                  </a:lnTo>
                  <a:lnTo>
                    <a:pt x="206" y="45"/>
                  </a:lnTo>
                  <a:lnTo>
                    <a:pt x="203" y="39"/>
                  </a:lnTo>
                  <a:lnTo>
                    <a:pt x="196" y="29"/>
                  </a:lnTo>
                  <a:lnTo>
                    <a:pt x="186" y="20"/>
                  </a:lnTo>
                  <a:lnTo>
                    <a:pt x="175" y="12"/>
                  </a:lnTo>
                  <a:lnTo>
                    <a:pt x="162" y="5"/>
                  </a:lnTo>
                  <a:lnTo>
                    <a:pt x="155" y="3"/>
                  </a:lnTo>
                  <a:lnTo>
                    <a:pt x="149" y="1"/>
                  </a:lnTo>
                  <a:lnTo>
                    <a:pt x="142" y="0"/>
                  </a:lnTo>
                  <a:lnTo>
                    <a:pt x="135" y="0"/>
                  </a:lnTo>
                  <a:lnTo>
                    <a:pt x="1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4606">
              <a:extLst>
                <a:ext uri="{FF2B5EF4-FFF2-40B4-BE49-F238E27FC236}">
                  <a16:creationId xmlns:a16="http://schemas.microsoft.com/office/drawing/2014/main" id="{BD829E04-6F8B-4CD1-B1AB-1428DE5AC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8050" y="4913313"/>
              <a:ext cx="47625" cy="28575"/>
            </a:xfrm>
            <a:custGeom>
              <a:avLst/>
              <a:gdLst>
                <a:gd name="T0" fmla="*/ 0 w 151"/>
                <a:gd name="T1" fmla="*/ 14 h 90"/>
                <a:gd name="T2" fmla="*/ 0 w 151"/>
                <a:gd name="T3" fmla="*/ 22 h 90"/>
                <a:gd name="T4" fmla="*/ 2 w 151"/>
                <a:gd name="T5" fmla="*/ 29 h 90"/>
                <a:gd name="T6" fmla="*/ 4 w 151"/>
                <a:gd name="T7" fmla="*/ 37 h 90"/>
                <a:gd name="T8" fmla="*/ 6 w 151"/>
                <a:gd name="T9" fmla="*/ 44 h 90"/>
                <a:gd name="T10" fmla="*/ 9 w 151"/>
                <a:gd name="T11" fmla="*/ 50 h 90"/>
                <a:gd name="T12" fmla="*/ 14 w 151"/>
                <a:gd name="T13" fmla="*/ 56 h 90"/>
                <a:gd name="T14" fmla="*/ 18 w 151"/>
                <a:gd name="T15" fmla="*/ 62 h 90"/>
                <a:gd name="T16" fmla="*/ 23 w 151"/>
                <a:gd name="T17" fmla="*/ 67 h 90"/>
                <a:gd name="T18" fmla="*/ 29 w 151"/>
                <a:gd name="T19" fmla="*/ 72 h 90"/>
                <a:gd name="T20" fmla="*/ 34 w 151"/>
                <a:gd name="T21" fmla="*/ 76 h 90"/>
                <a:gd name="T22" fmla="*/ 40 w 151"/>
                <a:gd name="T23" fmla="*/ 81 h 90"/>
                <a:gd name="T24" fmla="*/ 47 w 151"/>
                <a:gd name="T25" fmla="*/ 84 h 90"/>
                <a:gd name="T26" fmla="*/ 54 w 151"/>
                <a:gd name="T27" fmla="*/ 87 h 90"/>
                <a:gd name="T28" fmla="*/ 61 w 151"/>
                <a:gd name="T29" fmla="*/ 89 h 90"/>
                <a:gd name="T30" fmla="*/ 68 w 151"/>
                <a:gd name="T31" fmla="*/ 90 h 90"/>
                <a:gd name="T32" fmla="*/ 76 w 151"/>
                <a:gd name="T33" fmla="*/ 90 h 90"/>
                <a:gd name="T34" fmla="*/ 83 w 151"/>
                <a:gd name="T35" fmla="*/ 90 h 90"/>
                <a:gd name="T36" fmla="*/ 90 w 151"/>
                <a:gd name="T37" fmla="*/ 89 h 90"/>
                <a:gd name="T38" fmla="*/ 96 w 151"/>
                <a:gd name="T39" fmla="*/ 87 h 90"/>
                <a:gd name="T40" fmla="*/ 103 w 151"/>
                <a:gd name="T41" fmla="*/ 83 h 90"/>
                <a:gd name="T42" fmla="*/ 109 w 151"/>
                <a:gd name="T43" fmla="*/ 80 h 90"/>
                <a:gd name="T44" fmla="*/ 116 w 151"/>
                <a:gd name="T45" fmla="*/ 76 h 90"/>
                <a:gd name="T46" fmla="*/ 121 w 151"/>
                <a:gd name="T47" fmla="*/ 71 h 90"/>
                <a:gd name="T48" fmla="*/ 127 w 151"/>
                <a:gd name="T49" fmla="*/ 65 h 90"/>
                <a:gd name="T50" fmla="*/ 131 w 151"/>
                <a:gd name="T51" fmla="*/ 60 h 90"/>
                <a:gd name="T52" fmla="*/ 137 w 151"/>
                <a:gd name="T53" fmla="*/ 53 h 90"/>
                <a:gd name="T54" fmla="*/ 140 w 151"/>
                <a:gd name="T55" fmla="*/ 45 h 90"/>
                <a:gd name="T56" fmla="*/ 144 w 151"/>
                <a:gd name="T57" fmla="*/ 37 h 90"/>
                <a:gd name="T58" fmla="*/ 147 w 151"/>
                <a:gd name="T59" fmla="*/ 29 h 90"/>
                <a:gd name="T60" fmla="*/ 150 w 151"/>
                <a:gd name="T61" fmla="*/ 20 h 90"/>
                <a:gd name="T62" fmla="*/ 151 w 151"/>
                <a:gd name="T63" fmla="*/ 10 h 90"/>
                <a:gd name="T64" fmla="*/ 151 w 151"/>
                <a:gd name="T65" fmla="*/ 0 h 90"/>
                <a:gd name="T66" fmla="*/ 0 w 151"/>
                <a:gd name="T67" fmla="*/ 0 h 90"/>
                <a:gd name="T68" fmla="*/ 0 w 151"/>
                <a:gd name="T69" fmla="*/ 1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1" h="90">
                  <a:moveTo>
                    <a:pt x="0" y="14"/>
                  </a:moveTo>
                  <a:lnTo>
                    <a:pt x="0" y="22"/>
                  </a:lnTo>
                  <a:lnTo>
                    <a:pt x="2" y="29"/>
                  </a:lnTo>
                  <a:lnTo>
                    <a:pt x="4" y="37"/>
                  </a:lnTo>
                  <a:lnTo>
                    <a:pt x="6" y="44"/>
                  </a:lnTo>
                  <a:lnTo>
                    <a:pt x="9" y="50"/>
                  </a:lnTo>
                  <a:lnTo>
                    <a:pt x="14" y="56"/>
                  </a:lnTo>
                  <a:lnTo>
                    <a:pt x="18" y="62"/>
                  </a:lnTo>
                  <a:lnTo>
                    <a:pt x="23" y="67"/>
                  </a:lnTo>
                  <a:lnTo>
                    <a:pt x="29" y="72"/>
                  </a:lnTo>
                  <a:lnTo>
                    <a:pt x="34" y="76"/>
                  </a:lnTo>
                  <a:lnTo>
                    <a:pt x="40" y="81"/>
                  </a:lnTo>
                  <a:lnTo>
                    <a:pt x="47" y="84"/>
                  </a:lnTo>
                  <a:lnTo>
                    <a:pt x="54" y="87"/>
                  </a:lnTo>
                  <a:lnTo>
                    <a:pt x="61" y="89"/>
                  </a:lnTo>
                  <a:lnTo>
                    <a:pt x="68" y="90"/>
                  </a:lnTo>
                  <a:lnTo>
                    <a:pt x="76" y="90"/>
                  </a:lnTo>
                  <a:lnTo>
                    <a:pt x="83" y="90"/>
                  </a:lnTo>
                  <a:lnTo>
                    <a:pt x="90" y="89"/>
                  </a:lnTo>
                  <a:lnTo>
                    <a:pt x="96" y="87"/>
                  </a:lnTo>
                  <a:lnTo>
                    <a:pt x="103" y="83"/>
                  </a:lnTo>
                  <a:lnTo>
                    <a:pt x="109" y="80"/>
                  </a:lnTo>
                  <a:lnTo>
                    <a:pt x="116" y="76"/>
                  </a:lnTo>
                  <a:lnTo>
                    <a:pt x="121" y="71"/>
                  </a:lnTo>
                  <a:lnTo>
                    <a:pt x="127" y="65"/>
                  </a:lnTo>
                  <a:lnTo>
                    <a:pt x="131" y="60"/>
                  </a:lnTo>
                  <a:lnTo>
                    <a:pt x="137" y="53"/>
                  </a:lnTo>
                  <a:lnTo>
                    <a:pt x="140" y="45"/>
                  </a:lnTo>
                  <a:lnTo>
                    <a:pt x="144" y="37"/>
                  </a:lnTo>
                  <a:lnTo>
                    <a:pt x="147" y="29"/>
                  </a:lnTo>
                  <a:lnTo>
                    <a:pt x="150" y="20"/>
                  </a:lnTo>
                  <a:lnTo>
                    <a:pt x="151" y="10"/>
                  </a:lnTo>
                  <a:lnTo>
                    <a:pt x="151" y="0"/>
                  </a:lnTo>
                  <a:lnTo>
                    <a:pt x="0" y="0"/>
                  </a:lnTo>
                  <a:lnTo>
                    <a:pt x="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" name="Rectangle 4607">
              <a:extLst>
                <a:ext uri="{FF2B5EF4-FFF2-40B4-BE49-F238E27FC236}">
                  <a16:creationId xmlns:a16="http://schemas.microsoft.com/office/drawing/2014/main" id="{99EDB192-0D59-41C6-AD02-EC166F03C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8050" y="4837113"/>
              <a:ext cx="47625" cy="666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82" name="Group 81" descr="Icon of computer monitor. ">
            <a:extLst>
              <a:ext uri="{FF2B5EF4-FFF2-40B4-BE49-F238E27FC236}">
                <a16:creationId xmlns:a16="http://schemas.microsoft.com/office/drawing/2014/main" id="{9418C6B8-1E51-409C-A0E5-16AE173CE45B}"/>
              </a:ext>
            </a:extLst>
          </p:cNvPr>
          <p:cNvGrpSpPr/>
          <p:nvPr/>
        </p:nvGrpSpPr>
        <p:grpSpPr>
          <a:xfrm>
            <a:off x="3133330" y="1382471"/>
            <a:ext cx="287338" cy="258762"/>
            <a:chOff x="879475" y="817563"/>
            <a:chExt cx="287338" cy="258762"/>
          </a:xfrm>
          <a:solidFill>
            <a:schemeClr val="bg1"/>
          </a:solidFill>
        </p:grpSpPr>
        <p:sp>
          <p:nvSpPr>
            <p:cNvPr id="83" name="Freeform 1593">
              <a:extLst>
                <a:ext uri="{FF2B5EF4-FFF2-40B4-BE49-F238E27FC236}">
                  <a16:creationId xmlns:a16="http://schemas.microsoft.com/office/drawing/2014/main" id="{671BC17B-6D08-4ADE-B6A7-ECAE4A5EA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817563"/>
              <a:ext cx="287338" cy="171450"/>
            </a:xfrm>
            <a:custGeom>
              <a:avLst/>
              <a:gdLst>
                <a:gd name="T0" fmla="*/ 829 w 904"/>
                <a:gd name="T1" fmla="*/ 0 h 544"/>
                <a:gd name="T2" fmla="*/ 75 w 904"/>
                <a:gd name="T3" fmla="*/ 0 h 544"/>
                <a:gd name="T4" fmla="*/ 67 w 904"/>
                <a:gd name="T5" fmla="*/ 2 h 544"/>
                <a:gd name="T6" fmla="*/ 59 w 904"/>
                <a:gd name="T7" fmla="*/ 3 h 544"/>
                <a:gd name="T8" fmla="*/ 53 w 904"/>
                <a:gd name="T9" fmla="*/ 4 h 544"/>
                <a:gd name="T10" fmla="*/ 46 w 904"/>
                <a:gd name="T11" fmla="*/ 7 h 544"/>
                <a:gd name="T12" fmla="*/ 40 w 904"/>
                <a:gd name="T13" fmla="*/ 10 h 544"/>
                <a:gd name="T14" fmla="*/ 33 w 904"/>
                <a:gd name="T15" fmla="*/ 14 h 544"/>
                <a:gd name="T16" fmla="*/ 27 w 904"/>
                <a:gd name="T17" fmla="*/ 18 h 544"/>
                <a:gd name="T18" fmla="*/ 22 w 904"/>
                <a:gd name="T19" fmla="*/ 23 h 544"/>
                <a:gd name="T20" fmla="*/ 16 w 904"/>
                <a:gd name="T21" fmla="*/ 28 h 544"/>
                <a:gd name="T22" fmla="*/ 12 w 904"/>
                <a:gd name="T23" fmla="*/ 34 h 544"/>
                <a:gd name="T24" fmla="*/ 9 w 904"/>
                <a:gd name="T25" fmla="*/ 40 h 544"/>
                <a:gd name="T26" fmla="*/ 5 w 904"/>
                <a:gd name="T27" fmla="*/ 47 h 544"/>
                <a:gd name="T28" fmla="*/ 3 w 904"/>
                <a:gd name="T29" fmla="*/ 54 h 544"/>
                <a:gd name="T30" fmla="*/ 1 w 904"/>
                <a:gd name="T31" fmla="*/ 61 h 544"/>
                <a:gd name="T32" fmla="*/ 0 w 904"/>
                <a:gd name="T33" fmla="*/ 69 h 544"/>
                <a:gd name="T34" fmla="*/ 0 w 904"/>
                <a:gd name="T35" fmla="*/ 77 h 544"/>
                <a:gd name="T36" fmla="*/ 0 w 904"/>
                <a:gd name="T37" fmla="*/ 544 h 544"/>
                <a:gd name="T38" fmla="*/ 904 w 904"/>
                <a:gd name="T39" fmla="*/ 544 h 544"/>
                <a:gd name="T40" fmla="*/ 904 w 904"/>
                <a:gd name="T41" fmla="*/ 77 h 544"/>
                <a:gd name="T42" fmla="*/ 904 w 904"/>
                <a:gd name="T43" fmla="*/ 69 h 544"/>
                <a:gd name="T44" fmla="*/ 903 w 904"/>
                <a:gd name="T45" fmla="*/ 61 h 544"/>
                <a:gd name="T46" fmla="*/ 901 w 904"/>
                <a:gd name="T47" fmla="*/ 54 h 544"/>
                <a:gd name="T48" fmla="*/ 899 w 904"/>
                <a:gd name="T49" fmla="*/ 47 h 544"/>
                <a:gd name="T50" fmla="*/ 896 w 904"/>
                <a:gd name="T51" fmla="*/ 40 h 544"/>
                <a:gd name="T52" fmla="*/ 892 w 904"/>
                <a:gd name="T53" fmla="*/ 34 h 544"/>
                <a:gd name="T54" fmla="*/ 888 w 904"/>
                <a:gd name="T55" fmla="*/ 28 h 544"/>
                <a:gd name="T56" fmla="*/ 882 w 904"/>
                <a:gd name="T57" fmla="*/ 23 h 544"/>
                <a:gd name="T58" fmla="*/ 877 w 904"/>
                <a:gd name="T59" fmla="*/ 18 h 544"/>
                <a:gd name="T60" fmla="*/ 871 w 904"/>
                <a:gd name="T61" fmla="*/ 14 h 544"/>
                <a:gd name="T62" fmla="*/ 866 w 904"/>
                <a:gd name="T63" fmla="*/ 10 h 544"/>
                <a:gd name="T64" fmla="*/ 859 w 904"/>
                <a:gd name="T65" fmla="*/ 7 h 544"/>
                <a:gd name="T66" fmla="*/ 851 w 904"/>
                <a:gd name="T67" fmla="*/ 4 h 544"/>
                <a:gd name="T68" fmla="*/ 845 w 904"/>
                <a:gd name="T69" fmla="*/ 3 h 544"/>
                <a:gd name="T70" fmla="*/ 837 w 904"/>
                <a:gd name="T71" fmla="*/ 2 h 544"/>
                <a:gd name="T72" fmla="*/ 829 w 904"/>
                <a:gd name="T73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4" h="544">
                  <a:moveTo>
                    <a:pt x="829" y="0"/>
                  </a:moveTo>
                  <a:lnTo>
                    <a:pt x="75" y="0"/>
                  </a:lnTo>
                  <a:lnTo>
                    <a:pt x="67" y="2"/>
                  </a:lnTo>
                  <a:lnTo>
                    <a:pt x="59" y="3"/>
                  </a:lnTo>
                  <a:lnTo>
                    <a:pt x="53" y="4"/>
                  </a:lnTo>
                  <a:lnTo>
                    <a:pt x="46" y="7"/>
                  </a:lnTo>
                  <a:lnTo>
                    <a:pt x="40" y="10"/>
                  </a:lnTo>
                  <a:lnTo>
                    <a:pt x="33" y="14"/>
                  </a:lnTo>
                  <a:lnTo>
                    <a:pt x="27" y="18"/>
                  </a:lnTo>
                  <a:lnTo>
                    <a:pt x="22" y="23"/>
                  </a:lnTo>
                  <a:lnTo>
                    <a:pt x="16" y="28"/>
                  </a:lnTo>
                  <a:lnTo>
                    <a:pt x="12" y="34"/>
                  </a:lnTo>
                  <a:lnTo>
                    <a:pt x="9" y="40"/>
                  </a:lnTo>
                  <a:lnTo>
                    <a:pt x="5" y="47"/>
                  </a:lnTo>
                  <a:lnTo>
                    <a:pt x="3" y="54"/>
                  </a:lnTo>
                  <a:lnTo>
                    <a:pt x="1" y="61"/>
                  </a:lnTo>
                  <a:lnTo>
                    <a:pt x="0" y="69"/>
                  </a:lnTo>
                  <a:lnTo>
                    <a:pt x="0" y="77"/>
                  </a:lnTo>
                  <a:lnTo>
                    <a:pt x="0" y="544"/>
                  </a:lnTo>
                  <a:lnTo>
                    <a:pt x="904" y="544"/>
                  </a:lnTo>
                  <a:lnTo>
                    <a:pt x="904" y="77"/>
                  </a:lnTo>
                  <a:lnTo>
                    <a:pt x="904" y="69"/>
                  </a:lnTo>
                  <a:lnTo>
                    <a:pt x="903" y="61"/>
                  </a:lnTo>
                  <a:lnTo>
                    <a:pt x="901" y="54"/>
                  </a:lnTo>
                  <a:lnTo>
                    <a:pt x="899" y="47"/>
                  </a:lnTo>
                  <a:lnTo>
                    <a:pt x="896" y="40"/>
                  </a:lnTo>
                  <a:lnTo>
                    <a:pt x="892" y="34"/>
                  </a:lnTo>
                  <a:lnTo>
                    <a:pt x="888" y="28"/>
                  </a:lnTo>
                  <a:lnTo>
                    <a:pt x="882" y="23"/>
                  </a:lnTo>
                  <a:lnTo>
                    <a:pt x="877" y="18"/>
                  </a:lnTo>
                  <a:lnTo>
                    <a:pt x="871" y="14"/>
                  </a:lnTo>
                  <a:lnTo>
                    <a:pt x="866" y="10"/>
                  </a:lnTo>
                  <a:lnTo>
                    <a:pt x="859" y="7"/>
                  </a:lnTo>
                  <a:lnTo>
                    <a:pt x="851" y="4"/>
                  </a:lnTo>
                  <a:lnTo>
                    <a:pt x="845" y="3"/>
                  </a:lnTo>
                  <a:lnTo>
                    <a:pt x="837" y="2"/>
                  </a:lnTo>
                  <a:lnTo>
                    <a:pt x="8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1594">
              <a:extLst>
                <a:ext uri="{FF2B5EF4-FFF2-40B4-BE49-F238E27FC236}">
                  <a16:creationId xmlns:a16="http://schemas.microsoft.com/office/drawing/2014/main" id="{2A229F37-7B67-4EE7-B334-2F3DE95D8A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9475" y="1000125"/>
              <a:ext cx="287338" cy="76200"/>
            </a:xfrm>
            <a:custGeom>
              <a:avLst/>
              <a:gdLst>
                <a:gd name="T0" fmla="*/ 459 w 904"/>
                <a:gd name="T1" fmla="*/ 29 h 241"/>
                <a:gd name="T2" fmla="*/ 469 w 904"/>
                <a:gd name="T3" fmla="*/ 35 h 241"/>
                <a:gd name="T4" fmla="*/ 478 w 904"/>
                <a:gd name="T5" fmla="*/ 43 h 241"/>
                <a:gd name="T6" fmla="*/ 482 w 904"/>
                <a:gd name="T7" fmla="*/ 54 h 241"/>
                <a:gd name="T8" fmla="*/ 482 w 904"/>
                <a:gd name="T9" fmla="*/ 66 h 241"/>
                <a:gd name="T10" fmla="*/ 478 w 904"/>
                <a:gd name="T11" fmla="*/ 77 h 241"/>
                <a:gd name="T12" fmla="*/ 469 w 904"/>
                <a:gd name="T13" fmla="*/ 85 h 241"/>
                <a:gd name="T14" fmla="*/ 459 w 904"/>
                <a:gd name="T15" fmla="*/ 89 h 241"/>
                <a:gd name="T16" fmla="*/ 447 w 904"/>
                <a:gd name="T17" fmla="*/ 89 h 241"/>
                <a:gd name="T18" fmla="*/ 436 w 904"/>
                <a:gd name="T19" fmla="*/ 85 h 241"/>
                <a:gd name="T20" fmla="*/ 427 w 904"/>
                <a:gd name="T21" fmla="*/ 77 h 241"/>
                <a:gd name="T22" fmla="*/ 422 w 904"/>
                <a:gd name="T23" fmla="*/ 66 h 241"/>
                <a:gd name="T24" fmla="*/ 422 w 904"/>
                <a:gd name="T25" fmla="*/ 54 h 241"/>
                <a:gd name="T26" fmla="*/ 427 w 904"/>
                <a:gd name="T27" fmla="*/ 43 h 241"/>
                <a:gd name="T28" fmla="*/ 436 w 904"/>
                <a:gd name="T29" fmla="*/ 35 h 241"/>
                <a:gd name="T30" fmla="*/ 447 w 904"/>
                <a:gd name="T31" fmla="*/ 31 h 241"/>
                <a:gd name="T32" fmla="*/ 452 w 904"/>
                <a:gd name="T33" fmla="*/ 29 h 241"/>
                <a:gd name="T34" fmla="*/ 0 w 904"/>
                <a:gd name="T35" fmla="*/ 83 h 241"/>
                <a:gd name="T36" fmla="*/ 3 w 904"/>
                <a:gd name="T37" fmla="*/ 97 h 241"/>
                <a:gd name="T38" fmla="*/ 9 w 904"/>
                <a:gd name="T39" fmla="*/ 110 h 241"/>
                <a:gd name="T40" fmla="*/ 16 w 904"/>
                <a:gd name="T41" fmla="*/ 122 h 241"/>
                <a:gd name="T42" fmla="*/ 27 w 904"/>
                <a:gd name="T43" fmla="*/ 132 h 241"/>
                <a:gd name="T44" fmla="*/ 40 w 904"/>
                <a:gd name="T45" fmla="*/ 141 h 241"/>
                <a:gd name="T46" fmla="*/ 53 w 904"/>
                <a:gd name="T47" fmla="*/ 147 h 241"/>
                <a:gd name="T48" fmla="*/ 67 w 904"/>
                <a:gd name="T49" fmla="*/ 150 h 241"/>
                <a:gd name="T50" fmla="*/ 437 w 904"/>
                <a:gd name="T51" fmla="*/ 150 h 241"/>
                <a:gd name="T52" fmla="*/ 195 w 904"/>
                <a:gd name="T53" fmla="*/ 211 h 241"/>
                <a:gd name="T54" fmla="*/ 190 w 904"/>
                <a:gd name="T55" fmla="*/ 212 h 241"/>
                <a:gd name="T56" fmla="*/ 186 w 904"/>
                <a:gd name="T57" fmla="*/ 215 h 241"/>
                <a:gd name="T58" fmla="*/ 182 w 904"/>
                <a:gd name="T59" fmla="*/ 220 h 241"/>
                <a:gd name="T60" fmla="*/ 181 w 904"/>
                <a:gd name="T61" fmla="*/ 225 h 241"/>
                <a:gd name="T62" fmla="*/ 182 w 904"/>
                <a:gd name="T63" fmla="*/ 232 h 241"/>
                <a:gd name="T64" fmla="*/ 186 w 904"/>
                <a:gd name="T65" fmla="*/ 236 h 241"/>
                <a:gd name="T66" fmla="*/ 190 w 904"/>
                <a:gd name="T67" fmla="*/ 240 h 241"/>
                <a:gd name="T68" fmla="*/ 195 w 904"/>
                <a:gd name="T69" fmla="*/ 241 h 241"/>
                <a:gd name="T70" fmla="*/ 742 w 904"/>
                <a:gd name="T71" fmla="*/ 241 h 241"/>
                <a:gd name="T72" fmla="*/ 747 w 904"/>
                <a:gd name="T73" fmla="*/ 239 h 241"/>
                <a:gd name="T74" fmla="*/ 752 w 904"/>
                <a:gd name="T75" fmla="*/ 234 h 241"/>
                <a:gd name="T76" fmla="*/ 754 w 904"/>
                <a:gd name="T77" fmla="*/ 229 h 241"/>
                <a:gd name="T78" fmla="*/ 754 w 904"/>
                <a:gd name="T79" fmla="*/ 223 h 241"/>
                <a:gd name="T80" fmla="*/ 752 w 904"/>
                <a:gd name="T81" fmla="*/ 218 h 241"/>
                <a:gd name="T82" fmla="*/ 747 w 904"/>
                <a:gd name="T83" fmla="*/ 213 h 241"/>
                <a:gd name="T84" fmla="*/ 742 w 904"/>
                <a:gd name="T85" fmla="*/ 211 h 241"/>
                <a:gd name="T86" fmla="*/ 468 w 904"/>
                <a:gd name="T87" fmla="*/ 211 h 241"/>
                <a:gd name="T88" fmla="*/ 829 w 904"/>
                <a:gd name="T89" fmla="*/ 150 h 241"/>
                <a:gd name="T90" fmla="*/ 845 w 904"/>
                <a:gd name="T91" fmla="*/ 149 h 241"/>
                <a:gd name="T92" fmla="*/ 859 w 904"/>
                <a:gd name="T93" fmla="*/ 145 h 241"/>
                <a:gd name="T94" fmla="*/ 871 w 904"/>
                <a:gd name="T95" fmla="*/ 137 h 241"/>
                <a:gd name="T96" fmla="*/ 882 w 904"/>
                <a:gd name="T97" fmla="*/ 128 h 241"/>
                <a:gd name="T98" fmla="*/ 892 w 904"/>
                <a:gd name="T99" fmla="*/ 117 h 241"/>
                <a:gd name="T100" fmla="*/ 899 w 904"/>
                <a:gd name="T101" fmla="*/ 104 h 241"/>
                <a:gd name="T102" fmla="*/ 903 w 904"/>
                <a:gd name="T103" fmla="*/ 90 h 241"/>
                <a:gd name="T104" fmla="*/ 904 w 904"/>
                <a:gd name="T105" fmla="*/ 75 h 241"/>
                <a:gd name="T106" fmla="*/ 0 w 904"/>
                <a:gd name="T107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04" h="241">
                  <a:moveTo>
                    <a:pt x="452" y="29"/>
                  </a:moveTo>
                  <a:lnTo>
                    <a:pt x="459" y="29"/>
                  </a:lnTo>
                  <a:lnTo>
                    <a:pt x="464" y="32"/>
                  </a:lnTo>
                  <a:lnTo>
                    <a:pt x="469" y="35"/>
                  </a:lnTo>
                  <a:lnTo>
                    <a:pt x="473" y="38"/>
                  </a:lnTo>
                  <a:lnTo>
                    <a:pt x="478" y="43"/>
                  </a:lnTo>
                  <a:lnTo>
                    <a:pt x="480" y="48"/>
                  </a:lnTo>
                  <a:lnTo>
                    <a:pt x="482" y="54"/>
                  </a:lnTo>
                  <a:lnTo>
                    <a:pt x="482" y="59"/>
                  </a:lnTo>
                  <a:lnTo>
                    <a:pt x="482" y="66"/>
                  </a:lnTo>
                  <a:lnTo>
                    <a:pt x="480" y="71"/>
                  </a:lnTo>
                  <a:lnTo>
                    <a:pt x="478" y="77"/>
                  </a:lnTo>
                  <a:lnTo>
                    <a:pt x="473" y="81"/>
                  </a:lnTo>
                  <a:lnTo>
                    <a:pt x="469" y="85"/>
                  </a:lnTo>
                  <a:lnTo>
                    <a:pt x="464" y="87"/>
                  </a:lnTo>
                  <a:lnTo>
                    <a:pt x="459" y="89"/>
                  </a:lnTo>
                  <a:lnTo>
                    <a:pt x="452" y="90"/>
                  </a:lnTo>
                  <a:lnTo>
                    <a:pt x="447" y="89"/>
                  </a:lnTo>
                  <a:lnTo>
                    <a:pt x="440" y="87"/>
                  </a:lnTo>
                  <a:lnTo>
                    <a:pt x="436" y="85"/>
                  </a:lnTo>
                  <a:lnTo>
                    <a:pt x="431" y="81"/>
                  </a:lnTo>
                  <a:lnTo>
                    <a:pt x="427" y="77"/>
                  </a:lnTo>
                  <a:lnTo>
                    <a:pt x="424" y="71"/>
                  </a:lnTo>
                  <a:lnTo>
                    <a:pt x="422" y="66"/>
                  </a:lnTo>
                  <a:lnTo>
                    <a:pt x="422" y="59"/>
                  </a:lnTo>
                  <a:lnTo>
                    <a:pt x="422" y="54"/>
                  </a:lnTo>
                  <a:lnTo>
                    <a:pt x="424" y="48"/>
                  </a:lnTo>
                  <a:lnTo>
                    <a:pt x="427" y="43"/>
                  </a:lnTo>
                  <a:lnTo>
                    <a:pt x="431" y="38"/>
                  </a:lnTo>
                  <a:lnTo>
                    <a:pt x="436" y="35"/>
                  </a:lnTo>
                  <a:lnTo>
                    <a:pt x="440" y="32"/>
                  </a:lnTo>
                  <a:lnTo>
                    <a:pt x="447" y="31"/>
                  </a:lnTo>
                  <a:lnTo>
                    <a:pt x="452" y="29"/>
                  </a:lnTo>
                  <a:lnTo>
                    <a:pt x="452" y="29"/>
                  </a:lnTo>
                  <a:close/>
                  <a:moveTo>
                    <a:pt x="0" y="75"/>
                  </a:moveTo>
                  <a:lnTo>
                    <a:pt x="0" y="83"/>
                  </a:lnTo>
                  <a:lnTo>
                    <a:pt x="1" y="90"/>
                  </a:lnTo>
                  <a:lnTo>
                    <a:pt x="3" y="97"/>
                  </a:lnTo>
                  <a:lnTo>
                    <a:pt x="5" y="104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6" y="122"/>
                  </a:lnTo>
                  <a:lnTo>
                    <a:pt x="22" y="128"/>
                  </a:lnTo>
                  <a:lnTo>
                    <a:pt x="27" y="132"/>
                  </a:lnTo>
                  <a:lnTo>
                    <a:pt x="33" y="137"/>
                  </a:lnTo>
                  <a:lnTo>
                    <a:pt x="40" y="141"/>
                  </a:lnTo>
                  <a:lnTo>
                    <a:pt x="46" y="145"/>
                  </a:lnTo>
                  <a:lnTo>
                    <a:pt x="53" y="147"/>
                  </a:lnTo>
                  <a:lnTo>
                    <a:pt x="59" y="149"/>
                  </a:lnTo>
                  <a:lnTo>
                    <a:pt x="67" y="150"/>
                  </a:lnTo>
                  <a:lnTo>
                    <a:pt x="75" y="150"/>
                  </a:lnTo>
                  <a:lnTo>
                    <a:pt x="437" y="150"/>
                  </a:lnTo>
                  <a:lnTo>
                    <a:pt x="437" y="211"/>
                  </a:lnTo>
                  <a:lnTo>
                    <a:pt x="195" y="211"/>
                  </a:lnTo>
                  <a:lnTo>
                    <a:pt x="192" y="211"/>
                  </a:lnTo>
                  <a:lnTo>
                    <a:pt x="190" y="212"/>
                  </a:lnTo>
                  <a:lnTo>
                    <a:pt x="188" y="213"/>
                  </a:lnTo>
                  <a:lnTo>
                    <a:pt x="186" y="215"/>
                  </a:lnTo>
                  <a:lnTo>
                    <a:pt x="183" y="218"/>
                  </a:lnTo>
                  <a:lnTo>
                    <a:pt x="182" y="220"/>
                  </a:lnTo>
                  <a:lnTo>
                    <a:pt x="181" y="223"/>
                  </a:lnTo>
                  <a:lnTo>
                    <a:pt x="181" y="225"/>
                  </a:lnTo>
                  <a:lnTo>
                    <a:pt x="181" y="229"/>
                  </a:lnTo>
                  <a:lnTo>
                    <a:pt x="182" y="232"/>
                  </a:lnTo>
                  <a:lnTo>
                    <a:pt x="183" y="234"/>
                  </a:lnTo>
                  <a:lnTo>
                    <a:pt x="186" y="236"/>
                  </a:lnTo>
                  <a:lnTo>
                    <a:pt x="188" y="239"/>
                  </a:lnTo>
                  <a:lnTo>
                    <a:pt x="190" y="240"/>
                  </a:lnTo>
                  <a:lnTo>
                    <a:pt x="192" y="241"/>
                  </a:lnTo>
                  <a:lnTo>
                    <a:pt x="195" y="241"/>
                  </a:lnTo>
                  <a:lnTo>
                    <a:pt x="739" y="241"/>
                  </a:lnTo>
                  <a:lnTo>
                    <a:pt x="742" y="241"/>
                  </a:lnTo>
                  <a:lnTo>
                    <a:pt x="745" y="240"/>
                  </a:lnTo>
                  <a:lnTo>
                    <a:pt x="747" y="239"/>
                  </a:lnTo>
                  <a:lnTo>
                    <a:pt x="750" y="236"/>
                  </a:lnTo>
                  <a:lnTo>
                    <a:pt x="752" y="234"/>
                  </a:lnTo>
                  <a:lnTo>
                    <a:pt x="753" y="232"/>
                  </a:lnTo>
                  <a:lnTo>
                    <a:pt x="754" y="229"/>
                  </a:lnTo>
                  <a:lnTo>
                    <a:pt x="754" y="225"/>
                  </a:lnTo>
                  <a:lnTo>
                    <a:pt x="754" y="223"/>
                  </a:lnTo>
                  <a:lnTo>
                    <a:pt x="753" y="220"/>
                  </a:lnTo>
                  <a:lnTo>
                    <a:pt x="752" y="218"/>
                  </a:lnTo>
                  <a:lnTo>
                    <a:pt x="750" y="215"/>
                  </a:lnTo>
                  <a:lnTo>
                    <a:pt x="747" y="213"/>
                  </a:lnTo>
                  <a:lnTo>
                    <a:pt x="745" y="212"/>
                  </a:lnTo>
                  <a:lnTo>
                    <a:pt x="742" y="211"/>
                  </a:lnTo>
                  <a:lnTo>
                    <a:pt x="739" y="211"/>
                  </a:lnTo>
                  <a:lnTo>
                    <a:pt x="468" y="211"/>
                  </a:lnTo>
                  <a:lnTo>
                    <a:pt x="468" y="150"/>
                  </a:lnTo>
                  <a:lnTo>
                    <a:pt x="829" y="150"/>
                  </a:lnTo>
                  <a:lnTo>
                    <a:pt x="837" y="150"/>
                  </a:lnTo>
                  <a:lnTo>
                    <a:pt x="845" y="149"/>
                  </a:lnTo>
                  <a:lnTo>
                    <a:pt x="851" y="147"/>
                  </a:lnTo>
                  <a:lnTo>
                    <a:pt x="859" y="145"/>
                  </a:lnTo>
                  <a:lnTo>
                    <a:pt x="866" y="141"/>
                  </a:lnTo>
                  <a:lnTo>
                    <a:pt x="871" y="137"/>
                  </a:lnTo>
                  <a:lnTo>
                    <a:pt x="877" y="132"/>
                  </a:lnTo>
                  <a:lnTo>
                    <a:pt x="882" y="128"/>
                  </a:lnTo>
                  <a:lnTo>
                    <a:pt x="888" y="122"/>
                  </a:lnTo>
                  <a:lnTo>
                    <a:pt x="892" y="117"/>
                  </a:lnTo>
                  <a:lnTo>
                    <a:pt x="896" y="110"/>
                  </a:lnTo>
                  <a:lnTo>
                    <a:pt x="899" y="104"/>
                  </a:lnTo>
                  <a:lnTo>
                    <a:pt x="901" y="97"/>
                  </a:lnTo>
                  <a:lnTo>
                    <a:pt x="903" y="90"/>
                  </a:lnTo>
                  <a:lnTo>
                    <a:pt x="904" y="83"/>
                  </a:lnTo>
                  <a:lnTo>
                    <a:pt x="904" y="75"/>
                  </a:lnTo>
                  <a:lnTo>
                    <a:pt x="904" y="0"/>
                  </a:lnTo>
                  <a:lnTo>
                    <a:pt x="0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85" name="Group 84" descr="Icon of computer monitors.">
            <a:extLst>
              <a:ext uri="{FF2B5EF4-FFF2-40B4-BE49-F238E27FC236}">
                <a16:creationId xmlns:a16="http://schemas.microsoft.com/office/drawing/2014/main" id="{A97EEAA0-CE6D-46A9-9837-67DD5CDA8CE9}"/>
              </a:ext>
            </a:extLst>
          </p:cNvPr>
          <p:cNvGrpSpPr/>
          <p:nvPr/>
        </p:nvGrpSpPr>
        <p:grpSpPr>
          <a:xfrm>
            <a:off x="4277123" y="1359245"/>
            <a:ext cx="287338" cy="258762"/>
            <a:chOff x="304800" y="5129213"/>
            <a:chExt cx="287338" cy="258762"/>
          </a:xfrm>
          <a:solidFill>
            <a:schemeClr val="bg1"/>
          </a:solidFill>
        </p:grpSpPr>
        <p:sp>
          <p:nvSpPr>
            <p:cNvPr id="86" name="Freeform 1630">
              <a:extLst>
                <a:ext uri="{FF2B5EF4-FFF2-40B4-BE49-F238E27FC236}">
                  <a16:creationId xmlns:a16="http://schemas.microsoft.com/office/drawing/2014/main" id="{CD9DD3B0-9FD5-473E-A718-FEFF0355F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00" y="5224463"/>
              <a:ext cx="134938" cy="38100"/>
            </a:xfrm>
            <a:custGeom>
              <a:avLst/>
              <a:gdLst>
                <a:gd name="T0" fmla="*/ 176 w 423"/>
                <a:gd name="T1" fmla="*/ 120 h 120"/>
                <a:gd name="T2" fmla="*/ 247 w 423"/>
                <a:gd name="T3" fmla="*/ 120 h 120"/>
                <a:gd name="T4" fmla="*/ 252 w 423"/>
                <a:gd name="T5" fmla="*/ 108 h 120"/>
                <a:gd name="T6" fmla="*/ 260 w 423"/>
                <a:gd name="T7" fmla="*/ 97 h 120"/>
                <a:gd name="T8" fmla="*/ 269 w 423"/>
                <a:gd name="T9" fmla="*/ 86 h 120"/>
                <a:gd name="T10" fmla="*/ 280 w 423"/>
                <a:gd name="T11" fmla="*/ 77 h 120"/>
                <a:gd name="T12" fmla="*/ 291 w 423"/>
                <a:gd name="T13" fmla="*/ 71 h 120"/>
                <a:gd name="T14" fmla="*/ 304 w 423"/>
                <a:gd name="T15" fmla="*/ 65 h 120"/>
                <a:gd name="T16" fmla="*/ 311 w 423"/>
                <a:gd name="T17" fmla="*/ 63 h 120"/>
                <a:gd name="T18" fmla="*/ 318 w 423"/>
                <a:gd name="T19" fmla="*/ 62 h 120"/>
                <a:gd name="T20" fmla="*/ 325 w 423"/>
                <a:gd name="T21" fmla="*/ 61 h 120"/>
                <a:gd name="T22" fmla="*/ 332 w 423"/>
                <a:gd name="T23" fmla="*/ 61 h 120"/>
                <a:gd name="T24" fmla="*/ 423 w 423"/>
                <a:gd name="T25" fmla="*/ 61 h 120"/>
                <a:gd name="T26" fmla="*/ 423 w 423"/>
                <a:gd name="T27" fmla="*/ 31 h 120"/>
                <a:gd name="T28" fmla="*/ 423 w 423"/>
                <a:gd name="T29" fmla="*/ 22 h 120"/>
                <a:gd name="T30" fmla="*/ 420 w 423"/>
                <a:gd name="T31" fmla="*/ 14 h 120"/>
                <a:gd name="T32" fmla="*/ 418 w 423"/>
                <a:gd name="T33" fmla="*/ 8 h 120"/>
                <a:gd name="T34" fmla="*/ 415 w 423"/>
                <a:gd name="T35" fmla="*/ 0 h 120"/>
                <a:gd name="T36" fmla="*/ 363 w 423"/>
                <a:gd name="T37" fmla="*/ 0 h 120"/>
                <a:gd name="T38" fmla="*/ 61 w 423"/>
                <a:gd name="T39" fmla="*/ 0 h 120"/>
                <a:gd name="T40" fmla="*/ 9 w 423"/>
                <a:gd name="T41" fmla="*/ 0 h 120"/>
                <a:gd name="T42" fmla="*/ 6 w 423"/>
                <a:gd name="T43" fmla="*/ 8 h 120"/>
                <a:gd name="T44" fmla="*/ 2 w 423"/>
                <a:gd name="T45" fmla="*/ 14 h 120"/>
                <a:gd name="T46" fmla="*/ 1 w 423"/>
                <a:gd name="T47" fmla="*/ 22 h 120"/>
                <a:gd name="T48" fmla="*/ 0 w 423"/>
                <a:gd name="T49" fmla="*/ 31 h 120"/>
                <a:gd name="T50" fmla="*/ 0 w 423"/>
                <a:gd name="T51" fmla="*/ 61 h 120"/>
                <a:gd name="T52" fmla="*/ 91 w 423"/>
                <a:gd name="T53" fmla="*/ 61 h 120"/>
                <a:gd name="T54" fmla="*/ 99 w 423"/>
                <a:gd name="T55" fmla="*/ 61 h 120"/>
                <a:gd name="T56" fmla="*/ 105 w 423"/>
                <a:gd name="T57" fmla="*/ 62 h 120"/>
                <a:gd name="T58" fmla="*/ 112 w 423"/>
                <a:gd name="T59" fmla="*/ 63 h 120"/>
                <a:gd name="T60" fmla="*/ 120 w 423"/>
                <a:gd name="T61" fmla="*/ 65 h 120"/>
                <a:gd name="T62" fmla="*/ 132 w 423"/>
                <a:gd name="T63" fmla="*/ 71 h 120"/>
                <a:gd name="T64" fmla="*/ 144 w 423"/>
                <a:gd name="T65" fmla="*/ 77 h 120"/>
                <a:gd name="T66" fmla="*/ 154 w 423"/>
                <a:gd name="T67" fmla="*/ 86 h 120"/>
                <a:gd name="T68" fmla="*/ 163 w 423"/>
                <a:gd name="T69" fmla="*/ 97 h 120"/>
                <a:gd name="T70" fmla="*/ 170 w 423"/>
                <a:gd name="T71" fmla="*/ 108 h 120"/>
                <a:gd name="T72" fmla="*/ 176 w 423"/>
                <a:gd name="T7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3" h="120">
                  <a:moveTo>
                    <a:pt x="176" y="120"/>
                  </a:moveTo>
                  <a:lnTo>
                    <a:pt x="247" y="120"/>
                  </a:lnTo>
                  <a:lnTo>
                    <a:pt x="252" y="108"/>
                  </a:lnTo>
                  <a:lnTo>
                    <a:pt x="260" y="97"/>
                  </a:lnTo>
                  <a:lnTo>
                    <a:pt x="269" y="86"/>
                  </a:lnTo>
                  <a:lnTo>
                    <a:pt x="280" y="77"/>
                  </a:lnTo>
                  <a:lnTo>
                    <a:pt x="291" y="71"/>
                  </a:lnTo>
                  <a:lnTo>
                    <a:pt x="304" y="65"/>
                  </a:lnTo>
                  <a:lnTo>
                    <a:pt x="311" y="63"/>
                  </a:lnTo>
                  <a:lnTo>
                    <a:pt x="318" y="62"/>
                  </a:lnTo>
                  <a:lnTo>
                    <a:pt x="325" y="61"/>
                  </a:lnTo>
                  <a:lnTo>
                    <a:pt x="332" y="61"/>
                  </a:lnTo>
                  <a:lnTo>
                    <a:pt x="423" y="61"/>
                  </a:lnTo>
                  <a:lnTo>
                    <a:pt x="423" y="31"/>
                  </a:lnTo>
                  <a:lnTo>
                    <a:pt x="423" y="22"/>
                  </a:lnTo>
                  <a:lnTo>
                    <a:pt x="420" y="14"/>
                  </a:lnTo>
                  <a:lnTo>
                    <a:pt x="418" y="8"/>
                  </a:lnTo>
                  <a:lnTo>
                    <a:pt x="415" y="0"/>
                  </a:lnTo>
                  <a:lnTo>
                    <a:pt x="363" y="0"/>
                  </a:lnTo>
                  <a:lnTo>
                    <a:pt x="61" y="0"/>
                  </a:lnTo>
                  <a:lnTo>
                    <a:pt x="9" y="0"/>
                  </a:lnTo>
                  <a:lnTo>
                    <a:pt x="6" y="8"/>
                  </a:lnTo>
                  <a:lnTo>
                    <a:pt x="2" y="14"/>
                  </a:lnTo>
                  <a:lnTo>
                    <a:pt x="1" y="22"/>
                  </a:lnTo>
                  <a:lnTo>
                    <a:pt x="0" y="31"/>
                  </a:lnTo>
                  <a:lnTo>
                    <a:pt x="0" y="61"/>
                  </a:lnTo>
                  <a:lnTo>
                    <a:pt x="91" y="61"/>
                  </a:lnTo>
                  <a:lnTo>
                    <a:pt x="99" y="61"/>
                  </a:lnTo>
                  <a:lnTo>
                    <a:pt x="105" y="62"/>
                  </a:lnTo>
                  <a:lnTo>
                    <a:pt x="112" y="63"/>
                  </a:lnTo>
                  <a:lnTo>
                    <a:pt x="120" y="65"/>
                  </a:lnTo>
                  <a:lnTo>
                    <a:pt x="132" y="71"/>
                  </a:lnTo>
                  <a:lnTo>
                    <a:pt x="144" y="77"/>
                  </a:lnTo>
                  <a:lnTo>
                    <a:pt x="154" y="86"/>
                  </a:lnTo>
                  <a:lnTo>
                    <a:pt x="163" y="97"/>
                  </a:lnTo>
                  <a:lnTo>
                    <a:pt x="170" y="108"/>
                  </a:lnTo>
                  <a:lnTo>
                    <a:pt x="176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7" name="Freeform 1631">
              <a:extLst>
                <a:ext uri="{FF2B5EF4-FFF2-40B4-BE49-F238E27FC236}">
                  <a16:creationId xmlns:a16="http://schemas.microsoft.com/office/drawing/2014/main" id="{99F6D614-3AD7-472A-92A9-85406C4F4B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525" y="5129213"/>
              <a:ext cx="115888" cy="85725"/>
            </a:xfrm>
            <a:custGeom>
              <a:avLst/>
              <a:gdLst>
                <a:gd name="T0" fmla="*/ 60 w 362"/>
                <a:gd name="T1" fmla="*/ 72 h 271"/>
                <a:gd name="T2" fmla="*/ 62 w 362"/>
                <a:gd name="T3" fmla="*/ 66 h 271"/>
                <a:gd name="T4" fmla="*/ 66 w 362"/>
                <a:gd name="T5" fmla="*/ 62 h 271"/>
                <a:gd name="T6" fmla="*/ 72 w 362"/>
                <a:gd name="T7" fmla="*/ 60 h 271"/>
                <a:gd name="T8" fmla="*/ 287 w 362"/>
                <a:gd name="T9" fmla="*/ 60 h 271"/>
                <a:gd name="T10" fmla="*/ 292 w 362"/>
                <a:gd name="T11" fmla="*/ 61 h 271"/>
                <a:gd name="T12" fmla="*/ 297 w 362"/>
                <a:gd name="T13" fmla="*/ 64 h 271"/>
                <a:gd name="T14" fmla="*/ 300 w 362"/>
                <a:gd name="T15" fmla="*/ 70 h 271"/>
                <a:gd name="T16" fmla="*/ 301 w 362"/>
                <a:gd name="T17" fmla="*/ 75 h 271"/>
                <a:gd name="T18" fmla="*/ 301 w 362"/>
                <a:gd name="T19" fmla="*/ 229 h 271"/>
                <a:gd name="T20" fmla="*/ 299 w 362"/>
                <a:gd name="T21" fmla="*/ 234 h 271"/>
                <a:gd name="T22" fmla="*/ 294 w 362"/>
                <a:gd name="T23" fmla="*/ 239 h 271"/>
                <a:gd name="T24" fmla="*/ 289 w 362"/>
                <a:gd name="T25" fmla="*/ 241 h 271"/>
                <a:gd name="T26" fmla="*/ 75 w 362"/>
                <a:gd name="T27" fmla="*/ 241 h 271"/>
                <a:gd name="T28" fmla="*/ 69 w 362"/>
                <a:gd name="T29" fmla="*/ 240 h 271"/>
                <a:gd name="T30" fmla="*/ 64 w 362"/>
                <a:gd name="T31" fmla="*/ 237 h 271"/>
                <a:gd name="T32" fmla="*/ 61 w 362"/>
                <a:gd name="T33" fmla="*/ 231 h 271"/>
                <a:gd name="T34" fmla="*/ 60 w 362"/>
                <a:gd name="T35" fmla="*/ 226 h 271"/>
                <a:gd name="T36" fmla="*/ 332 w 362"/>
                <a:gd name="T37" fmla="*/ 271 h 271"/>
                <a:gd name="T38" fmla="*/ 362 w 362"/>
                <a:gd name="T39" fmla="*/ 60 h 271"/>
                <a:gd name="T40" fmla="*/ 361 w 362"/>
                <a:gd name="T41" fmla="*/ 47 h 271"/>
                <a:gd name="T42" fmla="*/ 357 w 362"/>
                <a:gd name="T43" fmla="*/ 36 h 271"/>
                <a:gd name="T44" fmla="*/ 352 w 362"/>
                <a:gd name="T45" fmla="*/ 26 h 271"/>
                <a:gd name="T46" fmla="*/ 344 w 362"/>
                <a:gd name="T47" fmla="*/ 18 h 271"/>
                <a:gd name="T48" fmla="*/ 335 w 362"/>
                <a:gd name="T49" fmla="*/ 10 h 271"/>
                <a:gd name="T50" fmla="*/ 325 w 362"/>
                <a:gd name="T51" fmla="*/ 4 h 271"/>
                <a:gd name="T52" fmla="*/ 313 w 362"/>
                <a:gd name="T53" fmla="*/ 1 h 271"/>
                <a:gd name="T54" fmla="*/ 301 w 362"/>
                <a:gd name="T55" fmla="*/ 0 h 271"/>
                <a:gd name="T56" fmla="*/ 54 w 362"/>
                <a:gd name="T57" fmla="*/ 0 h 271"/>
                <a:gd name="T58" fmla="*/ 42 w 362"/>
                <a:gd name="T59" fmla="*/ 2 h 271"/>
                <a:gd name="T60" fmla="*/ 31 w 362"/>
                <a:gd name="T61" fmla="*/ 7 h 271"/>
                <a:gd name="T62" fmla="*/ 21 w 362"/>
                <a:gd name="T63" fmla="*/ 13 h 271"/>
                <a:gd name="T64" fmla="*/ 13 w 362"/>
                <a:gd name="T65" fmla="*/ 21 h 271"/>
                <a:gd name="T66" fmla="*/ 7 w 362"/>
                <a:gd name="T67" fmla="*/ 31 h 271"/>
                <a:gd name="T68" fmla="*/ 2 w 362"/>
                <a:gd name="T69" fmla="*/ 42 h 271"/>
                <a:gd name="T70" fmla="*/ 0 w 362"/>
                <a:gd name="T71" fmla="*/ 54 h 271"/>
                <a:gd name="T72" fmla="*/ 0 w 362"/>
                <a:gd name="T73" fmla="*/ 271 h 271"/>
                <a:gd name="T74" fmla="*/ 332 w 362"/>
                <a:gd name="T75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2" h="271">
                  <a:moveTo>
                    <a:pt x="60" y="75"/>
                  </a:moveTo>
                  <a:lnTo>
                    <a:pt x="60" y="72"/>
                  </a:lnTo>
                  <a:lnTo>
                    <a:pt x="61" y="68"/>
                  </a:lnTo>
                  <a:lnTo>
                    <a:pt x="62" y="66"/>
                  </a:lnTo>
                  <a:lnTo>
                    <a:pt x="64" y="64"/>
                  </a:lnTo>
                  <a:lnTo>
                    <a:pt x="66" y="62"/>
                  </a:lnTo>
                  <a:lnTo>
                    <a:pt x="69" y="61"/>
                  </a:lnTo>
                  <a:lnTo>
                    <a:pt x="72" y="60"/>
                  </a:lnTo>
                  <a:lnTo>
                    <a:pt x="75" y="60"/>
                  </a:lnTo>
                  <a:lnTo>
                    <a:pt x="287" y="60"/>
                  </a:lnTo>
                  <a:lnTo>
                    <a:pt x="289" y="60"/>
                  </a:lnTo>
                  <a:lnTo>
                    <a:pt x="292" y="61"/>
                  </a:lnTo>
                  <a:lnTo>
                    <a:pt x="294" y="62"/>
                  </a:lnTo>
                  <a:lnTo>
                    <a:pt x="297" y="64"/>
                  </a:lnTo>
                  <a:lnTo>
                    <a:pt x="299" y="66"/>
                  </a:lnTo>
                  <a:lnTo>
                    <a:pt x="300" y="70"/>
                  </a:lnTo>
                  <a:lnTo>
                    <a:pt x="301" y="72"/>
                  </a:lnTo>
                  <a:lnTo>
                    <a:pt x="301" y="75"/>
                  </a:lnTo>
                  <a:lnTo>
                    <a:pt x="301" y="226"/>
                  </a:lnTo>
                  <a:lnTo>
                    <a:pt x="301" y="229"/>
                  </a:lnTo>
                  <a:lnTo>
                    <a:pt x="300" y="231"/>
                  </a:lnTo>
                  <a:lnTo>
                    <a:pt x="299" y="234"/>
                  </a:lnTo>
                  <a:lnTo>
                    <a:pt x="297" y="237"/>
                  </a:lnTo>
                  <a:lnTo>
                    <a:pt x="294" y="239"/>
                  </a:lnTo>
                  <a:lnTo>
                    <a:pt x="292" y="240"/>
                  </a:lnTo>
                  <a:lnTo>
                    <a:pt x="289" y="241"/>
                  </a:lnTo>
                  <a:lnTo>
                    <a:pt x="287" y="241"/>
                  </a:lnTo>
                  <a:lnTo>
                    <a:pt x="75" y="241"/>
                  </a:lnTo>
                  <a:lnTo>
                    <a:pt x="72" y="241"/>
                  </a:lnTo>
                  <a:lnTo>
                    <a:pt x="69" y="240"/>
                  </a:lnTo>
                  <a:lnTo>
                    <a:pt x="66" y="239"/>
                  </a:lnTo>
                  <a:lnTo>
                    <a:pt x="64" y="237"/>
                  </a:lnTo>
                  <a:lnTo>
                    <a:pt x="62" y="234"/>
                  </a:lnTo>
                  <a:lnTo>
                    <a:pt x="61" y="231"/>
                  </a:lnTo>
                  <a:lnTo>
                    <a:pt x="60" y="229"/>
                  </a:lnTo>
                  <a:lnTo>
                    <a:pt x="60" y="226"/>
                  </a:lnTo>
                  <a:lnTo>
                    <a:pt x="60" y="75"/>
                  </a:lnTo>
                  <a:close/>
                  <a:moveTo>
                    <a:pt x="332" y="271"/>
                  </a:moveTo>
                  <a:lnTo>
                    <a:pt x="362" y="271"/>
                  </a:lnTo>
                  <a:lnTo>
                    <a:pt x="362" y="60"/>
                  </a:lnTo>
                  <a:lnTo>
                    <a:pt x="362" y="54"/>
                  </a:lnTo>
                  <a:lnTo>
                    <a:pt x="361" y="47"/>
                  </a:lnTo>
                  <a:lnTo>
                    <a:pt x="358" y="42"/>
                  </a:lnTo>
                  <a:lnTo>
                    <a:pt x="357" y="36"/>
                  </a:lnTo>
                  <a:lnTo>
                    <a:pt x="354" y="31"/>
                  </a:lnTo>
                  <a:lnTo>
                    <a:pt x="352" y="26"/>
                  </a:lnTo>
                  <a:lnTo>
                    <a:pt x="347" y="21"/>
                  </a:lnTo>
                  <a:lnTo>
                    <a:pt x="344" y="18"/>
                  </a:lnTo>
                  <a:lnTo>
                    <a:pt x="340" y="13"/>
                  </a:lnTo>
                  <a:lnTo>
                    <a:pt x="335" y="10"/>
                  </a:lnTo>
                  <a:lnTo>
                    <a:pt x="330" y="7"/>
                  </a:lnTo>
                  <a:lnTo>
                    <a:pt x="325" y="4"/>
                  </a:lnTo>
                  <a:lnTo>
                    <a:pt x="320" y="2"/>
                  </a:lnTo>
                  <a:lnTo>
                    <a:pt x="313" y="1"/>
                  </a:lnTo>
                  <a:lnTo>
                    <a:pt x="308" y="0"/>
                  </a:lnTo>
                  <a:lnTo>
                    <a:pt x="301" y="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8" y="1"/>
                  </a:lnTo>
                  <a:lnTo>
                    <a:pt x="42" y="2"/>
                  </a:lnTo>
                  <a:lnTo>
                    <a:pt x="37" y="4"/>
                  </a:lnTo>
                  <a:lnTo>
                    <a:pt x="31" y="7"/>
                  </a:lnTo>
                  <a:lnTo>
                    <a:pt x="27" y="10"/>
                  </a:lnTo>
                  <a:lnTo>
                    <a:pt x="21" y="13"/>
                  </a:lnTo>
                  <a:lnTo>
                    <a:pt x="18" y="18"/>
                  </a:lnTo>
                  <a:lnTo>
                    <a:pt x="13" y="21"/>
                  </a:lnTo>
                  <a:lnTo>
                    <a:pt x="10" y="26"/>
                  </a:lnTo>
                  <a:lnTo>
                    <a:pt x="7" y="31"/>
                  </a:lnTo>
                  <a:lnTo>
                    <a:pt x="5" y="36"/>
                  </a:lnTo>
                  <a:lnTo>
                    <a:pt x="2" y="42"/>
                  </a:lnTo>
                  <a:lnTo>
                    <a:pt x="1" y="47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30" y="271"/>
                  </a:lnTo>
                  <a:lnTo>
                    <a:pt x="332" y="2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8" name="Freeform 1632">
              <a:extLst>
                <a:ext uri="{FF2B5EF4-FFF2-40B4-BE49-F238E27FC236}">
                  <a16:creationId xmlns:a16="http://schemas.microsoft.com/office/drawing/2014/main" id="{32C10E2D-7492-462D-9F53-98946445A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00" y="5349875"/>
              <a:ext cx="134938" cy="38100"/>
            </a:xfrm>
            <a:custGeom>
              <a:avLst/>
              <a:gdLst>
                <a:gd name="T0" fmla="*/ 422 w 423"/>
                <a:gd name="T1" fmla="*/ 18 h 121"/>
                <a:gd name="T2" fmla="*/ 422 w 423"/>
                <a:gd name="T3" fmla="*/ 17 h 121"/>
                <a:gd name="T4" fmla="*/ 422 w 423"/>
                <a:gd name="T5" fmla="*/ 17 h 121"/>
                <a:gd name="T6" fmla="*/ 419 w 423"/>
                <a:gd name="T7" fmla="*/ 10 h 121"/>
                <a:gd name="T8" fmla="*/ 417 w 423"/>
                <a:gd name="T9" fmla="*/ 5 h 121"/>
                <a:gd name="T10" fmla="*/ 417 w 423"/>
                <a:gd name="T11" fmla="*/ 4 h 121"/>
                <a:gd name="T12" fmla="*/ 416 w 423"/>
                <a:gd name="T13" fmla="*/ 4 h 121"/>
                <a:gd name="T14" fmla="*/ 415 w 423"/>
                <a:gd name="T15" fmla="*/ 2 h 121"/>
                <a:gd name="T16" fmla="*/ 415 w 423"/>
                <a:gd name="T17" fmla="*/ 0 h 121"/>
                <a:gd name="T18" fmla="*/ 9 w 423"/>
                <a:gd name="T19" fmla="*/ 0 h 121"/>
                <a:gd name="T20" fmla="*/ 8 w 423"/>
                <a:gd name="T21" fmla="*/ 2 h 121"/>
                <a:gd name="T22" fmla="*/ 7 w 423"/>
                <a:gd name="T23" fmla="*/ 4 h 121"/>
                <a:gd name="T24" fmla="*/ 7 w 423"/>
                <a:gd name="T25" fmla="*/ 4 h 121"/>
                <a:gd name="T26" fmla="*/ 7 w 423"/>
                <a:gd name="T27" fmla="*/ 5 h 121"/>
                <a:gd name="T28" fmla="*/ 5 w 423"/>
                <a:gd name="T29" fmla="*/ 10 h 121"/>
                <a:gd name="T30" fmla="*/ 2 w 423"/>
                <a:gd name="T31" fmla="*/ 17 h 121"/>
                <a:gd name="T32" fmla="*/ 2 w 423"/>
                <a:gd name="T33" fmla="*/ 17 h 121"/>
                <a:gd name="T34" fmla="*/ 2 w 423"/>
                <a:gd name="T35" fmla="*/ 18 h 121"/>
                <a:gd name="T36" fmla="*/ 1 w 423"/>
                <a:gd name="T37" fmla="*/ 24 h 121"/>
                <a:gd name="T38" fmla="*/ 0 w 423"/>
                <a:gd name="T39" fmla="*/ 30 h 121"/>
                <a:gd name="T40" fmla="*/ 0 w 423"/>
                <a:gd name="T41" fmla="*/ 107 h 121"/>
                <a:gd name="T42" fmla="*/ 1 w 423"/>
                <a:gd name="T43" fmla="*/ 109 h 121"/>
                <a:gd name="T44" fmla="*/ 2 w 423"/>
                <a:gd name="T45" fmla="*/ 112 h 121"/>
                <a:gd name="T46" fmla="*/ 4 w 423"/>
                <a:gd name="T47" fmla="*/ 114 h 121"/>
                <a:gd name="T48" fmla="*/ 6 w 423"/>
                <a:gd name="T49" fmla="*/ 117 h 121"/>
                <a:gd name="T50" fmla="*/ 8 w 423"/>
                <a:gd name="T51" fmla="*/ 119 h 121"/>
                <a:gd name="T52" fmla="*/ 10 w 423"/>
                <a:gd name="T53" fmla="*/ 120 h 121"/>
                <a:gd name="T54" fmla="*/ 12 w 423"/>
                <a:gd name="T55" fmla="*/ 121 h 121"/>
                <a:gd name="T56" fmla="*/ 16 w 423"/>
                <a:gd name="T57" fmla="*/ 121 h 121"/>
                <a:gd name="T58" fmla="*/ 408 w 423"/>
                <a:gd name="T59" fmla="*/ 121 h 121"/>
                <a:gd name="T60" fmla="*/ 412 w 423"/>
                <a:gd name="T61" fmla="*/ 121 h 121"/>
                <a:gd name="T62" fmla="*/ 414 w 423"/>
                <a:gd name="T63" fmla="*/ 120 h 121"/>
                <a:gd name="T64" fmla="*/ 416 w 423"/>
                <a:gd name="T65" fmla="*/ 119 h 121"/>
                <a:gd name="T66" fmla="*/ 418 w 423"/>
                <a:gd name="T67" fmla="*/ 117 h 121"/>
                <a:gd name="T68" fmla="*/ 421 w 423"/>
                <a:gd name="T69" fmla="*/ 114 h 121"/>
                <a:gd name="T70" fmla="*/ 422 w 423"/>
                <a:gd name="T71" fmla="*/ 112 h 121"/>
                <a:gd name="T72" fmla="*/ 423 w 423"/>
                <a:gd name="T73" fmla="*/ 109 h 121"/>
                <a:gd name="T74" fmla="*/ 423 w 423"/>
                <a:gd name="T75" fmla="*/ 107 h 121"/>
                <a:gd name="T76" fmla="*/ 423 w 423"/>
                <a:gd name="T77" fmla="*/ 30 h 121"/>
                <a:gd name="T78" fmla="*/ 423 w 423"/>
                <a:gd name="T79" fmla="*/ 24 h 121"/>
                <a:gd name="T80" fmla="*/ 422 w 423"/>
                <a:gd name="T81" fmla="*/ 18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23" h="121">
                  <a:moveTo>
                    <a:pt x="422" y="18"/>
                  </a:moveTo>
                  <a:lnTo>
                    <a:pt x="422" y="17"/>
                  </a:lnTo>
                  <a:lnTo>
                    <a:pt x="422" y="17"/>
                  </a:lnTo>
                  <a:lnTo>
                    <a:pt x="419" y="10"/>
                  </a:lnTo>
                  <a:lnTo>
                    <a:pt x="417" y="5"/>
                  </a:lnTo>
                  <a:lnTo>
                    <a:pt x="417" y="4"/>
                  </a:lnTo>
                  <a:lnTo>
                    <a:pt x="416" y="4"/>
                  </a:lnTo>
                  <a:lnTo>
                    <a:pt x="415" y="2"/>
                  </a:lnTo>
                  <a:lnTo>
                    <a:pt x="415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5" y="1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1" y="24"/>
                  </a:lnTo>
                  <a:lnTo>
                    <a:pt x="0" y="30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2" y="112"/>
                  </a:lnTo>
                  <a:lnTo>
                    <a:pt x="4" y="114"/>
                  </a:lnTo>
                  <a:lnTo>
                    <a:pt x="6" y="117"/>
                  </a:lnTo>
                  <a:lnTo>
                    <a:pt x="8" y="119"/>
                  </a:lnTo>
                  <a:lnTo>
                    <a:pt x="10" y="120"/>
                  </a:lnTo>
                  <a:lnTo>
                    <a:pt x="12" y="121"/>
                  </a:lnTo>
                  <a:lnTo>
                    <a:pt x="16" y="121"/>
                  </a:lnTo>
                  <a:lnTo>
                    <a:pt x="408" y="121"/>
                  </a:lnTo>
                  <a:lnTo>
                    <a:pt x="412" y="121"/>
                  </a:lnTo>
                  <a:lnTo>
                    <a:pt x="414" y="120"/>
                  </a:lnTo>
                  <a:lnTo>
                    <a:pt x="416" y="119"/>
                  </a:lnTo>
                  <a:lnTo>
                    <a:pt x="418" y="117"/>
                  </a:lnTo>
                  <a:lnTo>
                    <a:pt x="421" y="114"/>
                  </a:lnTo>
                  <a:lnTo>
                    <a:pt x="422" y="112"/>
                  </a:lnTo>
                  <a:lnTo>
                    <a:pt x="423" y="109"/>
                  </a:lnTo>
                  <a:lnTo>
                    <a:pt x="423" y="107"/>
                  </a:lnTo>
                  <a:lnTo>
                    <a:pt x="423" y="30"/>
                  </a:lnTo>
                  <a:lnTo>
                    <a:pt x="423" y="24"/>
                  </a:lnTo>
                  <a:lnTo>
                    <a:pt x="42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9" name="Freeform 1633">
              <a:extLst>
                <a:ext uri="{FF2B5EF4-FFF2-40B4-BE49-F238E27FC236}">
                  <a16:creationId xmlns:a16="http://schemas.microsoft.com/office/drawing/2014/main" id="{4FA8B819-0160-4EA0-86E9-6D9D4C17F1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8313" y="5253038"/>
              <a:ext cx="114300" cy="87313"/>
            </a:xfrm>
            <a:custGeom>
              <a:avLst/>
              <a:gdLst>
                <a:gd name="T0" fmla="*/ 302 w 362"/>
                <a:gd name="T1" fmla="*/ 227 h 273"/>
                <a:gd name="T2" fmla="*/ 301 w 362"/>
                <a:gd name="T3" fmla="*/ 233 h 273"/>
                <a:gd name="T4" fmla="*/ 298 w 362"/>
                <a:gd name="T5" fmla="*/ 237 h 273"/>
                <a:gd name="T6" fmla="*/ 292 w 362"/>
                <a:gd name="T7" fmla="*/ 241 h 273"/>
                <a:gd name="T8" fmla="*/ 287 w 362"/>
                <a:gd name="T9" fmla="*/ 242 h 273"/>
                <a:gd name="T10" fmla="*/ 72 w 362"/>
                <a:gd name="T11" fmla="*/ 242 h 273"/>
                <a:gd name="T12" fmla="*/ 67 w 362"/>
                <a:gd name="T13" fmla="*/ 239 h 273"/>
                <a:gd name="T14" fmla="*/ 63 w 362"/>
                <a:gd name="T15" fmla="*/ 235 h 273"/>
                <a:gd name="T16" fmla="*/ 61 w 362"/>
                <a:gd name="T17" fmla="*/ 231 h 273"/>
                <a:gd name="T18" fmla="*/ 60 w 362"/>
                <a:gd name="T19" fmla="*/ 76 h 273"/>
                <a:gd name="T20" fmla="*/ 61 w 362"/>
                <a:gd name="T21" fmla="*/ 70 h 273"/>
                <a:gd name="T22" fmla="*/ 64 w 362"/>
                <a:gd name="T23" fmla="*/ 66 h 273"/>
                <a:gd name="T24" fmla="*/ 70 w 362"/>
                <a:gd name="T25" fmla="*/ 62 h 273"/>
                <a:gd name="T26" fmla="*/ 75 w 362"/>
                <a:gd name="T27" fmla="*/ 61 h 273"/>
                <a:gd name="T28" fmla="*/ 290 w 362"/>
                <a:gd name="T29" fmla="*/ 61 h 273"/>
                <a:gd name="T30" fmla="*/ 296 w 362"/>
                <a:gd name="T31" fmla="*/ 64 h 273"/>
                <a:gd name="T32" fmla="*/ 299 w 362"/>
                <a:gd name="T33" fmla="*/ 68 h 273"/>
                <a:gd name="T34" fmla="*/ 301 w 362"/>
                <a:gd name="T35" fmla="*/ 73 h 273"/>
                <a:gd name="T36" fmla="*/ 60 w 362"/>
                <a:gd name="T37" fmla="*/ 0 h 273"/>
                <a:gd name="T38" fmla="*/ 42 w 362"/>
                <a:gd name="T39" fmla="*/ 4 h 273"/>
                <a:gd name="T40" fmla="*/ 27 w 362"/>
                <a:gd name="T41" fmla="*/ 12 h 273"/>
                <a:gd name="T42" fmla="*/ 18 w 362"/>
                <a:gd name="T43" fmla="*/ 18 h 273"/>
                <a:gd name="T44" fmla="*/ 5 w 362"/>
                <a:gd name="T45" fmla="*/ 38 h 273"/>
                <a:gd name="T46" fmla="*/ 1 w 362"/>
                <a:gd name="T47" fmla="*/ 49 h 273"/>
                <a:gd name="T48" fmla="*/ 0 w 362"/>
                <a:gd name="T49" fmla="*/ 61 h 273"/>
                <a:gd name="T50" fmla="*/ 362 w 362"/>
                <a:gd name="T51" fmla="*/ 273 h 273"/>
                <a:gd name="T52" fmla="*/ 362 w 362"/>
                <a:gd name="T53" fmla="*/ 55 h 273"/>
                <a:gd name="T54" fmla="*/ 360 w 362"/>
                <a:gd name="T55" fmla="*/ 44 h 273"/>
                <a:gd name="T56" fmla="*/ 352 w 362"/>
                <a:gd name="T57" fmla="*/ 27 h 273"/>
                <a:gd name="T58" fmla="*/ 340 w 362"/>
                <a:gd name="T59" fmla="*/ 15 h 273"/>
                <a:gd name="T60" fmla="*/ 328 w 362"/>
                <a:gd name="T61" fmla="*/ 7 h 273"/>
                <a:gd name="T62" fmla="*/ 311 w 362"/>
                <a:gd name="T63" fmla="*/ 2 h 273"/>
                <a:gd name="T64" fmla="*/ 121 w 362"/>
                <a:gd name="T6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2" h="273">
                  <a:moveTo>
                    <a:pt x="302" y="76"/>
                  </a:moveTo>
                  <a:lnTo>
                    <a:pt x="302" y="227"/>
                  </a:lnTo>
                  <a:lnTo>
                    <a:pt x="301" y="231"/>
                  </a:lnTo>
                  <a:lnTo>
                    <a:pt x="301" y="233"/>
                  </a:lnTo>
                  <a:lnTo>
                    <a:pt x="299" y="235"/>
                  </a:lnTo>
                  <a:lnTo>
                    <a:pt x="298" y="237"/>
                  </a:lnTo>
                  <a:lnTo>
                    <a:pt x="296" y="239"/>
                  </a:lnTo>
                  <a:lnTo>
                    <a:pt x="292" y="241"/>
                  </a:lnTo>
                  <a:lnTo>
                    <a:pt x="290" y="242"/>
                  </a:lnTo>
                  <a:lnTo>
                    <a:pt x="287" y="242"/>
                  </a:lnTo>
                  <a:lnTo>
                    <a:pt x="75" y="242"/>
                  </a:lnTo>
                  <a:lnTo>
                    <a:pt x="72" y="242"/>
                  </a:lnTo>
                  <a:lnTo>
                    <a:pt x="70" y="241"/>
                  </a:lnTo>
                  <a:lnTo>
                    <a:pt x="67" y="239"/>
                  </a:lnTo>
                  <a:lnTo>
                    <a:pt x="64" y="237"/>
                  </a:lnTo>
                  <a:lnTo>
                    <a:pt x="63" y="235"/>
                  </a:lnTo>
                  <a:lnTo>
                    <a:pt x="61" y="233"/>
                  </a:lnTo>
                  <a:lnTo>
                    <a:pt x="61" y="231"/>
                  </a:lnTo>
                  <a:lnTo>
                    <a:pt x="60" y="227"/>
                  </a:lnTo>
                  <a:lnTo>
                    <a:pt x="60" y="76"/>
                  </a:lnTo>
                  <a:lnTo>
                    <a:pt x="61" y="73"/>
                  </a:lnTo>
                  <a:lnTo>
                    <a:pt x="61" y="70"/>
                  </a:lnTo>
                  <a:lnTo>
                    <a:pt x="63" y="68"/>
                  </a:lnTo>
                  <a:lnTo>
                    <a:pt x="64" y="66"/>
                  </a:lnTo>
                  <a:lnTo>
                    <a:pt x="67" y="64"/>
                  </a:lnTo>
                  <a:lnTo>
                    <a:pt x="70" y="62"/>
                  </a:lnTo>
                  <a:lnTo>
                    <a:pt x="72" y="61"/>
                  </a:lnTo>
                  <a:lnTo>
                    <a:pt x="75" y="61"/>
                  </a:lnTo>
                  <a:lnTo>
                    <a:pt x="287" y="61"/>
                  </a:lnTo>
                  <a:lnTo>
                    <a:pt x="290" y="61"/>
                  </a:lnTo>
                  <a:lnTo>
                    <a:pt x="292" y="62"/>
                  </a:lnTo>
                  <a:lnTo>
                    <a:pt x="296" y="64"/>
                  </a:lnTo>
                  <a:lnTo>
                    <a:pt x="298" y="66"/>
                  </a:lnTo>
                  <a:lnTo>
                    <a:pt x="299" y="68"/>
                  </a:lnTo>
                  <a:lnTo>
                    <a:pt x="301" y="70"/>
                  </a:lnTo>
                  <a:lnTo>
                    <a:pt x="301" y="73"/>
                  </a:lnTo>
                  <a:lnTo>
                    <a:pt x="302" y="76"/>
                  </a:lnTo>
                  <a:close/>
                  <a:moveTo>
                    <a:pt x="60" y="0"/>
                  </a:moveTo>
                  <a:lnTo>
                    <a:pt x="51" y="2"/>
                  </a:lnTo>
                  <a:lnTo>
                    <a:pt x="42" y="4"/>
                  </a:lnTo>
                  <a:lnTo>
                    <a:pt x="35" y="7"/>
                  </a:lnTo>
                  <a:lnTo>
                    <a:pt x="27" y="12"/>
                  </a:lnTo>
                  <a:lnTo>
                    <a:pt x="22" y="15"/>
                  </a:lnTo>
                  <a:lnTo>
                    <a:pt x="18" y="18"/>
                  </a:lnTo>
                  <a:lnTo>
                    <a:pt x="10" y="27"/>
                  </a:lnTo>
                  <a:lnTo>
                    <a:pt x="5" y="38"/>
                  </a:lnTo>
                  <a:lnTo>
                    <a:pt x="2" y="44"/>
                  </a:lnTo>
                  <a:lnTo>
                    <a:pt x="1" y="49"/>
                  </a:lnTo>
                  <a:lnTo>
                    <a:pt x="0" y="55"/>
                  </a:lnTo>
                  <a:lnTo>
                    <a:pt x="0" y="61"/>
                  </a:lnTo>
                  <a:lnTo>
                    <a:pt x="0" y="273"/>
                  </a:lnTo>
                  <a:lnTo>
                    <a:pt x="362" y="273"/>
                  </a:lnTo>
                  <a:lnTo>
                    <a:pt x="362" y="61"/>
                  </a:lnTo>
                  <a:lnTo>
                    <a:pt x="362" y="55"/>
                  </a:lnTo>
                  <a:lnTo>
                    <a:pt x="361" y="49"/>
                  </a:lnTo>
                  <a:lnTo>
                    <a:pt x="360" y="44"/>
                  </a:lnTo>
                  <a:lnTo>
                    <a:pt x="358" y="38"/>
                  </a:lnTo>
                  <a:lnTo>
                    <a:pt x="352" y="27"/>
                  </a:lnTo>
                  <a:lnTo>
                    <a:pt x="344" y="18"/>
                  </a:lnTo>
                  <a:lnTo>
                    <a:pt x="340" y="15"/>
                  </a:lnTo>
                  <a:lnTo>
                    <a:pt x="335" y="12"/>
                  </a:lnTo>
                  <a:lnTo>
                    <a:pt x="328" y="7"/>
                  </a:lnTo>
                  <a:lnTo>
                    <a:pt x="320" y="4"/>
                  </a:lnTo>
                  <a:lnTo>
                    <a:pt x="311" y="2"/>
                  </a:lnTo>
                  <a:lnTo>
                    <a:pt x="302" y="0"/>
                  </a:lnTo>
                  <a:lnTo>
                    <a:pt x="121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0" name="Freeform 1634">
              <a:extLst>
                <a:ext uri="{FF2B5EF4-FFF2-40B4-BE49-F238E27FC236}">
                  <a16:creationId xmlns:a16="http://schemas.microsoft.com/office/drawing/2014/main" id="{2C93C243-2B14-4681-B84A-CD4AAEC1D3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325" y="5253038"/>
              <a:ext cx="115888" cy="87313"/>
            </a:xfrm>
            <a:custGeom>
              <a:avLst/>
              <a:gdLst>
                <a:gd name="T0" fmla="*/ 302 w 363"/>
                <a:gd name="T1" fmla="*/ 231 h 273"/>
                <a:gd name="T2" fmla="*/ 300 w 363"/>
                <a:gd name="T3" fmla="*/ 235 h 273"/>
                <a:gd name="T4" fmla="*/ 295 w 363"/>
                <a:gd name="T5" fmla="*/ 239 h 273"/>
                <a:gd name="T6" fmla="*/ 290 w 363"/>
                <a:gd name="T7" fmla="*/ 242 h 273"/>
                <a:gd name="T8" fmla="*/ 75 w 363"/>
                <a:gd name="T9" fmla="*/ 242 h 273"/>
                <a:gd name="T10" fmla="*/ 70 w 363"/>
                <a:gd name="T11" fmla="*/ 241 h 273"/>
                <a:gd name="T12" fmla="*/ 65 w 363"/>
                <a:gd name="T13" fmla="*/ 237 h 273"/>
                <a:gd name="T14" fmla="*/ 62 w 363"/>
                <a:gd name="T15" fmla="*/ 233 h 273"/>
                <a:gd name="T16" fmla="*/ 61 w 363"/>
                <a:gd name="T17" fmla="*/ 227 h 273"/>
                <a:gd name="T18" fmla="*/ 61 w 363"/>
                <a:gd name="T19" fmla="*/ 73 h 273"/>
                <a:gd name="T20" fmla="*/ 63 w 363"/>
                <a:gd name="T21" fmla="*/ 68 h 273"/>
                <a:gd name="T22" fmla="*/ 67 w 363"/>
                <a:gd name="T23" fmla="*/ 64 h 273"/>
                <a:gd name="T24" fmla="*/ 73 w 363"/>
                <a:gd name="T25" fmla="*/ 61 h 273"/>
                <a:gd name="T26" fmla="*/ 286 w 363"/>
                <a:gd name="T27" fmla="*/ 61 h 273"/>
                <a:gd name="T28" fmla="*/ 293 w 363"/>
                <a:gd name="T29" fmla="*/ 62 h 273"/>
                <a:gd name="T30" fmla="*/ 297 w 363"/>
                <a:gd name="T31" fmla="*/ 66 h 273"/>
                <a:gd name="T32" fmla="*/ 301 w 363"/>
                <a:gd name="T33" fmla="*/ 70 h 273"/>
                <a:gd name="T34" fmla="*/ 302 w 363"/>
                <a:gd name="T35" fmla="*/ 76 h 273"/>
                <a:gd name="T36" fmla="*/ 363 w 363"/>
                <a:gd name="T37" fmla="*/ 61 h 273"/>
                <a:gd name="T38" fmla="*/ 362 w 363"/>
                <a:gd name="T39" fmla="*/ 49 h 273"/>
                <a:gd name="T40" fmla="*/ 357 w 363"/>
                <a:gd name="T41" fmla="*/ 38 h 273"/>
                <a:gd name="T42" fmla="*/ 345 w 363"/>
                <a:gd name="T43" fmla="*/ 18 h 273"/>
                <a:gd name="T44" fmla="*/ 336 w 363"/>
                <a:gd name="T45" fmla="*/ 12 h 273"/>
                <a:gd name="T46" fmla="*/ 320 w 363"/>
                <a:gd name="T47" fmla="*/ 4 h 273"/>
                <a:gd name="T48" fmla="*/ 302 w 363"/>
                <a:gd name="T49" fmla="*/ 0 h 273"/>
                <a:gd name="T50" fmla="*/ 61 w 363"/>
                <a:gd name="T51" fmla="*/ 0 h 273"/>
                <a:gd name="T52" fmla="*/ 43 w 363"/>
                <a:gd name="T53" fmla="*/ 4 h 273"/>
                <a:gd name="T54" fmla="*/ 26 w 363"/>
                <a:gd name="T55" fmla="*/ 12 h 273"/>
                <a:gd name="T56" fmla="*/ 18 w 363"/>
                <a:gd name="T57" fmla="*/ 18 h 273"/>
                <a:gd name="T58" fmla="*/ 5 w 363"/>
                <a:gd name="T59" fmla="*/ 38 h 273"/>
                <a:gd name="T60" fmla="*/ 1 w 363"/>
                <a:gd name="T61" fmla="*/ 49 h 273"/>
                <a:gd name="T62" fmla="*/ 0 w 363"/>
                <a:gd name="T63" fmla="*/ 61 h 273"/>
                <a:gd name="T64" fmla="*/ 363 w 363"/>
                <a:gd name="T65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3" h="273">
                  <a:moveTo>
                    <a:pt x="302" y="227"/>
                  </a:moveTo>
                  <a:lnTo>
                    <a:pt x="302" y="231"/>
                  </a:lnTo>
                  <a:lnTo>
                    <a:pt x="301" y="233"/>
                  </a:lnTo>
                  <a:lnTo>
                    <a:pt x="300" y="235"/>
                  </a:lnTo>
                  <a:lnTo>
                    <a:pt x="297" y="237"/>
                  </a:lnTo>
                  <a:lnTo>
                    <a:pt x="295" y="239"/>
                  </a:lnTo>
                  <a:lnTo>
                    <a:pt x="293" y="241"/>
                  </a:lnTo>
                  <a:lnTo>
                    <a:pt x="290" y="242"/>
                  </a:lnTo>
                  <a:lnTo>
                    <a:pt x="286" y="242"/>
                  </a:lnTo>
                  <a:lnTo>
                    <a:pt x="75" y="242"/>
                  </a:lnTo>
                  <a:lnTo>
                    <a:pt x="73" y="242"/>
                  </a:lnTo>
                  <a:lnTo>
                    <a:pt x="70" y="241"/>
                  </a:lnTo>
                  <a:lnTo>
                    <a:pt x="67" y="239"/>
                  </a:lnTo>
                  <a:lnTo>
                    <a:pt x="65" y="237"/>
                  </a:lnTo>
                  <a:lnTo>
                    <a:pt x="63" y="235"/>
                  </a:lnTo>
                  <a:lnTo>
                    <a:pt x="62" y="233"/>
                  </a:lnTo>
                  <a:lnTo>
                    <a:pt x="61" y="231"/>
                  </a:lnTo>
                  <a:lnTo>
                    <a:pt x="61" y="227"/>
                  </a:lnTo>
                  <a:lnTo>
                    <a:pt x="61" y="76"/>
                  </a:lnTo>
                  <a:lnTo>
                    <a:pt x="61" y="73"/>
                  </a:lnTo>
                  <a:lnTo>
                    <a:pt x="62" y="70"/>
                  </a:lnTo>
                  <a:lnTo>
                    <a:pt x="63" y="68"/>
                  </a:lnTo>
                  <a:lnTo>
                    <a:pt x="65" y="66"/>
                  </a:lnTo>
                  <a:lnTo>
                    <a:pt x="67" y="64"/>
                  </a:lnTo>
                  <a:lnTo>
                    <a:pt x="70" y="62"/>
                  </a:lnTo>
                  <a:lnTo>
                    <a:pt x="73" y="61"/>
                  </a:lnTo>
                  <a:lnTo>
                    <a:pt x="75" y="61"/>
                  </a:lnTo>
                  <a:lnTo>
                    <a:pt x="286" y="61"/>
                  </a:lnTo>
                  <a:lnTo>
                    <a:pt x="290" y="61"/>
                  </a:lnTo>
                  <a:lnTo>
                    <a:pt x="293" y="62"/>
                  </a:lnTo>
                  <a:lnTo>
                    <a:pt x="295" y="64"/>
                  </a:lnTo>
                  <a:lnTo>
                    <a:pt x="297" y="66"/>
                  </a:lnTo>
                  <a:lnTo>
                    <a:pt x="300" y="68"/>
                  </a:lnTo>
                  <a:lnTo>
                    <a:pt x="301" y="70"/>
                  </a:lnTo>
                  <a:lnTo>
                    <a:pt x="302" y="73"/>
                  </a:lnTo>
                  <a:lnTo>
                    <a:pt x="302" y="76"/>
                  </a:lnTo>
                  <a:lnTo>
                    <a:pt x="302" y="227"/>
                  </a:lnTo>
                  <a:close/>
                  <a:moveTo>
                    <a:pt x="363" y="61"/>
                  </a:moveTo>
                  <a:lnTo>
                    <a:pt x="362" y="55"/>
                  </a:lnTo>
                  <a:lnTo>
                    <a:pt x="362" y="49"/>
                  </a:lnTo>
                  <a:lnTo>
                    <a:pt x="359" y="44"/>
                  </a:lnTo>
                  <a:lnTo>
                    <a:pt x="357" y="38"/>
                  </a:lnTo>
                  <a:lnTo>
                    <a:pt x="352" y="27"/>
                  </a:lnTo>
                  <a:lnTo>
                    <a:pt x="345" y="18"/>
                  </a:lnTo>
                  <a:lnTo>
                    <a:pt x="341" y="15"/>
                  </a:lnTo>
                  <a:lnTo>
                    <a:pt x="336" y="12"/>
                  </a:lnTo>
                  <a:lnTo>
                    <a:pt x="328" y="7"/>
                  </a:lnTo>
                  <a:lnTo>
                    <a:pt x="320" y="4"/>
                  </a:lnTo>
                  <a:lnTo>
                    <a:pt x="311" y="2"/>
                  </a:lnTo>
                  <a:lnTo>
                    <a:pt x="302" y="0"/>
                  </a:lnTo>
                  <a:lnTo>
                    <a:pt x="242" y="0"/>
                  </a:lnTo>
                  <a:lnTo>
                    <a:pt x="61" y="0"/>
                  </a:lnTo>
                  <a:lnTo>
                    <a:pt x="52" y="2"/>
                  </a:lnTo>
                  <a:lnTo>
                    <a:pt x="43" y="4"/>
                  </a:lnTo>
                  <a:lnTo>
                    <a:pt x="34" y="7"/>
                  </a:lnTo>
                  <a:lnTo>
                    <a:pt x="26" y="12"/>
                  </a:lnTo>
                  <a:lnTo>
                    <a:pt x="22" y="15"/>
                  </a:lnTo>
                  <a:lnTo>
                    <a:pt x="18" y="18"/>
                  </a:lnTo>
                  <a:lnTo>
                    <a:pt x="11" y="27"/>
                  </a:lnTo>
                  <a:lnTo>
                    <a:pt x="5" y="38"/>
                  </a:lnTo>
                  <a:lnTo>
                    <a:pt x="3" y="44"/>
                  </a:lnTo>
                  <a:lnTo>
                    <a:pt x="1" y="49"/>
                  </a:lnTo>
                  <a:lnTo>
                    <a:pt x="1" y="55"/>
                  </a:lnTo>
                  <a:lnTo>
                    <a:pt x="0" y="61"/>
                  </a:lnTo>
                  <a:lnTo>
                    <a:pt x="0" y="273"/>
                  </a:lnTo>
                  <a:lnTo>
                    <a:pt x="363" y="273"/>
                  </a:lnTo>
                  <a:lnTo>
                    <a:pt x="36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1" name="Freeform 1635">
              <a:extLst>
                <a:ext uri="{FF2B5EF4-FFF2-40B4-BE49-F238E27FC236}">
                  <a16:creationId xmlns:a16="http://schemas.microsoft.com/office/drawing/2014/main" id="{220CF904-6E1F-487B-91DB-61DBBB3EE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00" y="5349875"/>
              <a:ext cx="134938" cy="38100"/>
            </a:xfrm>
            <a:custGeom>
              <a:avLst/>
              <a:gdLst>
                <a:gd name="T0" fmla="*/ 420 w 423"/>
                <a:gd name="T1" fmla="*/ 16 h 121"/>
                <a:gd name="T2" fmla="*/ 419 w 423"/>
                <a:gd name="T3" fmla="*/ 10 h 121"/>
                <a:gd name="T4" fmla="*/ 416 w 423"/>
                <a:gd name="T5" fmla="*/ 5 h 121"/>
                <a:gd name="T6" fmla="*/ 416 w 423"/>
                <a:gd name="T7" fmla="*/ 4 h 121"/>
                <a:gd name="T8" fmla="*/ 416 w 423"/>
                <a:gd name="T9" fmla="*/ 4 h 121"/>
                <a:gd name="T10" fmla="*/ 415 w 423"/>
                <a:gd name="T11" fmla="*/ 2 h 121"/>
                <a:gd name="T12" fmla="*/ 414 w 423"/>
                <a:gd name="T13" fmla="*/ 0 h 121"/>
                <a:gd name="T14" fmla="*/ 9 w 423"/>
                <a:gd name="T15" fmla="*/ 0 h 121"/>
                <a:gd name="T16" fmla="*/ 8 w 423"/>
                <a:gd name="T17" fmla="*/ 2 h 121"/>
                <a:gd name="T18" fmla="*/ 7 w 423"/>
                <a:gd name="T19" fmla="*/ 4 h 121"/>
                <a:gd name="T20" fmla="*/ 7 w 423"/>
                <a:gd name="T21" fmla="*/ 4 h 121"/>
                <a:gd name="T22" fmla="*/ 7 w 423"/>
                <a:gd name="T23" fmla="*/ 5 h 121"/>
                <a:gd name="T24" fmla="*/ 3 w 423"/>
                <a:gd name="T25" fmla="*/ 10 h 121"/>
                <a:gd name="T26" fmla="*/ 2 w 423"/>
                <a:gd name="T27" fmla="*/ 17 h 121"/>
                <a:gd name="T28" fmla="*/ 2 w 423"/>
                <a:gd name="T29" fmla="*/ 17 h 121"/>
                <a:gd name="T30" fmla="*/ 1 w 423"/>
                <a:gd name="T31" fmla="*/ 18 h 121"/>
                <a:gd name="T32" fmla="*/ 0 w 423"/>
                <a:gd name="T33" fmla="*/ 24 h 121"/>
                <a:gd name="T34" fmla="*/ 0 w 423"/>
                <a:gd name="T35" fmla="*/ 30 h 121"/>
                <a:gd name="T36" fmla="*/ 0 w 423"/>
                <a:gd name="T37" fmla="*/ 107 h 121"/>
                <a:gd name="T38" fmla="*/ 0 w 423"/>
                <a:gd name="T39" fmla="*/ 109 h 121"/>
                <a:gd name="T40" fmla="*/ 1 w 423"/>
                <a:gd name="T41" fmla="*/ 112 h 121"/>
                <a:gd name="T42" fmla="*/ 2 w 423"/>
                <a:gd name="T43" fmla="*/ 114 h 121"/>
                <a:gd name="T44" fmla="*/ 4 w 423"/>
                <a:gd name="T45" fmla="*/ 117 h 121"/>
                <a:gd name="T46" fmla="*/ 7 w 423"/>
                <a:gd name="T47" fmla="*/ 119 h 121"/>
                <a:gd name="T48" fmla="*/ 9 w 423"/>
                <a:gd name="T49" fmla="*/ 120 h 121"/>
                <a:gd name="T50" fmla="*/ 12 w 423"/>
                <a:gd name="T51" fmla="*/ 121 h 121"/>
                <a:gd name="T52" fmla="*/ 15 w 423"/>
                <a:gd name="T53" fmla="*/ 121 h 121"/>
                <a:gd name="T54" fmla="*/ 407 w 423"/>
                <a:gd name="T55" fmla="*/ 121 h 121"/>
                <a:gd name="T56" fmla="*/ 410 w 423"/>
                <a:gd name="T57" fmla="*/ 121 h 121"/>
                <a:gd name="T58" fmla="*/ 414 w 423"/>
                <a:gd name="T59" fmla="*/ 120 h 121"/>
                <a:gd name="T60" fmla="*/ 416 w 423"/>
                <a:gd name="T61" fmla="*/ 119 h 121"/>
                <a:gd name="T62" fmla="*/ 418 w 423"/>
                <a:gd name="T63" fmla="*/ 117 h 121"/>
                <a:gd name="T64" fmla="*/ 420 w 423"/>
                <a:gd name="T65" fmla="*/ 114 h 121"/>
                <a:gd name="T66" fmla="*/ 421 w 423"/>
                <a:gd name="T67" fmla="*/ 112 h 121"/>
                <a:gd name="T68" fmla="*/ 423 w 423"/>
                <a:gd name="T69" fmla="*/ 109 h 121"/>
                <a:gd name="T70" fmla="*/ 423 w 423"/>
                <a:gd name="T71" fmla="*/ 107 h 121"/>
                <a:gd name="T72" fmla="*/ 423 w 423"/>
                <a:gd name="T73" fmla="*/ 30 h 121"/>
                <a:gd name="T74" fmla="*/ 423 w 423"/>
                <a:gd name="T75" fmla="*/ 24 h 121"/>
                <a:gd name="T76" fmla="*/ 421 w 423"/>
                <a:gd name="T77" fmla="*/ 18 h 121"/>
                <a:gd name="T78" fmla="*/ 420 w 423"/>
                <a:gd name="T79" fmla="*/ 17 h 121"/>
                <a:gd name="T80" fmla="*/ 420 w 423"/>
                <a:gd name="T81" fmla="*/ 1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23" h="121">
                  <a:moveTo>
                    <a:pt x="420" y="16"/>
                  </a:moveTo>
                  <a:lnTo>
                    <a:pt x="419" y="10"/>
                  </a:lnTo>
                  <a:lnTo>
                    <a:pt x="416" y="5"/>
                  </a:lnTo>
                  <a:lnTo>
                    <a:pt x="416" y="4"/>
                  </a:lnTo>
                  <a:lnTo>
                    <a:pt x="416" y="4"/>
                  </a:lnTo>
                  <a:lnTo>
                    <a:pt x="415" y="2"/>
                  </a:lnTo>
                  <a:lnTo>
                    <a:pt x="414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3" y="1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1" y="18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0" y="107"/>
                  </a:lnTo>
                  <a:lnTo>
                    <a:pt x="0" y="109"/>
                  </a:lnTo>
                  <a:lnTo>
                    <a:pt x="1" y="112"/>
                  </a:lnTo>
                  <a:lnTo>
                    <a:pt x="2" y="114"/>
                  </a:lnTo>
                  <a:lnTo>
                    <a:pt x="4" y="117"/>
                  </a:lnTo>
                  <a:lnTo>
                    <a:pt x="7" y="119"/>
                  </a:lnTo>
                  <a:lnTo>
                    <a:pt x="9" y="120"/>
                  </a:lnTo>
                  <a:lnTo>
                    <a:pt x="12" y="121"/>
                  </a:lnTo>
                  <a:lnTo>
                    <a:pt x="15" y="121"/>
                  </a:lnTo>
                  <a:lnTo>
                    <a:pt x="407" y="121"/>
                  </a:lnTo>
                  <a:lnTo>
                    <a:pt x="410" y="121"/>
                  </a:lnTo>
                  <a:lnTo>
                    <a:pt x="414" y="120"/>
                  </a:lnTo>
                  <a:lnTo>
                    <a:pt x="416" y="119"/>
                  </a:lnTo>
                  <a:lnTo>
                    <a:pt x="418" y="117"/>
                  </a:lnTo>
                  <a:lnTo>
                    <a:pt x="420" y="114"/>
                  </a:lnTo>
                  <a:lnTo>
                    <a:pt x="421" y="112"/>
                  </a:lnTo>
                  <a:lnTo>
                    <a:pt x="423" y="109"/>
                  </a:lnTo>
                  <a:lnTo>
                    <a:pt x="423" y="107"/>
                  </a:lnTo>
                  <a:lnTo>
                    <a:pt x="423" y="30"/>
                  </a:lnTo>
                  <a:lnTo>
                    <a:pt x="423" y="24"/>
                  </a:lnTo>
                  <a:lnTo>
                    <a:pt x="421" y="18"/>
                  </a:lnTo>
                  <a:lnTo>
                    <a:pt x="420" y="17"/>
                  </a:lnTo>
                  <a:lnTo>
                    <a:pt x="42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92" name="Group 91" descr="Icon of four squares.">
            <a:extLst>
              <a:ext uri="{FF2B5EF4-FFF2-40B4-BE49-F238E27FC236}">
                <a16:creationId xmlns:a16="http://schemas.microsoft.com/office/drawing/2014/main" id="{268D639A-62F0-4F2B-B632-5A45CD6DD13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5420916" y="1368977"/>
            <a:ext cx="287338" cy="285750"/>
            <a:chOff x="4900613" y="3937000"/>
            <a:chExt cx="287338" cy="285750"/>
          </a:xfrm>
          <a:solidFill>
            <a:schemeClr val="bg1"/>
          </a:solidFill>
        </p:grpSpPr>
        <p:sp>
          <p:nvSpPr>
            <p:cNvPr id="93" name="Freeform 4743">
              <a:extLst>
                <a:ext uri="{FF2B5EF4-FFF2-40B4-BE49-F238E27FC236}">
                  <a16:creationId xmlns:a16="http://schemas.microsoft.com/office/drawing/2014/main" id="{A654CD2F-871A-4BFA-805D-636E7B505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3937000"/>
              <a:ext cx="133350" cy="38100"/>
            </a:xfrm>
            <a:custGeom>
              <a:avLst/>
              <a:gdLst>
                <a:gd name="T0" fmla="*/ 346 w 421"/>
                <a:gd name="T1" fmla="*/ 0 h 120"/>
                <a:gd name="T2" fmla="*/ 76 w 421"/>
                <a:gd name="T3" fmla="*/ 0 h 120"/>
                <a:gd name="T4" fmla="*/ 68 w 421"/>
                <a:gd name="T5" fmla="*/ 1 h 120"/>
                <a:gd name="T6" fmla="*/ 61 w 421"/>
                <a:gd name="T7" fmla="*/ 2 h 120"/>
                <a:gd name="T8" fmla="*/ 53 w 421"/>
                <a:gd name="T9" fmla="*/ 3 h 120"/>
                <a:gd name="T10" fmla="*/ 46 w 421"/>
                <a:gd name="T11" fmla="*/ 5 h 120"/>
                <a:gd name="T12" fmla="*/ 40 w 421"/>
                <a:gd name="T13" fmla="*/ 9 h 120"/>
                <a:gd name="T14" fmla="*/ 33 w 421"/>
                <a:gd name="T15" fmla="*/ 12 h 120"/>
                <a:gd name="T16" fmla="*/ 27 w 421"/>
                <a:gd name="T17" fmla="*/ 17 h 120"/>
                <a:gd name="T18" fmla="*/ 22 w 421"/>
                <a:gd name="T19" fmla="*/ 22 h 120"/>
                <a:gd name="T20" fmla="*/ 18 w 421"/>
                <a:gd name="T21" fmla="*/ 27 h 120"/>
                <a:gd name="T22" fmla="*/ 13 w 421"/>
                <a:gd name="T23" fmla="*/ 33 h 120"/>
                <a:gd name="T24" fmla="*/ 10 w 421"/>
                <a:gd name="T25" fmla="*/ 39 h 120"/>
                <a:gd name="T26" fmla="*/ 6 w 421"/>
                <a:gd name="T27" fmla="*/ 46 h 120"/>
                <a:gd name="T28" fmla="*/ 4 w 421"/>
                <a:gd name="T29" fmla="*/ 53 h 120"/>
                <a:gd name="T30" fmla="*/ 2 w 421"/>
                <a:gd name="T31" fmla="*/ 60 h 120"/>
                <a:gd name="T32" fmla="*/ 0 w 421"/>
                <a:gd name="T33" fmla="*/ 67 h 120"/>
                <a:gd name="T34" fmla="*/ 0 w 421"/>
                <a:gd name="T35" fmla="*/ 75 h 120"/>
                <a:gd name="T36" fmla="*/ 0 w 421"/>
                <a:gd name="T37" fmla="*/ 120 h 120"/>
                <a:gd name="T38" fmla="*/ 421 w 421"/>
                <a:gd name="T39" fmla="*/ 120 h 120"/>
                <a:gd name="T40" fmla="*/ 421 w 421"/>
                <a:gd name="T41" fmla="*/ 75 h 120"/>
                <a:gd name="T42" fmla="*/ 421 w 421"/>
                <a:gd name="T43" fmla="*/ 67 h 120"/>
                <a:gd name="T44" fmla="*/ 420 w 421"/>
                <a:gd name="T45" fmla="*/ 60 h 120"/>
                <a:gd name="T46" fmla="*/ 417 w 421"/>
                <a:gd name="T47" fmla="*/ 53 h 120"/>
                <a:gd name="T48" fmla="*/ 415 w 421"/>
                <a:gd name="T49" fmla="*/ 46 h 120"/>
                <a:gd name="T50" fmla="*/ 412 w 421"/>
                <a:gd name="T51" fmla="*/ 39 h 120"/>
                <a:gd name="T52" fmla="*/ 408 w 421"/>
                <a:gd name="T53" fmla="*/ 33 h 120"/>
                <a:gd name="T54" fmla="*/ 403 w 421"/>
                <a:gd name="T55" fmla="*/ 27 h 120"/>
                <a:gd name="T56" fmla="*/ 399 w 421"/>
                <a:gd name="T57" fmla="*/ 22 h 120"/>
                <a:gd name="T58" fmla="*/ 393 w 421"/>
                <a:gd name="T59" fmla="*/ 17 h 120"/>
                <a:gd name="T60" fmla="*/ 387 w 421"/>
                <a:gd name="T61" fmla="*/ 12 h 120"/>
                <a:gd name="T62" fmla="*/ 381 w 421"/>
                <a:gd name="T63" fmla="*/ 9 h 120"/>
                <a:gd name="T64" fmla="*/ 375 w 421"/>
                <a:gd name="T65" fmla="*/ 5 h 120"/>
                <a:gd name="T66" fmla="*/ 368 w 421"/>
                <a:gd name="T67" fmla="*/ 3 h 120"/>
                <a:gd name="T68" fmla="*/ 361 w 421"/>
                <a:gd name="T69" fmla="*/ 2 h 120"/>
                <a:gd name="T70" fmla="*/ 354 w 421"/>
                <a:gd name="T71" fmla="*/ 1 h 120"/>
                <a:gd name="T72" fmla="*/ 346 w 421"/>
                <a:gd name="T73" fmla="*/ 0 h 120"/>
                <a:gd name="T74" fmla="*/ 346 w 421"/>
                <a:gd name="T7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1" h="120">
                  <a:moveTo>
                    <a:pt x="346" y="0"/>
                  </a:moveTo>
                  <a:lnTo>
                    <a:pt x="76" y="0"/>
                  </a:lnTo>
                  <a:lnTo>
                    <a:pt x="68" y="1"/>
                  </a:lnTo>
                  <a:lnTo>
                    <a:pt x="61" y="2"/>
                  </a:lnTo>
                  <a:lnTo>
                    <a:pt x="53" y="3"/>
                  </a:lnTo>
                  <a:lnTo>
                    <a:pt x="46" y="5"/>
                  </a:lnTo>
                  <a:lnTo>
                    <a:pt x="40" y="9"/>
                  </a:lnTo>
                  <a:lnTo>
                    <a:pt x="33" y="12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8" y="27"/>
                  </a:lnTo>
                  <a:lnTo>
                    <a:pt x="13" y="33"/>
                  </a:lnTo>
                  <a:lnTo>
                    <a:pt x="10" y="39"/>
                  </a:lnTo>
                  <a:lnTo>
                    <a:pt x="6" y="46"/>
                  </a:lnTo>
                  <a:lnTo>
                    <a:pt x="4" y="53"/>
                  </a:lnTo>
                  <a:lnTo>
                    <a:pt x="2" y="60"/>
                  </a:lnTo>
                  <a:lnTo>
                    <a:pt x="0" y="67"/>
                  </a:lnTo>
                  <a:lnTo>
                    <a:pt x="0" y="75"/>
                  </a:lnTo>
                  <a:lnTo>
                    <a:pt x="0" y="120"/>
                  </a:lnTo>
                  <a:lnTo>
                    <a:pt x="421" y="120"/>
                  </a:lnTo>
                  <a:lnTo>
                    <a:pt x="421" y="75"/>
                  </a:lnTo>
                  <a:lnTo>
                    <a:pt x="421" y="67"/>
                  </a:lnTo>
                  <a:lnTo>
                    <a:pt x="420" y="60"/>
                  </a:lnTo>
                  <a:lnTo>
                    <a:pt x="417" y="53"/>
                  </a:lnTo>
                  <a:lnTo>
                    <a:pt x="415" y="46"/>
                  </a:lnTo>
                  <a:lnTo>
                    <a:pt x="412" y="39"/>
                  </a:lnTo>
                  <a:lnTo>
                    <a:pt x="408" y="33"/>
                  </a:lnTo>
                  <a:lnTo>
                    <a:pt x="403" y="27"/>
                  </a:lnTo>
                  <a:lnTo>
                    <a:pt x="399" y="22"/>
                  </a:lnTo>
                  <a:lnTo>
                    <a:pt x="393" y="17"/>
                  </a:lnTo>
                  <a:lnTo>
                    <a:pt x="387" y="12"/>
                  </a:lnTo>
                  <a:lnTo>
                    <a:pt x="381" y="9"/>
                  </a:lnTo>
                  <a:lnTo>
                    <a:pt x="375" y="5"/>
                  </a:lnTo>
                  <a:lnTo>
                    <a:pt x="368" y="3"/>
                  </a:lnTo>
                  <a:lnTo>
                    <a:pt x="361" y="2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4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4" name="Freeform 4744">
              <a:extLst>
                <a:ext uri="{FF2B5EF4-FFF2-40B4-BE49-F238E27FC236}">
                  <a16:creationId xmlns:a16="http://schemas.microsoft.com/office/drawing/2014/main" id="{5A76ECC7-C209-476D-BB16-D2195C8DD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3984625"/>
              <a:ext cx="133350" cy="85725"/>
            </a:xfrm>
            <a:custGeom>
              <a:avLst/>
              <a:gdLst>
                <a:gd name="T0" fmla="*/ 0 w 421"/>
                <a:gd name="T1" fmla="*/ 196 h 270"/>
                <a:gd name="T2" fmla="*/ 0 w 421"/>
                <a:gd name="T3" fmla="*/ 203 h 270"/>
                <a:gd name="T4" fmla="*/ 2 w 421"/>
                <a:gd name="T5" fmla="*/ 211 h 270"/>
                <a:gd name="T6" fmla="*/ 4 w 421"/>
                <a:gd name="T7" fmla="*/ 218 h 270"/>
                <a:gd name="T8" fmla="*/ 6 w 421"/>
                <a:gd name="T9" fmla="*/ 225 h 270"/>
                <a:gd name="T10" fmla="*/ 10 w 421"/>
                <a:gd name="T11" fmla="*/ 231 h 270"/>
                <a:gd name="T12" fmla="*/ 13 w 421"/>
                <a:gd name="T13" fmla="*/ 238 h 270"/>
                <a:gd name="T14" fmla="*/ 18 w 421"/>
                <a:gd name="T15" fmla="*/ 243 h 270"/>
                <a:gd name="T16" fmla="*/ 22 w 421"/>
                <a:gd name="T17" fmla="*/ 248 h 270"/>
                <a:gd name="T18" fmla="*/ 27 w 421"/>
                <a:gd name="T19" fmla="*/ 254 h 270"/>
                <a:gd name="T20" fmla="*/ 33 w 421"/>
                <a:gd name="T21" fmla="*/ 257 h 270"/>
                <a:gd name="T22" fmla="*/ 40 w 421"/>
                <a:gd name="T23" fmla="*/ 262 h 270"/>
                <a:gd name="T24" fmla="*/ 46 w 421"/>
                <a:gd name="T25" fmla="*/ 264 h 270"/>
                <a:gd name="T26" fmla="*/ 53 w 421"/>
                <a:gd name="T27" fmla="*/ 267 h 270"/>
                <a:gd name="T28" fmla="*/ 61 w 421"/>
                <a:gd name="T29" fmla="*/ 269 h 270"/>
                <a:gd name="T30" fmla="*/ 68 w 421"/>
                <a:gd name="T31" fmla="*/ 270 h 270"/>
                <a:gd name="T32" fmla="*/ 76 w 421"/>
                <a:gd name="T33" fmla="*/ 270 h 270"/>
                <a:gd name="T34" fmla="*/ 346 w 421"/>
                <a:gd name="T35" fmla="*/ 270 h 270"/>
                <a:gd name="T36" fmla="*/ 354 w 421"/>
                <a:gd name="T37" fmla="*/ 270 h 270"/>
                <a:gd name="T38" fmla="*/ 361 w 421"/>
                <a:gd name="T39" fmla="*/ 269 h 270"/>
                <a:gd name="T40" fmla="*/ 368 w 421"/>
                <a:gd name="T41" fmla="*/ 267 h 270"/>
                <a:gd name="T42" fmla="*/ 375 w 421"/>
                <a:gd name="T43" fmla="*/ 264 h 270"/>
                <a:gd name="T44" fmla="*/ 381 w 421"/>
                <a:gd name="T45" fmla="*/ 261 h 270"/>
                <a:gd name="T46" fmla="*/ 387 w 421"/>
                <a:gd name="T47" fmla="*/ 257 h 270"/>
                <a:gd name="T48" fmla="*/ 393 w 421"/>
                <a:gd name="T49" fmla="*/ 253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8 h 270"/>
                <a:gd name="T56" fmla="*/ 412 w 421"/>
                <a:gd name="T57" fmla="*/ 231 h 270"/>
                <a:gd name="T58" fmla="*/ 415 w 421"/>
                <a:gd name="T59" fmla="*/ 225 h 270"/>
                <a:gd name="T60" fmla="*/ 417 w 421"/>
                <a:gd name="T61" fmla="*/ 218 h 270"/>
                <a:gd name="T62" fmla="*/ 420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6"/>
                  </a:moveTo>
                  <a:lnTo>
                    <a:pt x="0" y="203"/>
                  </a:lnTo>
                  <a:lnTo>
                    <a:pt x="2" y="211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10" y="231"/>
                  </a:lnTo>
                  <a:lnTo>
                    <a:pt x="13" y="238"/>
                  </a:lnTo>
                  <a:lnTo>
                    <a:pt x="18" y="243"/>
                  </a:lnTo>
                  <a:lnTo>
                    <a:pt x="22" y="248"/>
                  </a:lnTo>
                  <a:lnTo>
                    <a:pt x="27" y="254"/>
                  </a:lnTo>
                  <a:lnTo>
                    <a:pt x="33" y="257"/>
                  </a:lnTo>
                  <a:lnTo>
                    <a:pt x="40" y="262"/>
                  </a:lnTo>
                  <a:lnTo>
                    <a:pt x="46" y="264"/>
                  </a:lnTo>
                  <a:lnTo>
                    <a:pt x="53" y="267"/>
                  </a:lnTo>
                  <a:lnTo>
                    <a:pt x="61" y="269"/>
                  </a:lnTo>
                  <a:lnTo>
                    <a:pt x="68" y="270"/>
                  </a:lnTo>
                  <a:lnTo>
                    <a:pt x="76" y="270"/>
                  </a:lnTo>
                  <a:lnTo>
                    <a:pt x="346" y="270"/>
                  </a:lnTo>
                  <a:lnTo>
                    <a:pt x="354" y="270"/>
                  </a:lnTo>
                  <a:lnTo>
                    <a:pt x="361" y="269"/>
                  </a:lnTo>
                  <a:lnTo>
                    <a:pt x="368" y="267"/>
                  </a:lnTo>
                  <a:lnTo>
                    <a:pt x="375" y="264"/>
                  </a:lnTo>
                  <a:lnTo>
                    <a:pt x="381" y="261"/>
                  </a:lnTo>
                  <a:lnTo>
                    <a:pt x="387" y="257"/>
                  </a:lnTo>
                  <a:lnTo>
                    <a:pt x="393" y="253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8"/>
                  </a:lnTo>
                  <a:lnTo>
                    <a:pt x="412" y="231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20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5" name="Freeform 4745">
              <a:extLst>
                <a:ext uri="{FF2B5EF4-FFF2-40B4-BE49-F238E27FC236}">
                  <a16:creationId xmlns:a16="http://schemas.microsoft.com/office/drawing/2014/main" id="{842A256B-87AA-4D95-A759-ECE316A17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3937000"/>
              <a:ext cx="134938" cy="38100"/>
            </a:xfrm>
            <a:custGeom>
              <a:avLst/>
              <a:gdLst>
                <a:gd name="T0" fmla="*/ 345 w 421"/>
                <a:gd name="T1" fmla="*/ 0 h 120"/>
                <a:gd name="T2" fmla="*/ 75 w 421"/>
                <a:gd name="T3" fmla="*/ 0 h 120"/>
                <a:gd name="T4" fmla="*/ 67 w 421"/>
                <a:gd name="T5" fmla="*/ 1 h 120"/>
                <a:gd name="T6" fmla="*/ 60 w 421"/>
                <a:gd name="T7" fmla="*/ 2 h 120"/>
                <a:gd name="T8" fmla="*/ 52 w 421"/>
                <a:gd name="T9" fmla="*/ 3 h 120"/>
                <a:gd name="T10" fmla="*/ 45 w 421"/>
                <a:gd name="T11" fmla="*/ 5 h 120"/>
                <a:gd name="T12" fmla="*/ 39 w 421"/>
                <a:gd name="T13" fmla="*/ 9 h 120"/>
                <a:gd name="T14" fmla="*/ 33 w 421"/>
                <a:gd name="T15" fmla="*/ 12 h 120"/>
                <a:gd name="T16" fmla="*/ 27 w 421"/>
                <a:gd name="T17" fmla="*/ 17 h 120"/>
                <a:gd name="T18" fmla="*/ 22 w 421"/>
                <a:gd name="T19" fmla="*/ 22 h 120"/>
                <a:gd name="T20" fmla="*/ 17 w 421"/>
                <a:gd name="T21" fmla="*/ 27 h 120"/>
                <a:gd name="T22" fmla="*/ 13 w 421"/>
                <a:gd name="T23" fmla="*/ 33 h 120"/>
                <a:gd name="T24" fmla="*/ 9 w 421"/>
                <a:gd name="T25" fmla="*/ 39 h 120"/>
                <a:gd name="T26" fmla="*/ 6 w 421"/>
                <a:gd name="T27" fmla="*/ 46 h 120"/>
                <a:gd name="T28" fmla="*/ 4 w 421"/>
                <a:gd name="T29" fmla="*/ 53 h 120"/>
                <a:gd name="T30" fmla="*/ 1 w 421"/>
                <a:gd name="T31" fmla="*/ 60 h 120"/>
                <a:gd name="T32" fmla="*/ 0 w 421"/>
                <a:gd name="T33" fmla="*/ 67 h 120"/>
                <a:gd name="T34" fmla="*/ 0 w 421"/>
                <a:gd name="T35" fmla="*/ 75 h 120"/>
                <a:gd name="T36" fmla="*/ 0 w 421"/>
                <a:gd name="T37" fmla="*/ 120 h 120"/>
                <a:gd name="T38" fmla="*/ 421 w 421"/>
                <a:gd name="T39" fmla="*/ 120 h 120"/>
                <a:gd name="T40" fmla="*/ 421 w 421"/>
                <a:gd name="T41" fmla="*/ 75 h 120"/>
                <a:gd name="T42" fmla="*/ 421 w 421"/>
                <a:gd name="T43" fmla="*/ 67 h 120"/>
                <a:gd name="T44" fmla="*/ 419 w 421"/>
                <a:gd name="T45" fmla="*/ 60 h 120"/>
                <a:gd name="T46" fmla="*/ 417 w 421"/>
                <a:gd name="T47" fmla="*/ 53 h 120"/>
                <a:gd name="T48" fmla="*/ 415 w 421"/>
                <a:gd name="T49" fmla="*/ 46 h 120"/>
                <a:gd name="T50" fmla="*/ 411 w 421"/>
                <a:gd name="T51" fmla="*/ 39 h 120"/>
                <a:gd name="T52" fmla="*/ 408 w 421"/>
                <a:gd name="T53" fmla="*/ 33 h 120"/>
                <a:gd name="T54" fmla="*/ 403 w 421"/>
                <a:gd name="T55" fmla="*/ 27 h 120"/>
                <a:gd name="T56" fmla="*/ 399 w 421"/>
                <a:gd name="T57" fmla="*/ 22 h 120"/>
                <a:gd name="T58" fmla="*/ 393 w 421"/>
                <a:gd name="T59" fmla="*/ 17 h 120"/>
                <a:gd name="T60" fmla="*/ 387 w 421"/>
                <a:gd name="T61" fmla="*/ 12 h 120"/>
                <a:gd name="T62" fmla="*/ 381 w 421"/>
                <a:gd name="T63" fmla="*/ 9 h 120"/>
                <a:gd name="T64" fmla="*/ 374 w 421"/>
                <a:gd name="T65" fmla="*/ 5 h 120"/>
                <a:gd name="T66" fmla="*/ 367 w 421"/>
                <a:gd name="T67" fmla="*/ 3 h 120"/>
                <a:gd name="T68" fmla="*/ 360 w 421"/>
                <a:gd name="T69" fmla="*/ 2 h 120"/>
                <a:gd name="T70" fmla="*/ 353 w 421"/>
                <a:gd name="T71" fmla="*/ 1 h 120"/>
                <a:gd name="T72" fmla="*/ 345 w 421"/>
                <a:gd name="T73" fmla="*/ 0 h 120"/>
                <a:gd name="T74" fmla="*/ 345 w 421"/>
                <a:gd name="T7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1" h="120">
                  <a:moveTo>
                    <a:pt x="345" y="0"/>
                  </a:moveTo>
                  <a:lnTo>
                    <a:pt x="75" y="0"/>
                  </a:lnTo>
                  <a:lnTo>
                    <a:pt x="67" y="1"/>
                  </a:lnTo>
                  <a:lnTo>
                    <a:pt x="60" y="2"/>
                  </a:lnTo>
                  <a:lnTo>
                    <a:pt x="52" y="3"/>
                  </a:lnTo>
                  <a:lnTo>
                    <a:pt x="45" y="5"/>
                  </a:lnTo>
                  <a:lnTo>
                    <a:pt x="39" y="9"/>
                  </a:lnTo>
                  <a:lnTo>
                    <a:pt x="33" y="12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9" y="39"/>
                  </a:lnTo>
                  <a:lnTo>
                    <a:pt x="6" y="46"/>
                  </a:lnTo>
                  <a:lnTo>
                    <a:pt x="4" y="53"/>
                  </a:lnTo>
                  <a:lnTo>
                    <a:pt x="1" y="60"/>
                  </a:lnTo>
                  <a:lnTo>
                    <a:pt x="0" y="67"/>
                  </a:lnTo>
                  <a:lnTo>
                    <a:pt x="0" y="75"/>
                  </a:lnTo>
                  <a:lnTo>
                    <a:pt x="0" y="120"/>
                  </a:lnTo>
                  <a:lnTo>
                    <a:pt x="421" y="120"/>
                  </a:lnTo>
                  <a:lnTo>
                    <a:pt x="421" y="75"/>
                  </a:lnTo>
                  <a:lnTo>
                    <a:pt x="421" y="67"/>
                  </a:lnTo>
                  <a:lnTo>
                    <a:pt x="419" y="60"/>
                  </a:lnTo>
                  <a:lnTo>
                    <a:pt x="417" y="53"/>
                  </a:lnTo>
                  <a:lnTo>
                    <a:pt x="415" y="46"/>
                  </a:lnTo>
                  <a:lnTo>
                    <a:pt x="411" y="39"/>
                  </a:lnTo>
                  <a:lnTo>
                    <a:pt x="408" y="33"/>
                  </a:lnTo>
                  <a:lnTo>
                    <a:pt x="403" y="27"/>
                  </a:lnTo>
                  <a:lnTo>
                    <a:pt x="399" y="22"/>
                  </a:lnTo>
                  <a:lnTo>
                    <a:pt x="393" y="17"/>
                  </a:lnTo>
                  <a:lnTo>
                    <a:pt x="387" y="12"/>
                  </a:lnTo>
                  <a:lnTo>
                    <a:pt x="381" y="9"/>
                  </a:lnTo>
                  <a:lnTo>
                    <a:pt x="374" y="5"/>
                  </a:lnTo>
                  <a:lnTo>
                    <a:pt x="367" y="3"/>
                  </a:lnTo>
                  <a:lnTo>
                    <a:pt x="360" y="2"/>
                  </a:lnTo>
                  <a:lnTo>
                    <a:pt x="353" y="1"/>
                  </a:lnTo>
                  <a:lnTo>
                    <a:pt x="345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6" name="Freeform 4746">
              <a:extLst>
                <a:ext uri="{FF2B5EF4-FFF2-40B4-BE49-F238E27FC236}">
                  <a16:creationId xmlns:a16="http://schemas.microsoft.com/office/drawing/2014/main" id="{3D60C298-D43E-4861-BEA9-D00241730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3984625"/>
              <a:ext cx="134938" cy="85725"/>
            </a:xfrm>
            <a:custGeom>
              <a:avLst/>
              <a:gdLst>
                <a:gd name="T0" fmla="*/ 0 w 421"/>
                <a:gd name="T1" fmla="*/ 196 h 270"/>
                <a:gd name="T2" fmla="*/ 0 w 421"/>
                <a:gd name="T3" fmla="*/ 203 h 270"/>
                <a:gd name="T4" fmla="*/ 1 w 421"/>
                <a:gd name="T5" fmla="*/ 211 h 270"/>
                <a:gd name="T6" fmla="*/ 4 w 421"/>
                <a:gd name="T7" fmla="*/ 218 h 270"/>
                <a:gd name="T8" fmla="*/ 6 w 421"/>
                <a:gd name="T9" fmla="*/ 225 h 270"/>
                <a:gd name="T10" fmla="*/ 9 w 421"/>
                <a:gd name="T11" fmla="*/ 231 h 270"/>
                <a:gd name="T12" fmla="*/ 13 w 421"/>
                <a:gd name="T13" fmla="*/ 238 h 270"/>
                <a:gd name="T14" fmla="*/ 17 w 421"/>
                <a:gd name="T15" fmla="*/ 243 h 270"/>
                <a:gd name="T16" fmla="*/ 22 w 421"/>
                <a:gd name="T17" fmla="*/ 248 h 270"/>
                <a:gd name="T18" fmla="*/ 27 w 421"/>
                <a:gd name="T19" fmla="*/ 254 h 270"/>
                <a:gd name="T20" fmla="*/ 33 w 421"/>
                <a:gd name="T21" fmla="*/ 257 h 270"/>
                <a:gd name="T22" fmla="*/ 39 w 421"/>
                <a:gd name="T23" fmla="*/ 262 h 270"/>
                <a:gd name="T24" fmla="*/ 45 w 421"/>
                <a:gd name="T25" fmla="*/ 264 h 270"/>
                <a:gd name="T26" fmla="*/ 52 w 421"/>
                <a:gd name="T27" fmla="*/ 267 h 270"/>
                <a:gd name="T28" fmla="*/ 60 w 421"/>
                <a:gd name="T29" fmla="*/ 269 h 270"/>
                <a:gd name="T30" fmla="*/ 67 w 421"/>
                <a:gd name="T31" fmla="*/ 270 h 270"/>
                <a:gd name="T32" fmla="*/ 75 w 421"/>
                <a:gd name="T33" fmla="*/ 270 h 270"/>
                <a:gd name="T34" fmla="*/ 345 w 421"/>
                <a:gd name="T35" fmla="*/ 270 h 270"/>
                <a:gd name="T36" fmla="*/ 353 w 421"/>
                <a:gd name="T37" fmla="*/ 270 h 270"/>
                <a:gd name="T38" fmla="*/ 360 w 421"/>
                <a:gd name="T39" fmla="*/ 269 h 270"/>
                <a:gd name="T40" fmla="*/ 367 w 421"/>
                <a:gd name="T41" fmla="*/ 267 h 270"/>
                <a:gd name="T42" fmla="*/ 374 w 421"/>
                <a:gd name="T43" fmla="*/ 264 h 270"/>
                <a:gd name="T44" fmla="*/ 381 w 421"/>
                <a:gd name="T45" fmla="*/ 261 h 270"/>
                <a:gd name="T46" fmla="*/ 387 w 421"/>
                <a:gd name="T47" fmla="*/ 257 h 270"/>
                <a:gd name="T48" fmla="*/ 393 w 421"/>
                <a:gd name="T49" fmla="*/ 253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8 h 270"/>
                <a:gd name="T56" fmla="*/ 411 w 421"/>
                <a:gd name="T57" fmla="*/ 231 h 270"/>
                <a:gd name="T58" fmla="*/ 415 w 421"/>
                <a:gd name="T59" fmla="*/ 225 h 270"/>
                <a:gd name="T60" fmla="*/ 417 w 421"/>
                <a:gd name="T61" fmla="*/ 218 h 270"/>
                <a:gd name="T62" fmla="*/ 419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6"/>
                  </a:moveTo>
                  <a:lnTo>
                    <a:pt x="0" y="203"/>
                  </a:lnTo>
                  <a:lnTo>
                    <a:pt x="1" y="211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9" y="231"/>
                  </a:lnTo>
                  <a:lnTo>
                    <a:pt x="13" y="238"/>
                  </a:lnTo>
                  <a:lnTo>
                    <a:pt x="17" y="243"/>
                  </a:lnTo>
                  <a:lnTo>
                    <a:pt x="22" y="248"/>
                  </a:lnTo>
                  <a:lnTo>
                    <a:pt x="27" y="254"/>
                  </a:lnTo>
                  <a:lnTo>
                    <a:pt x="33" y="257"/>
                  </a:lnTo>
                  <a:lnTo>
                    <a:pt x="39" y="262"/>
                  </a:lnTo>
                  <a:lnTo>
                    <a:pt x="45" y="264"/>
                  </a:lnTo>
                  <a:lnTo>
                    <a:pt x="52" y="267"/>
                  </a:lnTo>
                  <a:lnTo>
                    <a:pt x="60" y="269"/>
                  </a:lnTo>
                  <a:lnTo>
                    <a:pt x="67" y="270"/>
                  </a:lnTo>
                  <a:lnTo>
                    <a:pt x="75" y="270"/>
                  </a:lnTo>
                  <a:lnTo>
                    <a:pt x="345" y="270"/>
                  </a:lnTo>
                  <a:lnTo>
                    <a:pt x="353" y="270"/>
                  </a:lnTo>
                  <a:lnTo>
                    <a:pt x="360" y="269"/>
                  </a:lnTo>
                  <a:lnTo>
                    <a:pt x="367" y="267"/>
                  </a:lnTo>
                  <a:lnTo>
                    <a:pt x="374" y="264"/>
                  </a:lnTo>
                  <a:lnTo>
                    <a:pt x="381" y="261"/>
                  </a:lnTo>
                  <a:lnTo>
                    <a:pt x="387" y="257"/>
                  </a:lnTo>
                  <a:lnTo>
                    <a:pt x="393" y="253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8"/>
                  </a:lnTo>
                  <a:lnTo>
                    <a:pt x="411" y="231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19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7" name="Freeform 4747">
              <a:extLst>
                <a:ext uri="{FF2B5EF4-FFF2-40B4-BE49-F238E27FC236}">
                  <a16:creationId xmlns:a16="http://schemas.microsoft.com/office/drawing/2014/main" id="{29B54F52-E2CA-455A-9AA3-2B20BE885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4137025"/>
              <a:ext cx="133350" cy="85725"/>
            </a:xfrm>
            <a:custGeom>
              <a:avLst/>
              <a:gdLst>
                <a:gd name="T0" fmla="*/ 0 w 421"/>
                <a:gd name="T1" fmla="*/ 194 h 270"/>
                <a:gd name="T2" fmla="*/ 0 w 421"/>
                <a:gd name="T3" fmla="*/ 203 h 270"/>
                <a:gd name="T4" fmla="*/ 2 w 421"/>
                <a:gd name="T5" fmla="*/ 209 h 270"/>
                <a:gd name="T6" fmla="*/ 4 w 421"/>
                <a:gd name="T7" fmla="*/ 218 h 270"/>
                <a:gd name="T8" fmla="*/ 6 w 421"/>
                <a:gd name="T9" fmla="*/ 225 h 270"/>
                <a:gd name="T10" fmla="*/ 10 w 421"/>
                <a:gd name="T11" fmla="*/ 230 h 270"/>
                <a:gd name="T12" fmla="*/ 13 w 421"/>
                <a:gd name="T13" fmla="*/ 237 h 270"/>
                <a:gd name="T14" fmla="*/ 18 w 421"/>
                <a:gd name="T15" fmla="*/ 243 h 270"/>
                <a:gd name="T16" fmla="*/ 22 w 421"/>
                <a:gd name="T17" fmla="*/ 248 h 270"/>
                <a:gd name="T18" fmla="*/ 27 w 421"/>
                <a:gd name="T19" fmla="*/ 252 h 270"/>
                <a:gd name="T20" fmla="*/ 33 w 421"/>
                <a:gd name="T21" fmla="*/ 257 h 270"/>
                <a:gd name="T22" fmla="*/ 40 w 421"/>
                <a:gd name="T23" fmla="*/ 262 h 270"/>
                <a:gd name="T24" fmla="*/ 46 w 421"/>
                <a:gd name="T25" fmla="*/ 264 h 270"/>
                <a:gd name="T26" fmla="*/ 53 w 421"/>
                <a:gd name="T27" fmla="*/ 266 h 270"/>
                <a:gd name="T28" fmla="*/ 61 w 421"/>
                <a:gd name="T29" fmla="*/ 269 h 270"/>
                <a:gd name="T30" fmla="*/ 68 w 421"/>
                <a:gd name="T31" fmla="*/ 270 h 270"/>
                <a:gd name="T32" fmla="*/ 76 w 421"/>
                <a:gd name="T33" fmla="*/ 270 h 270"/>
                <a:gd name="T34" fmla="*/ 346 w 421"/>
                <a:gd name="T35" fmla="*/ 270 h 270"/>
                <a:gd name="T36" fmla="*/ 354 w 421"/>
                <a:gd name="T37" fmla="*/ 270 h 270"/>
                <a:gd name="T38" fmla="*/ 361 w 421"/>
                <a:gd name="T39" fmla="*/ 269 h 270"/>
                <a:gd name="T40" fmla="*/ 368 w 421"/>
                <a:gd name="T41" fmla="*/ 266 h 270"/>
                <a:gd name="T42" fmla="*/ 375 w 421"/>
                <a:gd name="T43" fmla="*/ 264 h 270"/>
                <a:gd name="T44" fmla="*/ 381 w 421"/>
                <a:gd name="T45" fmla="*/ 260 h 270"/>
                <a:gd name="T46" fmla="*/ 387 w 421"/>
                <a:gd name="T47" fmla="*/ 257 h 270"/>
                <a:gd name="T48" fmla="*/ 393 w 421"/>
                <a:gd name="T49" fmla="*/ 252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7 h 270"/>
                <a:gd name="T56" fmla="*/ 412 w 421"/>
                <a:gd name="T57" fmla="*/ 230 h 270"/>
                <a:gd name="T58" fmla="*/ 415 w 421"/>
                <a:gd name="T59" fmla="*/ 225 h 270"/>
                <a:gd name="T60" fmla="*/ 417 w 421"/>
                <a:gd name="T61" fmla="*/ 218 h 270"/>
                <a:gd name="T62" fmla="*/ 420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4"/>
                  </a:moveTo>
                  <a:lnTo>
                    <a:pt x="0" y="203"/>
                  </a:lnTo>
                  <a:lnTo>
                    <a:pt x="2" y="209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10" y="230"/>
                  </a:lnTo>
                  <a:lnTo>
                    <a:pt x="13" y="237"/>
                  </a:lnTo>
                  <a:lnTo>
                    <a:pt x="18" y="243"/>
                  </a:lnTo>
                  <a:lnTo>
                    <a:pt x="22" y="248"/>
                  </a:lnTo>
                  <a:lnTo>
                    <a:pt x="27" y="252"/>
                  </a:lnTo>
                  <a:lnTo>
                    <a:pt x="33" y="257"/>
                  </a:lnTo>
                  <a:lnTo>
                    <a:pt x="40" y="262"/>
                  </a:lnTo>
                  <a:lnTo>
                    <a:pt x="46" y="264"/>
                  </a:lnTo>
                  <a:lnTo>
                    <a:pt x="53" y="266"/>
                  </a:lnTo>
                  <a:lnTo>
                    <a:pt x="61" y="269"/>
                  </a:lnTo>
                  <a:lnTo>
                    <a:pt x="68" y="270"/>
                  </a:lnTo>
                  <a:lnTo>
                    <a:pt x="76" y="270"/>
                  </a:lnTo>
                  <a:lnTo>
                    <a:pt x="346" y="270"/>
                  </a:lnTo>
                  <a:lnTo>
                    <a:pt x="354" y="270"/>
                  </a:lnTo>
                  <a:lnTo>
                    <a:pt x="361" y="269"/>
                  </a:lnTo>
                  <a:lnTo>
                    <a:pt x="368" y="266"/>
                  </a:lnTo>
                  <a:lnTo>
                    <a:pt x="375" y="264"/>
                  </a:lnTo>
                  <a:lnTo>
                    <a:pt x="381" y="260"/>
                  </a:lnTo>
                  <a:lnTo>
                    <a:pt x="387" y="257"/>
                  </a:lnTo>
                  <a:lnTo>
                    <a:pt x="393" y="252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7"/>
                  </a:lnTo>
                  <a:lnTo>
                    <a:pt x="412" y="230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20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8" name="Freeform 4748">
              <a:extLst>
                <a:ext uri="{FF2B5EF4-FFF2-40B4-BE49-F238E27FC236}">
                  <a16:creationId xmlns:a16="http://schemas.microsoft.com/office/drawing/2014/main" id="{46C54F87-D686-45B0-AC4F-BD4AD01BD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4089400"/>
              <a:ext cx="133350" cy="38100"/>
            </a:xfrm>
            <a:custGeom>
              <a:avLst/>
              <a:gdLst>
                <a:gd name="T0" fmla="*/ 346 w 421"/>
                <a:gd name="T1" fmla="*/ 0 h 121"/>
                <a:gd name="T2" fmla="*/ 76 w 421"/>
                <a:gd name="T3" fmla="*/ 0 h 121"/>
                <a:gd name="T4" fmla="*/ 68 w 421"/>
                <a:gd name="T5" fmla="*/ 1 h 121"/>
                <a:gd name="T6" fmla="*/ 61 w 421"/>
                <a:gd name="T7" fmla="*/ 3 h 121"/>
                <a:gd name="T8" fmla="*/ 53 w 421"/>
                <a:gd name="T9" fmla="*/ 4 h 121"/>
                <a:gd name="T10" fmla="*/ 46 w 421"/>
                <a:gd name="T11" fmla="*/ 6 h 121"/>
                <a:gd name="T12" fmla="*/ 40 w 421"/>
                <a:gd name="T13" fmla="*/ 10 h 121"/>
                <a:gd name="T14" fmla="*/ 33 w 421"/>
                <a:gd name="T15" fmla="*/ 13 h 121"/>
                <a:gd name="T16" fmla="*/ 27 w 421"/>
                <a:gd name="T17" fmla="*/ 18 h 121"/>
                <a:gd name="T18" fmla="*/ 22 w 421"/>
                <a:gd name="T19" fmla="*/ 22 h 121"/>
                <a:gd name="T20" fmla="*/ 18 w 421"/>
                <a:gd name="T21" fmla="*/ 28 h 121"/>
                <a:gd name="T22" fmla="*/ 13 w 421"/>
                <a:gd name="T23" fmla="*/ 34 h 121"/>
                <a:gd name="T24" fmla="*/ 10 w 421"/>
                <a:gd name="T25" fmla="*/ 40 h 121"/>
                <a:gd name="T26" fmla="*/ 6 w 421"/>
                <a:gd name="T27" fmla="*/ 47 h 121"/>
                <a:gd name="T28" fmla="*/ 4 w 421"/>
                <a:gd name="T29" fmla="*/ 54 h 121"/>
                <a:gd name="T30" fmla="*/ 2 w 421"/>
                <a:gd name="T31" fmla="*/ 61 h 121"/>
                <a:gd name="T32" fmla="*/ 0 w 421"/>
                <a:gd name="T33" fmla="*/ 67 h 121"/>
                <a:gd name="T34" fmla="*/ 0 w 421"/>
                <a:gd name="T35" fmla="*/ 76 h 121"/>
                <a:gd name="T36" fmla="*/ 0 w 421"/>
                <a:gd name="T37" fmla="*/ 121 h 121"/>
                <a:gd name="T38" fmla="*/ 421 w 421"/>
                <a:gd name="T39" fmla="*/ 121 h 121"/>
                <a:gd name="T40" fmla="*/ 421 w 421"/>
                <a:gd name="T41" fmla="*/ 76 h 121"/>
                <a:gd name="T42" fmla="*/ 421 w 421"/>
                <a:gd name="T43" fmla="*/ 67 h 121"/>
                <a:gd name="T44" fmla="*/ 420 w 421"/>
                <a:gd name="T45" fmla="*/ 61 h 121"/>
                <a:gd name="T46" fmla="*/ 417 w 421"/>
                <a:gd name="T47" fmla="*/ 54 h 121"/>
                <a:gd name="T48" fmla="*/ 415 w 421"/>
                <a:gd name="T49" fmla="*/ 47 h 121"/>
                <a:gd name="T50" fmla="*/ 412 w 421"/>
                <a:gd name="T51" fmla="*/ 40 h 121"/>
                <a:gd name="T52" fmla="*/ 408 w 421"/>
                <a:gd name="T53" fmla="*/ 34 h 121"/>
                <a:gd name="T54" fmla="*/ 403 w 421"/>
                <a:gd name="T55" fmla="*/ 28 h 121"/>
                <a:gd name="T56" fmla="*/ 399 w 421"/>
                <a:gd name="T57" fmla="*/ 22 h 121"/>
                <a:gd name="T58" fmla="*/ 393 w 421"/>
                <a:gd name="T59" fmla="*/ 18 h 121"/>
                <a:gd name="T60" fmla="*/ 387 w 421"/>
                <a:gd name="T61" fmla="*/ 13 h 121"/>
                <a:gd name="T62" fmla="*/ 381 w 421"/>
                <a:gd name="T63" fmla="*/ 10 h 121"/>
                <a:gd name="T64" fmla="*/ 375 w 421"/>
                <a:gd name="T65" fmla="*/ 6 h 121"/>
                <a:gd name="T66" fmla="*/ 368 w 421"/>
                <a:gd name="T67" fmla="*/ 4 h 121"/>
                <a:gd name="T68" fmla="*/ 361 w 421"/>
                <a:gd name="T69" fmla="*/ 3 h 121"/>
                <a:gd name="T70" fmla="*/ 354 w 421"/>
                <a:gd name="T71" fmla="*/ 1 h 121"/>
                <a:gd name="T72" fmla="*/ 346 w 421"/>
                <a:gd name="T7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121">
                  <a:moveTo>
                    <a:pt x="346" y="0"/>
                  </a:moveTo>
                  <a:lnTo>
                    <a:pt x="76" y="0"/>
                  </a:lnTo>
                  <a:lnTo>
                    <a:pt x="68" y="1"/>
                  </a:lnTo>
                  <a:lnTo>
                    <a:pt x="61" y="3"/>
                  </a:lnTo>
                  <a:lnTo>
                    <a:pt x="53" y="4"/>
                  </a:lnTo>
                  <a:lnTo>
                    <a:pt x="46" y="6"/>
                  </a:lnTo>
                  <a:lnTo>
                    <a:pt x="40" y="10"/>
                  </a:lnTo>
                  <a:lnTo>
                    <a:pt x="33" y="13"/>
                  </a:lnTo>
                  <a:lnTo>
                    <a:pt x="27" y="18"/>
                  </a:lnTo>
                  <a:lnTo>
                    <a:pt x="22" y="22"/>
                  </a:lnTo>
                  <a:lnTo>
                    <a:pt x="18" y="28"/>
                  </a:lnTo>
                  <a:lnTo>
                    <a:pt x="13" y="34"/>
                  </a:lnTo>
                  <a:lnTo>
                    <a:pt x="10" y="40"/>
                  </a:lnTo>
                  <a:lnTo>
                    <a:pt x="6" y="47"/>
                  </a:lnTo>
                  <a:lnTo>
                    <a:pt x="4" y="54"/>
                  </a:lnTo>
                  <a:lnTo>
                    <a:pt x="2" y="61"/>
                  </a:lnTo>
                  <a:lnTo>
                    <a:pt x="0" y="67"/>
                  </a:lnTo>
                  <a:lnTo>
                    <a:pt x="0" y="76"/>
                  </a:lnTo>
                  <a:lnTo>
                    <a:pt x="0" y="121"/>
                  </a:lnTo>
                  <a:lnTo>
                    <a:pt x="421" y="121"/>
                  </a:lnTo>
                  <a:lnTo>
                    <a:pt x="421" y="76"/>
                  </a:lnTo>
                  <a:lnTo>
                    <a:pt x="421" y="67"/>
                  </a:lnTo>
                  <a:lnTo>
                    <a:pt x="420" y="61"/>
                  </a:lnTo>
                  <a:lnTo>
                    <a:pt x="417" y="54"/>
                  </a:lnTo>
                  <a:lnTo>
                    <a:pt x="415" y="47"/>
                  </a:lnTo>
                  <a:lnTo>
                    <a:pt x="412" y="40"/>
                  </a:lnTo>
                  <a:lnTo>
                    <a:pt x="408" y="34"/>
                  </a:lnTo>
                  <a:lnTo>
                    <a:pt x="403" y="28"/>
                  </a:lnTo>
                  <a:lnTo>
                    <a:pt x="399" y="22"/>
                  </a:lnTo>
                  <a:lnTo>
                    <a:pt x="393" y="18"/>
                  </a:lnTo>
                  <a:lnTo>
                    <a:pt x="387" y="13"/>
                  </a:lnTo>
                  <a:lnTo>
                    <a:pt x="381" y="10"/>
                  </a:lnTo>
                  <a:lnTo>
                    <a:pt x="375" y="6"/>
                  </a:lnTo>
                  <a:lnTo>
                    <a:pt x="368" y="4"/>
                  </a:lnTo>
                  <a:lnTo>
                    <a:pt x="361" y="3"/>
                  </a:lnTo>
                  <a:lnTo>
                    <a:pt x="354" y="1"/>
                  </a:lnTo>
                  <a:lnTo>
                    <a:pt x="34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9" name="Freeform 4749">
              <a:extLst>
                <a:ext uri="{FF2B5EF4-FFF2-40B4-BE49-F238E27FC236}">
                  <a16:creationId xmlns:a16="http://schemas.microsoft.com/office/drawing/2014/main" id="{2AD4B2ED-3FF5-413A-9E75-6FD5885D4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4137025"/>
              <a:ext cx="134938" cy="85725"/>
            </a:xfrm>
            <a:custGeom>
              <a:avLst/>
              <a:gdLst>
                <a:gd name="T0" fmla="*/ 0 w 421"/>
                <a:gd name="T1" fmla="*/ 194 h 270"/>
                <a:gd name="T2" fmla="*/ 0 w 421"/>
                <a:gd name="T3" fmla="*/ 203 h 270"/>
                <a:gd name="T4" fmla="*/ 1 w 421"/>
                <a:gd name="T5" fmla="*/ 209 h 270"/>
                <a:gd name="T6" fmla="*/ 4 w 421"/>
                <a:gd name="T7" fmla="*/ 218 h 270"/>
                <a:gd name="T8" fmla="*/ 6 w 421"/>
                <a:gd name="T9" fmla="*/ 225 h 270"/>
                <a:gd name="T10" fmla="*/ 9 w 421"/>
                <a:gd name="T11" fmla="*/ 230 h 270"/>
                <a:gd name="T12" fmla="*/ 13 w 421"/>
                <a:gd name="T13" fmla="*/ 237 h 270"/>
                <a:gd name="T14" fmla="*/ 17 w 421"/>
                <a:gd name="T15" fmla="*/ 243 h 270"/>
                <a:gd name="T16" fmla="*/ 22 w 421"/>
                <a:gd name="T17" fmla="*/ 248 h 270"/>
                <a:gd name="T18" fmla="*/ 27 w 421"/>
                <a:gd name="T19" fmla="*/ 252 h 270"/>
                <a:gd name="T20" fmla="*/ 33 w 421"/>
                <a:gd name="T21" fmla="*/ 257 h 270"/>
                <a:gd name="T22" fmla="*/ 39 w 421"/>
                <a:gd name="T23" fmla="*/ 262 h 270"/>
                <a:gd name="T24" fmla="*/ 45 w 421"/>
                <a:gd name="T25" fmla="*/ 264 h 270"/>
                <a:gd name="T26" fmla="*/ 52 w 421"/>
                <a:gd name="T27" fmla="*/ 266 h 270"/>
                <a:gd name="T28" fmla="*/ 60 w 421"/>
                <a:gd name="T29" fmla="*/ 269 h 270"/>
                <a:gd name="T30" fmla="*/ 67 w 421"/>
                <a:gd name="T31" fmla="*/ 270 h 270"/>
                <a:gd name="T32" fmla="*/ 75 w 421"/>
                <a:gd name="T33" fmla="*/ 270 h 270"/>
                <a:gd name="T34" fmla="*/ 345 w 421"/>
                <a:gd name="T35" fmla="*/ 270 h 270"/>
                <a:gd name="T36" fmla="*/ 353 w 421"/>
                <a:gd name="T37" fmla="*/ 270 h 270"/>
                <a:gd name="T38" fmla="*/ 360 w 421"/>
                <a:gd name="T39" fmla="*/ 269 h 270"/>
                <a:gd name="T40" fmla="*/ 367 w 421"/>
                <a:gd name="T41" fmla="*/ 266 h 270"/>
                <a:gd name="T42" fmla="*/ 374 w 421"/>
                <a:gd name="T43" fmla="*/ 264 h 270"/>
                <a:gd name="T44" fmla="*/ 381 w 421"/>
                <a:gd name="T45" fmla="*/ 260 h 270"/>
                <a:gd name="T46" fmla="*/ 387 w 421"/>
                <a:gd name="T47" fmla="*/ 257 h 270"/>
                <a:gd name="T48" fmla="*/ 393 w 421"/>
                <a:gd name="T49" fmla="*/ 252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7 h 270"/>
                <a:gd name="T56" fmla="*/ 411 w 421"/>
                <a:gd name="T57" fmla="*/ 230 h 270"/>
                <a:gd name="T58" fmla="*/ 415 w 421"/>
                <a:gd name="T59" fmla="*/ 225 h 270"/>
                <a:gd name="T60" fmla="*/ 417 w 421"/>
                <a:gd name="T61" fmla="*/ 218 h 270"/>
                <a:gd name="T62" fmla="*/ 419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4"/>
                  </a:moveTo>
                  <a:lnTo>
                    <a:pt x="0" y="203"/>
                  </a:lnTo>
                  <a:lnTo>
                    <a:pt x="1" y="209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9" y="230"/>
                  </a:lnTo>
                  <a:lnTo>
                    <a:pt x="13" y="237"/>
                  </a:lnTo>
                  <a:lnTo>
                    <a:pt x="17" y="243"/>
                  </a:lnTo>
                  <a:lnTo>
                    <a:pt x="22" y="248"/>
                  </a:lnTo>
                  <a:lnTo>
                    <a:pt x="27" y="252"/>
                  </a:lnTo>
                  <a:lnTo>
                    <a:pt x="33" y="257"/>
                  </a:lnTo>
                  <a:lnTo>
                    <a:pt x="39" y="262"/>
                  </a:lnTo>
                  <a:lnTo>
                    <a:pt x="45" y="264"/>
                  </a:lnTo>
                  <a:lnTo>
                    <a:pt x="52" y="266"/>
                  </a:lnTo>
                  <a:lnTo>
                    <a:pt x="60" y="269"/>
                  </a:lnTo>
                  <a:lnTo>
                    <a:pt x="67" y="270"/>
                  </a:lnTo>
                  <a:lnTo>
                    <a:pt x="75" y="270"/>
                  </a:lnTo>
                  <a:lnTo>
                    <a:pt x="345" y="270"/>
                  </a:lnTo>
                  <a:lnTo>
                    <a:pt x="353" y="270"/>
                  </a:lnTo>
                  <a:lnTo>
                    <a:pt x="360" y="269"/>
                  </a:lnTo>
                  <a:lnTo>
                    <a:pt x="367" y="266"/>
                  </a:lnTo>
                  <a:lnTo>
                    <a:pt x="374" y="264"/>
                  </a:lnTo>
                  <a:lnTo>
                    <a:pt x="381" y="260"/>
                  </a:lnTo>
                  <a:lnTo>
                    <a:pt x="387" y="257"/>
                  </a:lnTo>
                  <a:lnTo>
                    <a:pt x="393" y="252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7"/>
                  </a:lnTo>
                  <a:lnTo>
                    <a:pt x="411" y="230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19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0" name="Freeform 4750">
              <a:extLst>
                <a:ext uri="{FF2B5EF4-FFF2-40B4-BE49-F238E27FC236}">
                  <a16:creationId xmlns:a16="http://schemas.microsoft.com/office/drawing/2014/main" id="{C94F299B-31F2-4CA4-A270-5E5DDD6CE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4089400"/>
              <a:ext cx="134938" cy="38100"/>
            </a:xfrm>
            <a:custGeom>
              <a:avLst/>
              <a:gdLst>
                <a:gd name="T0" fmla="*/ 345 w 421"/>
                <a:gd name="T1" fmla="*/ 0 h 121"/>
                <a:gd name="T2" fmla="*/ 75 w 421"/>
                <a:gd name="T3" fmla="*/ 0 h 121"/>
                <a:gd name="T4" fmla="*/ 67 w 421"/>
                <a:gd name="T5" fmla="*/ 1 h 121"/>
                <a:gd name="T6" fmla="*/ 60 w 421"/>
                <a:gd name="T7" fmla="*/ 3 h 121"/>
                <a:gd name="T8" fmla="*/ 52 w 421"/>
                <a:gd name="T9" fmla="*/ 4 h 121"/>
                <a:gd name="T10" fmla="*/ 45 w 421"/>
                <a:gd name="T11" fmla="*/ 6 h 121"/>
                <a:gd name="T12" fmla="*/ 39 w 421"/>
                <a:gd name="T13" fmla="*/ 10 h 121"/>
                <a:gd name="T14" fmla="*/ 33 w 421"/>
                <a:gd name="T15" fmla="*/ 13 h 121"/>
                <a:gd name="T16" fmla="*/ 27 w 421"/>
                <a:gd name="T17" fmla="*/ 18 h 121"/>
                <a:gd name="T18" fmla="*/ 22 w 421"/>
                <a:gd name="T19" fmla="*/ 22 h 121"/>
                <a:gd name="T20" fmla="*/ 17 w 421"/>
                <a:gd name="T21" fmla="*/ 28 h 121"/>
                <a:gd name="T22" fmla="*/ 13 w 421"/>
                <a:gd name="T23" fmla="*/ 34 h 121"/>
                <a:gd name="T24" fmla="*/ 9 w 421"/>
                <a:gd name="T25" fmla="*/ 40 h 121"/>
                <a:gd name="T26" fmla="*/ 6 w 421"/>
                <a:gd name="T27" fmla="*/ 47 h 121"/>
                <a:gd name="T28" fmla="*/ 4 w 421"/>
                <a:gd name="T29" fmla="*/ 54 h 121"/>
                <a:gd name="T30" fmla="*/ 1 w 421"/>
                <a:gd name="T31" fmla="*/ 61 h 121"/>
                <a:gd name="T32" fmla="*/ 0 w 421"/>
                <a:gd name="T33" fmla="*/ 67 h 121"/>
                <a:gd name="T34" fmla="*/ 0 w 421"/>
                <a:gd name="T35" fmla="*/ 76 h 121"/>
                <a:gd name="T36" fmla="*/ 0 w 421"/>
                <a:gd name="T37" fmla="*/ 121 h 121"/>
                <a:gd name="T38" fmla="*/ 421 w 421"/>
                <a:gd name="T39" fmla="*/ 121 h 121"/>
                <a:gd name="T40" fmla="*/ 421 w 421"/>
                <a:gd name="T41" fmla="*/ 76 h 121"/>
                <a:gd name="T42" fmla="*/ 421 w 421"/>
                <a:gd name="T43" fmla="*/ 67 h 121"/>
                <a:gd name="T44" fmla="*/ 419 w 421"/>
                <a:gd name="T45" fmla="*/ 61 h 121"/>
                <a:gd name="T46" fmla="*/ 417 w 421"/>
                <a:gd name="T47" fmla="*/ 54 h 121"/>
                <a:gd name="T48" fmla="*/ 415 w 421"/>
                <a:gd name="T49" fmla="*/ 47 h 121"/>
                <a:gd name="T50" fmla="*/ 411 w 421"/>
                <a:gd name="T51" fmla="*/ 40 h 121"/>
                <a:gd name="T52" fmla="*/ 408 w 421"/>
                <a:gd name="T53" fmla="*/ 34 h 121"/>
                <a:gd name="T54" fmla="*/ 403 w 421"/>
                <a:gd name="T55" fmla="*/ 28 h 121"/>
                <a:gd name="T56" fmla="*/ 399 w 421"/>
                <a:gd name="T57" fmla="*/ 22 h 121"/>
                <a:gd name="T58" fmla="*/ 393 w 421"/>
                <a:gd name="T59" fmla="*/ 18 h 121"/>
                <a:gd name="T60" fmla="*/ 387 w 421"/>
                <a:gd name="T61" fmla="*/ 13 h 121"/>
                <a:gd name="T62" fmla="*/ 381 w 421"/>
                <a:gd name="T63" fmla="*/ 10 h 121"/>
                <a:gd name="T64" fmla="*/ 374 w 421"/>
                <a:gd name="T65" fmla="*/ 6 h 121"/>
                <a:gd name="T66" fmla="*/ 367 w 421"/>
                <a:gd name="T67" fmla="*/ 4 h 121"/>
                <a:gd name="T68" fmla="*/ 360 w 421"/>
                <a:gd name="T69" fmla="*/ 3 h 121"/>
                <a:gd name="T70" fmla="*/ 353 w 421"/>
                <a:gd name="T71" fmla="*/ 1 h 121"/>
                <a:gd name="T72" fmla="*/ 345 w 421"/>
                <a:gd name="T7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121">
                  <a:moveTo>
                    <a:pt x="345" y="0"/>
                  </a:moveTo>
                  <a:lnTo>
                    <a:pt x="75" y="0"/>
                  </a:lnTo>
                  <a:lnTo>
                    <a:pt x="67" y="1"/>
                  </a:lnTo>
                  <a:lnTo>
                    <a:pt x="60" y="3"/>
                  </a:lnTo>
                  <a:lnTo>
                    <a:pt x="52" y="4"/>
                  </a:lnTo>
                  <a:lnTo>
                    <a:pt x="45" y="6"/>
                  </a:lnTo>
                  <a:lnTo>
                    <a:pt x="39" y="10"/>
                  </a:lnTo>
                  <a:lnTo>
                    <a:pt x="33" y="13"/>
                  </a:lnTo>
                  <a:lnTo>
                    <a:pt x="27" y="18"/>
                  </a:lnTo>
                  <a:lnTo>
                    <a:pt x="22" y="22"/>
                  </a:lnTo>
                  <a:lnTo>
                    <a:pt x="17" y="28"/>
                  </a:lnTo>
                  <a:lnTo>
                    <a:pt x="13" y="34"/>
                  </a:lnTo>
                  <a:lnTo>
                    <a:pt x="9" y="40"/>
                  </a:lnTo>
                  <a:lnTo>
                    <a:pt x="6" y="47"/>
                  </a:lnTo>
                  <a:lnTo>
                    <a:pt x="4" y="54"/>
                  </a:lnTo>
                  <a:lnTo>
                    <a:pt x="1" y="61"/>
                  </a:lnTo>
                  <a:lnTo>
                    <a:pt x="0" y="67"/>
                  </a:lnTo>
                  <a:lnTo>
                    <a:pt x="0" y="76"/>
                  </a:lnTo>
                  <a:lnTo>
                    <a:pt x="0" y="121"/>
                  </a:lnTo>
                  <a:lnTo>
                    <a:pt x="421" y="121"/>
                  </a:lnTo>
                  <a:lnTo>
                    <a:pt x="421" y="76"/>
                  </a:lnTo>
                  <a:lnTo>
                    <a:pt x="421" y="67"/>
                  </a:lnTo>
                  <a:lnTo>
                    <a:pt x="419" y="61"/>
                  </a:lnTo>
                  <a:lnTo>
                    <a:pt x="417" y="54"/>
                  </a:lnTo>
                  <a:lnTo>
                    <a:pt x="415" y="47"/>
                  </a:lnTo>
                  <a:lnTo>
                    <a:pt x="411" y="40"/>
                  </a:lnTo>
                  <a:lnTo>
                    <a:pt x="408" y="34"/>
                  </a:lnTo>
                  <a:lnTo>
                    <a:pt x="403" y="28"/>
                  </a:lnTo>
                  <a:lnTo>
                    <a:pt x="399" y="22"/>
                  </a:lnTo>
                  <a:lnTo>
                    <a:pt x="393" y="18"/>
                  </a:lnTo>
                  <a:lnTo>
                    <a:pt x="387" y="13"/>
                  </a:lnTo>
                  <a:lnTo>
                    <a:pt x="381" y="10"/>
                  </a:lnTo>
                  <a:lnTo>
                    <a:pt x="374" y="6"/>
                  </a:lnTo>
                  <a:lnTo>
                    <a:pt x="367" y="4"/>
                  </a:lnTo>
                  <a:lnTo>
                    <a:pt x="360" y="3"/>
                  </a:lnTo>
                  <a:lnTo>
                    <a:pt x="353" y="1"/>
                  </a:lnTo>
                  <a:lnTo>
                    <a:pt x="3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01" name="Group 100" descr="Icon of mobile phone and speech bubble.">
            <a:extLst>
              <a:ext uri="{FF2B5EF4-FFF2-40B4-BE49-F238E27FC236}">
                <a16:creationId xmlns:a16="http://schemas.microsoft.com/office/drawing/2014/main" id="{67EBF40E-2836-4B56-82CA-B0AE5592616F}"/>
              </a:ext>
            </a:extLst>
          </p:cNvPr>
          <p:cNvGrpSpPr/>
          <p:nvPr/>
        </p:nvGrpSpPr>
        <p:grpSpPr>
          <a:xfrm>
            <a:off x="6564709" y="1373740"/>
            <a:ext cx="277813" cy="276225"/>
            <a:chOff x="6105525" y="1922463"/>
            <a:chExt cx="277813" cy="276225"/>
          </a:xfrm>
          <a:solidFill>
            <a:schemeClr val="bg1"/>
          </a:solidFill>
        </p:grpSpPr>
        <p:sp>
          <p:nvSpPr>
            <p:cNvPr id="102" name="Freeform 2023">
              <a:extLst>
                <a:ext uri="{FF2B5EF4-FFF2-40B4-BE49-F238E27FC236}">
                  <a16:creationId xmlns:a16="http://schemas.microsoft.com/office/drawing/2014/main" id="{8A677BB9-7FF5-46F1-AA35-A8280C80A6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5525" y="1960563"/>
              <a:ext cx="96838" cy="47625"/>
            </a:xfrm>
            <a:custGeom>
              <a:avLst/>
              <a:gdLst>
                <a:gd name="T0" fmla="*/ 195 w 303"/>
                <a:gd name="T1" fmla="*/ 105 h 150"/>
                <a:gd name="T2" fmla="*/ 165 w 303"/>
                <a:gd name="T3" fmla="*/ 105 h 150"/>
                <a:gd name="T4" fmla="*/ 162 w 303"/>
                <a:gd name="T5" fmla="*/ 105 h 150"/>
                <a:gd name="T6" fmla="*/ 160 w 303"/>
                <a:gd name="T7" fmla="*/ 104 h 150"/>
                <a:gd name="T8" fmla="*/ 157 w 303"/>
                <a:gd name="T9" fmla="*/ 103 h 150"/>
                <a:gd name="T10" fmla="*/ 155 w 303"/>
                <a:gd name="T11" fmla="*/ 101 h 150"/>
                <a:gd name="T12" fmla="*/ 153 w 303"/>
                <a:gd name="T13" fmla="*/ 98 h 150"/>
                <a:gd name="T14" fmla="*/ 151 w 303"/>
                <a:gd name="T15" fmla="*/ 96 h 150"/>
                <a:gd name="T16" fmla="*/ 151 w 303"/>
                <a:gd name="T17" fmla="*/ 93 h 150"/>
                <a:gd name="T18" fmla="*/ 150 w 303"/>
                <a:gd name="T19" fmla="*/ 90 h 150"/>
                <a:gd name="T20" fmla="*/ 151 w 303"/>
                <a:gd name="T21" fmla="*/ 88 h 150"/>
                <a:gd name="T22" fmla="*/ 151 w 303"/>
                <a:gd name="T23" fmla="*/ 85 h 150"/>
                <a:gd name="T24" fmla="*/ 153 w 303"/>
                <a:gd name="T25" fmla="*/ 82 h 150"/>
                <a:gd name="T26" fmla="*/ 155 w 303"/>
                <a:gd name="T27" fmla="*/ 80 h 150"/>
                <a:gd name="T28" fmla="*/ 157 w 303"/>
                <a:gd name="T29" fmla="*/ 78 h 150"/>
                <a:gd name="T30" fmla="*/ 160 w 303"/>
                <a:gd name="T31" fmla="*/ 77 h 150"/>
                <a:gd name="T32" fmla="*/ 162 w 303"/>
                <a:gd name="T33" fmla="*/ 76 h 150"/>
                <a:gd name="T34" fmla="*/ 165 w 303"/>
                <a:gd name="T35" fmla="*/ 75 h 150"/>
                <a:gd name="T36" fmla="*/ 195 w 303"/>
                <a:gd name="T37" fmla="*/ 75 h 150"/>
                <a:gd name="T38" fmla="*/ 199 w 303"/>
                <a:gd name="T39" fmla="*/ 76 h 150"/>
                <a:gd name="T40" fmla="*/ 202 w 303"/>
                <a:gd name="T41" fmla="*/ 77 h 150"/>
                <a:gd name="T42" fmla="*/ 204 w 303"/>
                <a:gd name="T43" fmla="*/ 78 h 150"/>
                <a:gd name="T44" fmla="*/ 206 w 303"/>
                <a:gd name="T45" fmla="*/ 80 h 150"/>
                <a:gd name="T46" fmla="*/ 208 w 303"/>
                <a:gd name="T47" fmla="*/ 82 h 150"/>
                <a:gd name="T48" fmla="*/ 209 w 303"/>
                <a:gd name="T49" fmla="*/ 85 h 150"/>
                <a:gd name="T50" fmla="*/ 210 w 303"/>
                <a:gd name="T51" fmla="*/ 88 h 150"/>
                <a:gd name="T52" fmla="*/ 210 w 303"/>
                <a:gd name="T53" fmla="*/ 90 h 150"/>
                <a:gd name="T54" fmla="*/ 210 w 303"/>
                <a:gd name="T55" fmla="*/ 93 h 150"/>
                <a:gd name="T56" fmla="*/ 209 w 303"/>
                <a:gd name="T57" fmla="*/ 96 h 150"/>
                <a:gd name="T58" fmla="*/ 208 w 303"/>
                <a:gd name="T59" fmla="*/ 98 h 150"/>
                <a:gd name="T60" fmla="*/ 206 w 303"/>
                <a:gd name="T61" fmla="*/ 101 h 150"/>
                <a:gd name="T62" fmla="*/ 204 w 303"/>
                <a:gd name="T63" fmla="*/ 103 h 150"/>
                <a:gd name="T64" fmla="*/ 202 w 303"/>
                <a:gd name="T65" fmla="*/ 104 h 150"/>
                <a:gd name="T66" fmla="*/ 199 w 303"/>
                <a:gd name="T67" fmla="*/ 105 h 150"/>
                <a:gd name="T68" fmla="*/ 195 w 303"/>
                <a:gd name="T69" fmla="*/ 105 h 150"/>
                <a:gd name="T70" fmla="*/ 195 w 303"/>
                <a:gd name="T71" fmla="*/ 105 h 150"/>
                <a:gd name="T72" fmla="*/ 300 w 303"/>
                <a:gd name="T73" fmla="*/ 135 h 150"/>
                <a:gd name="T74" fmla="*/ 300 w 303"/>
                <a:gd name="T75" fmla="*/ 0 h 150"/>
                <a:gd name="T76" fmla="*/ 90 w 303"/>
                <a:gd name="T77" fmla="*/ 0 h 150"/>
                <a:gd name="T78" fmla="*/ 82 w 303"/>
                <a:gd name="T79" fmla="*/ 1 h 150"/>
                <a:gd name="T80" fmla="*/ 72 w 303"/>
                <a:gd name="T81" fmla="*/ 2 h 150"/>
                <a:gd name="T82" fmla="*/ 63 w 303"/>
                <a:gd name="T83" fmla="*/ 4 h 150"/>
                <a:gd name="T84" fmla="*/ 55 w 303"/>
                <a:gd name="T85" fmla="*/ 7 h 150"/>
                <a:gd name="T86" fmla="*/ 47 w 303"/>
                <a:gd name="T87" fmla="*/ 10 h 150"/>
                <a:gd name="T88" fmla="*/ 40 w 303"/>
                <a:gd name="T89" fmla="*/ 15 h 150"/>
                <a:gd name="T90" fmla="*/ 32 w 303"/>
                <a:gd name="T91" fmla="*/ 20 h 150"/>
                <a:gd name="T92" fmla="*/ 27 w 303"/>
                <a:gd name="T93" fmla="*/ 27 h 150"/>
                <a:gd name="T94" fmla="*/ 20 w 303"/>
                <a:gd name="T95" fmla="*/ 33 h 150"/>
                <a:gd name="T96" fmla="*/ 15 w 303"/>
                <a:gd name="T97" fmla="*/ 39 h 150"/>
                <a:gd name="T98" fmla="*/ 11 w 303"/>
                <a:gd name="T99" fmla="*/ 47 h 150"/>
                <a:gd name="T100" fmla="*/ 8 w 303"/>
                <a:gd name="T101" fmla="*/ 54 h 150"/>
                <a:gd name="T102" fmla="*/ 4 w 303"/>
                <a:gd name="T103" fmla="*/ 63 h 150"/>
                <a:gd name="T104" fmla="*/ 2 w 303"/>
                <a:gd name="T105" fmla="*/ 72 h 150"/>
                <a:gd name="T106" fmla="*/ 1 w 303"/>
                <a:gd name="T107" fmla="*/ 81 h 150"/>
                <a:gd name="T108" fmla="*/ 0 w 303"/>
                <a:gd name="T109" fmla="*/ 90 h 150"/>
                <a:gd name="T110" fmla="*/ 0 w 303"/>
                <a:gd name="T111" fmla="*/ 150 h 150"/>
                <a:gd name="T112" fmla="*/ 303 w 303"/>
                <a:gd name="T113" fmla="*/ 150 h 150"/>
                <a:gd name="T114" fmla="*/ 301 w 303"/>
                <a:gd name="T115" fmla="*/ 144 h 150"/>
                <a:gd name="T116" fmla="*/ 300 w 303"/>
                <a:gd name="T117" fmla="*/ 135 h 150"/>
                <a:gd name="T118" fmla="*/ 300 w 303"/>
                <a:gd name="T119" fmla="*/ 13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03" h="150">
                  <a:moveTo>
                    <a:pt x="195" y="105"/>
                  </a:moveTo>
                  <a:lnTo>
                    <a:pt x="165" y="105"/>
                  </a:lnTo>
                  <a:lnTo>
                    <a:pt x="162" y="105"/>
                  </a:lnTo>
                  <a:lnTo>
                    <a:pt x="160" y="104"/>
                  </a:lnTo>
                  <a:lnTo>
                    <a:pt x="157" y="103"/>
                  </a:lnTo>
                  <a:lnTo>
                    <a:pt x="155" y="101"/>
                  </a:lnTo>
                  <a:lnTo>
                    <a:pt x="153" y="98"/>
                  </a:lnTo>
                  <a:lnTo>
                    <a:pt x="151" y="96"/>
                  </a:lnTo>
                  <a:lnTo>
                    <a:pt x="151" y="93"/>
                  </a:lnTo>
                  <a:lnTo>
                    <a:pt x="150" y="90"/>
                  </a:lnTo>
                  <a:lnTo>
                    <a:pt x="151" y="88"/>
                  </a:lnTo>
                  <a:lnTo>
                    <a:pt x="151" y="85"/>
                  </a:lnTo>
                  <a:lnTo>
                    <a:pt x="153" y="82"/>
                  </a:lnTo>
                  <a:lnTo>
                    <a:pt x="155" y="80"/>
                  </a:lnTo>
                  <a:lnTo>
                    <a:pt x="157" y="78"/>
                  </a:lnTo>
                  <a:lnTo>
                    <a:pt x="160" y="77"/>
                  </a:lnTo>
                  <a:lnTo>
                    <a:pt x="162" y="76"/>
                  </a:lnTo>
                  <a:lnTo>
                    <a:pt x="165" y="75"/>
                  </a:lnTo>
                  <a:lnTo>
                    <a:pt x="195" y="75"/>
                  </a:lnTo>
                  <a:lnTo>
                    <a:pt x="199" y="76"/>
                  </a:lnTo>
                  <a:lnTo>
                    <a:pt x="202" y="77"/>
                  </a:lnTo>
                  <a:lnTo>
                    <a:pt x="204" y="78"/>
                  </a:lnTo>
                  <a:lnTo>
                    <a:pt x="206" y="80"/>
                  </a:lnTo>
                  <a:lnTo>
                    <a:pt x="208" y="82"/>
                  </a:lnTo>
                  <a:lnTo>
                    <a:pt x="209" y="85"/>
                  </a:lnTo>
                  <a:lnTo>
                    <a:pt x="210" y="88"/>
                  </a:lnTo>
                  <a:lnTo>
                    <a:pt x="210" y="90"/>
                  </a:lnTo>
                  <a:lnTo>
                    <a:pt x="210" y="93"/>
                  </a:lnTo>
                  <a:lnTo>
                    <a:pt x="209" y="96"/>
                  </a:lnTo>
                  <a:lnTo>
                    <a:pt x="208" y="98"/>
                  </a:lnTo>
                  <a:lnTo>
                    <a:pt x="206" y="101"/>
                  </a:lnTo>
                  <a:lnTo>
                    <a:pt x="204" y="103"/>
                  </a:lnTo>
                  <a:lnTo>
                    <a:pt x="202" y="104"/>
                  </a:lnTo>
                  <a:lnTo>
                    <a:pt x="199" y="105"/>
                  </a:lnTo>
                  <a:lnTo>
                    <a:pt x="195" y="105"/>
                  </a:lnTo>
                  <a:lnTo>
                    <a:pt x="195" y="105"/>
                  </a:lnTo>
                  <a:close/>
                  <a:moveTo>
                    <a:pt x="300" y="135"/>
                  </a:moveTo>
                  <a:lnTo>
                    <a:pt x="300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2" y="2"/>
                  </a:lnTo>
                  <a:lnTo>
                    <a:pt x="63" y="4"/>
                  </a:lnTo>
                  <a:lnTo>
                    <a:pt x="55" y="7"/>
                  </a:lnTo>
                  <a:lnTo>
                    <a:pt x="47" y="10"/>
                  </a:lnTo>
                  <a:lnTo>
                    <a:pt x="40" y="15"/>
                  </a:lnTo>
                  <a:lnTo>
                    <a:pt x="32" y="20"/>
                  </a:lnTo>
                  <a:lnTo>
                    <a:pt x="27" y="27"/>
                  </a:lnTo>
                  <a:lnTo>
                    <a:pt x="20" y="33"/>
                  </a:lnTo>
                  <a:lnTo>
                    <a:pt x="15" y="39"/>
                  </a:lnTo>
                  <a:lnTo>
                    <a:pt x="11" y="47"/>
                  </a:lnTo>
                  <a:lnTo>
                    <a:pt x="8" y="54"/>
                  </a:lnTo>
                  <a:lnTo>
                    <a:pt x="4" y="63"/>
                  </a:lnTo>
                  <a:lnTo>
                    <a:pt x="2" y="72"/>
                  </a:lnTo>
                  <a:lnTo>
                    <a:pt x="1" y="81"/>
                  </a:lnTo>
                  <a:lnTo>
                    <a:pt x="0" y="90"/>
                  </a:lnTo>
                  <a:lnTo>
                    <a:pt x="0" y="150"/>
                  </a:lnTo>
                  <a:lnTo>
                    <a:pt x="303" y="150"/>
                  </a:lnTo>
                  <a:lnTo>
                    <a:pt x="301" y="144"/>
                  </a:lnTo>
                  <a:lnTo>
                    <a:pt x="300" y="135"/>
                  </a:lnTo>
                  <a:lnTo>
                    <a:pt x="300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3" name="Freeform 2024">
              <a:extLst>
                <a:ext uri="{FF2B5EF4-FFF2-40B4-BE49-F238E27FC236}">
                  <a16:creationId xmlns:a16="http://schemas.microsoft.com/office/drawing/2014/main" id="{A089C24C-3669-4556-BCE2-1150BE6C01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5525" y="2151063"/>
              <a:ext cx="142875" cy="47625"/>
            </a:xfrm>
            <a:custGeom>
              <a:avLst/>
              <a:gdLst>
                <a:gd name="T0" fmla="*/ 231 w 451"/>
                <a:gd name="T1" fmla="*/ 25 h 150"/>
                <a:gd name="T2" fmla="*/ 242 w 451"/>
                <a:gd name="T3" fmla="*/ 31 h 150"/>
                <a:gd name="T4" fmla="*/ 252 w 451"/>
                <a:gd name="T5" fmla="*/ 39 h 150"/>
                <a:gd name="T6" fmla="*/ 258 w 451"/>
                <a:gd name="T7" fmla="*/ 52 h 150"/>
                <a:gd name="T8" fmla="*/ 258 w 451"/>
                <a:gd name="T9" fmla="*/ 65 h 150"/>
                <a:gd name="T10" fmla="*/ 252 w 451"/>
                <a:gd name="T11" fmla="*/ 78 h 150"/>
                <a:gd name="T12" fmla="*/ 242 w 451"/>
                <a:gd name="T13" fmla="*/ 86 h 150"/>
                <a:gd name="T14" fmla="*/ 231 w 451"/>
                <a:gd name="T15" fmla="*/ 92 h 150"/>
                <a:gd name="T16" fmla="*/ 217 w 451"/>
                <a:gd name="T17" fmla="*/ 92 h 150"/>
                <a:gd name="T18" fmla="*/ 205 w 451"/>
                <a:gd name="T19" fmla="*/ 86 h 150"/>
                <a:gd name="T20" fmla="*/ 195 w 451"/>
                <a:gd name="T21" fmla="*/ 78 h 150"/>
                <a:gd name="T22" fmla="*/ 190 w 451"/>
                <a:gd name="T23" fmla="*/ 66 h 150"/>
                <a:gd name="T24" fmla="*/ 190 w 451"/>
                <a:gd name="T25" fmla="*/ 52 h 150"/>
                <a:gd name="T26" fmla="*/ 195 w 451"/>
                <a:gd name="T27" fmla="*/ 39 h 150"/>
                <a:gd name="T28" fmla="*/ 205 w 451"/>
                <a:gd name="T29" fmla="*/ 31 h 150"/>
                <a:gd name="T30" fmla="*/ 217 w 451"/>
                <a:gd name="T31" fmla="*/ 25 h 150"/>
                <a:gd name="T32" fmla="*/ 224 w 451"/>
                <a:gd name="T33" fmla="*/ 24 h 150"/>
                <a:gd name="T34" fmla="*/ 1 w 451"/>
                <a:gd name="T35" fmla="*/ 68 h 150"/>
                <a:gd name="T36" fmla="*/ 4 w 451"/>
                <a:gd name="T37" fmla="*/ 85 h 150"/>
                <a:gd name="T38" fmla="*/ 11 w 451"/>
                <a:gd name="T39" fmla="*/ 102 h 150"/>
                <a:gd name="T40" fmla="*/ 20 w 451"/>
                <a:gd name="T41" fmla="*/ 116 h 150"/>
                <a:gd name="T42" fmla="*/ 33 w 451"/>
                <a:gd name="T43" fmla="*/ 129 h 150"/>
                <a:gd name="T44" fmla="*/ 47 w 451"/>
                <a:gd name="T45" fmla="*/ 139 h 150"/>
                <a:gd name="T46" fmla="*/ 63 w 451"/>
                <a:gd name="T47" fmla="*/ 145 h 150"/>
                <a:gd name="T48" fmla="*/ 82 w 451"/>
                <a:gd name="T49" fmla="*/ 149 h 150"/>
                <a:gd name="T50" fmla="*/ 360 w 451"/>
                <a:gd name="T51" fmla="*/ 150 h 150"/>
                <a:gd name="T52" fmla="*/ 379 w 451"/>
                <a:gd name="T53" fmla="*/ 148 h 150"/>
                <a:gd name="T54" fmla="*/ 395 w 451"/>
                <a:gd name="T55" fmla="*/ 143 h 150"/>
                <a:gd name="T56" fmla="*/ 409 w 451"/>
                <a:gd name="T57" fmla="*/ 135 h 150"/>
                <a:gd name="T58" fmla="*/ 422 w 451"/>
                <a:gd name="T59" fmla="*/ 124 h 150"/>
                <a:gd name="T60" fmla="*/ 433 w 451"/>
                <a:gd name="T61" fmla="*/ 111 h 150"/>
                <a:gd name="T62" fmla="*/ 442 w 451"/>
                <a:gd name="T63" fmla="*/ 96 h 150"/>
                <a:gd name="T64" fmla="*/ 447 w 451"/>
                <a:gd name="T65" fmla="*/ 79 h 150"/>
                <a:gd name="T66" fmla="*/ 451 w 451"/>
                <a:gd name="T67" fmla="*/ 60 h 150"/>
                <a:gd name="T68" fmla="*/ 0 w 451"/>
                <a:gd name="T69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51" h="150">
                  <a:moveTo>
                    <a:pt x="224" y="24"/>
                  </a:moveTo>
                  <a:lnTo>
                    <a:pt x="231" y="25"/>
                  </a:lnTo>
                  <a:lnTo>
                    <a:pt x="237" y="27"/>
                  </a:lnTo>
                  <a:lnTo>
                    <a:pt x="242" y="31"/>
                  </a:lnTo>
                  <a:lnTo>
                    <a:pt x="248" y="35"/>
                  </a:lnTo>
                  <a:lnTo>
                    <a:pt x="252" y="39"/>
                  </a:lnTo>
                  <a:lnTo>
                    <a:pt x="255" y="46"/>
                  </a:lnTo>
                  <a:lnTo>
                    <a:pt x="258" y="52"/>
                  </a:lnTo>
                  <a:lnTo>
                    <a:pt x="258" y="59"/>
                  </a:lnTo>
                  <a:lnTo>
                    <a:pt x="258" y="65"/>
                  </a:lnTo>
                  <a:lnTo>
                    <a:pt x="255" y="71"/>
                  </a:lnTo>
                  <a:lnTo>
                    <a:pt x="252" y="78"/>
                  </a:lnTo>
                  <a:lnTo>
                    <a:pt x="248" y="83"/>
                  </a:lnTo>
                  <a:lnTo>
                    <a:pt x="242" y="86"/>
                  </a:lnTo>
                  <a:lnTo>
                    <a:pt x="237" y="90"/>
                  </a:lnTo>
                  <a:lnTo>
                    <a:pt x="231" y="92"/>
                  </a:lnTo>
                  <a:lnTo>
                    <a:pt x="224" y="93"/>
                  </a:lnTo>
                  <a:lnTo>
                    <a:pt x="217" y="92"/>
                  </a:lnTo>
                  <a:lnTo>
                    <a:pt x="210" y="90"/>
                  </a:lnTo>
                  <a:lnTo>
                    <a:pt x="205" y="86"/>
                  </a:lnTo>
                  <a:lnTo>
                    <a:pt x="200" y="83"/>
                  </a:lnTo>
                  <a:lnTo>
                    <a:pt x="195" y="78"/>
                  </a:lnTo>
                  <a:lnTo>
                    <a:pt x="192" y="71"/>
                  </a:lnTo>
                  <a:lnTo>
                    <a:pt x="190" y="66"/>
                  </a:lnTo>
                  <a:lnTo>
                    <a:pt x="190" y="59"/>
                  </a:lnTo>
                  <a:lnTo>
                    <a:pt x="190" y="52"/>
                  </a:lnTo>
                  <a:lnTo>
                    <a:pt x="192" y="46"/>
                  </a:lnTo>
                  <a:lnTo>
                    <a:pt x="195" y="39"/>
                  </a:lnTo>
                  <a:lnTo>
                    <a:pt x="200" y="35"/>
                  </a:lnTo>
                  <a:lnTo>
                    <a:pt x="205" y="31"/>
                  </a:lnTo>
                  <a:lnTo>
                    <a:pt x="210" y="27"/>
                  </a:lnTo>
                  <a:lnTo>
                    <a:pt x="217" y="25"/>
                  </a:lnTo>
                  <a:lnTo>
                    <a:pt x="224" y="24"/>
                  </a:lnTo>
                  <a:lnTo>
                    <a:pt x="224" y="24"/>
                  </a:lnTo>
                  <a:close/>
                  <a:moveTo>
                    <a:pt x="0" y="59"/>
                  </a:moveTo>
                  <a:lnTo>
                    <a:pt x="1" y="68"/>
                  </a:lnTo>
                  <a:lnTo>
                    <a:pt x="2" y="77"/>
                  </a:lnTo>
                  <a:lnTo>
                    <a:pt x="4" y="85"/>
                  </a:lnTo>
                  <a:lnTo>
                    <a:pt x="8" y="94"/>
                  </a:lnTo>
                  <a:lnTo>
                    <a:pt x="11" y="102"/>
                  </a:lnTo>
                  <a:lnTo>
                    <a:pt x="16" y="109"/>
                  </a:lnTo>
                  <a:lnTo>
                    <a:pt x="20" y="116"/>
                  </a:lnTo>
                  <a:lnTo>
                    <a:pt x="27" y="123"/>
                  </a:lnTo>
                  <a:lnTo>
                    <a:pt x="33" y="129"/>
                  </a:lnTo>
                  <a:lnTo>
                    <a:pt x="40" y="134"/>
                  </a:lnTo>
                  <a:lnTo>
                    <a:pt x="47" y="139"/>
                  </a:lnTo>
                  <a:lnTo>
                    <a:pt x="56" y="142"/>
                  </a:lnTo>
                  <a:lnTo>
                    <a:pt x="63" y="145"/>
                  </a:lnTo>
                  <a:lnTo>
                    <a:pt x="72" y="148"/>
                  </a:lnTo>
                  <a:lnTo>
                    <a:pt x="82" y="149"/>
                  </a:lnTo>
                  <a:lnTo>
                    <a:pt x="90" y="150"/>
                  </a:lnTo>
                  <a:lnTo>
                    <a:pt x="360" y="150"/>
                  </a:lnTo>
                  <a:lnTo>
                    <a:pt x="370" y="149"/>
                  </a:lnTo>
                  <a:lnTo>
                    <a:pt x="379" y="148"/>
                  </a:lnTo>
                  <a:lnTo>
                    <a:pt x="386" y="145"/>
                  </a:lnTo>
                  <a:lnTo>
                    <a:pt x="395" y="143"/>
                  </a:lnTo>
                  <a:lnTo>
                    <a:pt x="402" y="139"/>
                  </a:lnTo>
                  <a:lnTo>
                    <a:pt x="409" y="135"/>
                  </a:lnTo>
                  <a:lnTo>
                    <a:pt x="415" y="130"/>
                  </a:lnTo>
                  <a:lnTo>
                    <a:pt x="422" y="124"/>
                  </a:lnTo>
                  <a:lnTo>
                    <a:pt x="428" y="117"/>
                  </a:lnTo>
                  <a:lnTo>
                    <a:pt x="433" y="111"/>
                  </a:lnTo>
                  <a:lnTo>
                    <a:pt x="438" y="104"/>
                  </a:lnTo>
                  <a:lnTo>
                    <a:pt x="442" y="96"/>
                  </a:lnTo>
                  <a:lnTo>
                    <a:pt x="445" y="87"/>
                  </a:lnTo>
                  <a:lnTo>
                    <a:pt x="447" y="79"/>
                  </a:lnTo>
                  <a:lnTo>
                    <a:pt x="449" y="69"/>
                  </a:lnTo>
                  <a:lnTo>
                    <a:pt x="451" y="60"/>
                  </a:lnTo>
                  <a:lnTo>
                    <a:pt x="451" y="0"/>
                  </a:lnTo>
                  <a:lnTo>
                    <a:pt x="0" y="0"/>
                  </a:lnTo>
                  <a:lnTo>
                    <a:pt x="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4" name="Freeform 2025">
              <a:extLst>
                <a:ext uri="{FF2B5EF4-FFF2-40B4-BE49-F238E27FC236}">
                  <a16:creationId xmlns:a16="http://schemas.microsoft.com/office/drawing/2014/main" id="{AD44BCFE-381C-4084-BB3E-AC4E2D2DE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5525" y="2017713"/>
              <a:ext cx="142875" cy="123825"/>
            </a:xfrm>
            <a:custGeom>
              <a:avLst/>
              <a:gdLst>
                <a:gd name="T0" fmla="*/ 318 w 451"/>
                <a:gd name="T1" fmla="*/ 0 h 390"/>
                <a:gd name="T2" fmla="*/ 30 w 451"/>
                <a:gd name="T3" fmla="*/ 0 h 390"/>
                <a:gd name="T4" fmla="*/ 0 w 451"/>
                <a:gd name="T5" fmla="*/ 0 h 390"/>
                <a:gd name="T6" fmla="*/ 0 w 451"/>
                <a:gd name="T7" fmla="*/ 390 h 390"/>
                <a:gd name="T8" fmla="*/ 451 w 451"/>
                <a:gd name="T9" fmla="*/ 390 h 390"/>
                <a:gd name="T10" fmla="*/ 451 w 451"/>
                <a:gd name="T11" fmla="*/ 30 h 390"/>
                <a:gd name="T12" fmla="*/ 375 w 451"/>
                <a:gd name="T13" fmla="*/ 30 h 390"/>
                <a:gd name="T14" fmla="*/ 367 w 451"/>
                <a:gd name="T15" fmla="*/ 29 h 390"/>
                <a:gd name="T16" fmla="*/ 359 w 451"/>
                <a:gd name="T17" fmla="*/ 27 h 390"/>
                <a:gd name="T18" fmla="*/ 351 w 451"/>
                <a:gd name="T19" fmla="*/ 25 h 390"/>
                <a:gd name="T20" fmla="*/ 343 w 451"/>
                <a:gd name="T21" fmla="*/ 21 h 390"/>
                <a:gd name="T22" fmla="*/ 336 w 451"/>
                <a:gd name="T23" fmla="*/ 17 h 390"/>
                <a:gd name="T24" fmla="*/ 329 w 451"/>
                <a:gd name="T25" fmla="*/ 12 h 390"/>
                <a:gd name="T26" fmla="*/ 323 w 451"/>
                <a:gd name="T27" fmla="*/ 6 h 390"/>
                <a:gd name="T28" fmla="*/ 318 w 451"/>
                <a:gd name="T29" fmla="*/ 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1" h="390">
                  <a:moveTo>
                    <a:pt x="318" y="0"/>
                  </a:moveTo>
                  <a:lnTo>
                    <a:pt x="30" y="0"/>
                  </a:lnTo>
                  <a:lnTo>
                    <a:pt x="0" y="0"/>
                  </a:lnTo>
                  <a:lnTo>
                    <a:pt x="0" y="390"/>
                  </a:lnTo>
                  <a:lnTo>
                    <a:pt x="451" y="390"/>
                  </a:lnTo>
                  <a:lnTo>
                    <a:pt x="451" y="30"/>
                  </a:lnTo>
                  <a:lnTo>
                    <a:pt x="375" y="30"/>
                  </a:lnTo>
                  <a:lnTo>
                    <a:pt x="367" y="29"/>
                  </a:lnTo>
                  <a:lnTo>
                    <a:pt x="359" y="27"/>
                  </a:lnTo>
                  <a:lnTo>
                    <a:pt x="351" y="25"/>
                  </a:lnTo>
                  <a:lnTo>
                    <a:pt x="343" y="21"/>
                  </a:lnTo>
                  <a:lnTo>
                    <a:pt x="336" y="17"/>
                  </a:lnTo>
                  <a:lnTo>
                    <a:pt x="329" y="12"/>
                  </a:lnTo>
                  <a:lnTo>
                    <a:pt x="323" y="6"/>
                  </a:lnTo>
                  <a:lnTo>
                    <a:pt x="3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" name="Freeform 2026">
              <a:extLst>
                <a:ext uri="{FF2B5EF4-FFF2-40B4-BE49-F238E27FC236}">
                  <a16:creationId xmlns:a16="http://schemas.microsoft.com/office/drawing/2014/main" id="{53FDEEB6-B7E5-4317-BF5C-105279C6C6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10300" y="1922463"/>
              <a:ext cx="173038" cy="127000"/>
            </a:xfrm>
            <a:custGeom>
              <a:avLst/>
              <a:gdLst>
                <a:gd name="T0" fmla="*/ 360 w 542"/>
                <a:gd name="T1" fmla="*/ 172 h 400"/>
                <a:gd name="T2" fmla="*/ 351 w 542"/>
                <a:gd name="T3" fmla="*/ 166 h 400"/>
                <a:gd name="T4" fmla="*/ 348 w 542"/>
                <a:gd name="T5" fmla="*/ 155 h 400"/>
                <a:gd name="T6" fmla="*/ 351 w 542"/>
                <a:gd name="T7" fmla="*/ 144 h 400"/>
                <a:gd name="T8" fmla="*/ 360 w 542"/>
                <a:gd name="T9" fmla="*/ 138 h 400"/>
                <a:gd name="T10" fmla="*/ 372 w 542"/>
                <a:gd name="T11" fmla="*/ 137 h 400"/>
                <a:gd name="T12" fmla="*/ 381 w 542"/>
                <a:gd name="T13" fmla="*/ 142 h 400"/>
                <a:gd name="T14" fmla="*/ 385 w 542"/>
                <a:gd name="T15" fmla="*/ 152 h 400"/>
                <a:gd name="T16" fmla="*/ 384 w 542"/>
                <a:gd name="T17" fmla="*/ 163 h 400"/>
                <a:gd name="T18" fmla="*/ 378 w 542"/>
                <a:gd name="T19" fmla="*/ 171 h 400"/>
                <a:gd name="T20" fmla="*/ 367 w 542"/>
                <a:gd name="T21" fmla="*/ 174 h 400"/>
                <a:gd name="T22" fmla="*/ 269 w 542"/>
                <a:gd name="T23" fmla="*/ 174 h 400"/>
                <a:gd name="T24" fmla="*/ 259 w 542"/>
                <a:gd name="T25" fmla="*/ 169 h 400"/>
                <a:gd name="T26" fmla="*/ 254 w 542"/>
                <a:gd name="T27" fmla="*/ 159 h 400"/>
                <a:gd name="T28" fmla="*/ 256 w 542"/>
                <a:gd name="T29" fmla="*/ 148 h 400"/>
                <a:gd name="T30" fmla="*/ 262 w 542"/>
                <a:gd name="T31" fmla="*/ 140 h 400"/>
                <a:gd name="T32" fmla="*/ 273 w 542"/>
                <a:gd name="T33" fmla="*/ 137 h 400"/>
                <a:gd name="T34" fmla="*/ 284 w 542"/>
                <a:gd name="T35" fmla="*/ 140 h 400"/>
                <a:gd name="T36" fmla="*/ 290 w 542"/>
                <a:gd name="T37" fmla="*/ 148 h 400"/>
                <a:gd name="T38" fmla="*/ 291 w 542"/>
                <a:gd name="T39" fmla="*/ 159 h 400"/>
                <a:gd name="T40" fmla="*/ 286 w 542"/>
                <a:gd name="T41" fmla="*/ 169 h 400"/>
                <a:gd name="T42" fmla="*/ 276 w 542"/>
                <a:gd name="T43" fmla="*/ 174 h 400"/>
                <a:gd name="T44" fmla="*/ 177 w 542"/>
                <a:gd name="T45" fmla="*/ 174 h 400"/>
                <a:gd name="T46" fmla="*/ 168 w 542"/>
                <a:gd name="T47" fmla="*/ 171 h 400"/>
                <a:gd name="T48" fmla="*/ 160 w 542"/>
                <a:gd name="T49" fmla="*/ 163 h 400"/>
                <a:gd name="T50" fmla="*/ 159 w 542"/>
                <a:gd name="T51" fmla="*/ 152 h 400"/>
                <a:gd name="T52" fmla="*/ 165 w 542"/>
                <a:gd name="T53" fmla="*/ 142 h 400"/>
                <a:gd name="T54" fmla="*/ 174 w 542"/>
                <a:gd name="T55" fmla="*/ 137 h 400"/>
                <a:gd name="T56" fmla="*/ 185 w 542"/>
                <a:gd name="T57" fmla="*/ 138 h 400"/>
                <a:gd name="T58" fmla="*/ 193 w 542"/>
                <a:gd name="T59" fmla="*/ 144 h 400"/>
                <a:gd name="T60" fmla="*/ 197 w 542"/>
                <a:gd name="T61" fmla="*/ 155 h 400"/>
                <a:gd name="T62" fmla="*/ 193 w 542"/>
                <a:gd name="T63" fmla="*/ 166 h 400"/>
                <a:gd name="T64" fmla="*/ 185 w 542"/>
                <a:gd name="T65" fmla="*/ 173 h 400"/>
                <a:gd name="T66" fmla="*/ 177 w 542"/>
                <a:gd name="T67" fmla="*/ 174 h 400"/>
                <a:gd name="T68" fmla="*/ 37 w 542"/>
                <a:gd name="T69" fmla="*/ 1 h 400"/>
                <a:gd name="T70" fmla="*/ 14 w 542"/>
                <a:gd name="T71" fmla="*/ 14 h 400"/>
                <a:gd name="T72" fmla="*/ 2 w 542"/>
                <a:gd name="T73" fmla="*/ 36 h 400"/>
                <a:gd name="T74" fmla="*/ 2 w 542"/>
                <a:gd name="T75" fmla="*/ 264 h 400"/>
                <a:gd name="T76" fmla="*/ 14 w 542"/>
                <a:gd name="T77" fmla="*/ 287 h 400"/>
                <a:gd name="T78" fmla="*/ 37 w 542"/>
                <a:gd name="T79" fmla="*/ 300 h 400"/>
                <a:gd name="T80" fmla="*/ 91 w 542"/>
                <a:gd name="T81" fmla="*/ 301 h 400"/>
                <a:gd name="T82" fmla="*/ 172 w 542"/>
                <a:gd name="T83" fmla="*/ 302 h 400"/>
                <a:gd name="T84" fmla="*/ 178 w 542"/>
                <a:gd name="T85" fmla="*/ 307 h 400"/>
                <a:gd name="T86" fmla="*/ 182 w 542"/>
                <a:gd name="T87" fmla="*/ 316 h 400"/>
                <a:gd name="T88" fmla="*/ 280 w 542"/>
                <a:gd name="T89" fmla="*/ 303 h 400"/>
                <a:gd name="T90" fmla="*/ 288 w 542"/>
                <a:gd name="T91" fmla="*/ 301 h 400"/>
                <a:gd name="T92" fmla="*/ 513 w 542"/>
                <a:gd name="T93" fmla="*/ 297 h 400"/>
                <a:gd name="T94" fmla="*/ 533 w 542"/>
                <a:gd name="T95" fmla="*/ 280 h 400"/>
                <a:gd name="T96" fmla="*/ 542 w 542"/>
                <a:gd name="T97" fmla="*/ 255 h 400"/>
                <a:gd name="T98" fmla="*/ 538 w 542"/>
                <a:gd name="T99" fmla="*/ 29 h 400"/>
                <a:gd name="T100" fmla="*/ 522 w 542"/>
                <a:gd name="T101" fmla="*/ 8 h 400"/>
                <a:gd name="T102" fmla="*/ 497 w 542"/>
                <a:gd name="T103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42" h="400">
                  <a:moveTo>
                    <a:pt x="367" y="174"/>
                  </a:moveTo>
                  <a:lnTo>
                    <a:pt x="364" y="174"/>
                  </a:lnTo>
                  <a:lnTo>
                    <a:pt x="360" y="172"/>
                  </a:lnTo>
                  <a:lnTo>
                    <a:pt x="357" y="171"/>
                  </a:lnTo>
                  <a:lnTo>
                    <a:pt x="354" y="169"/>
                  </a:lnTo>
                  <a:lnTo>
                    <a:pt x="351" y="166"/>
                  </a:lnTo>
                  <a:lnTo>
                    <a:pt x="350" y="163"/>
                  </a:lnTo>
                  <a:lnTo>
                    <a:pt x="349" y="159"/>
                  </a:lnTo>
                  <a:lnTo>
                    <a:pt x="348" y="155"/>
                  </a:lnTo>
                  <a:lnTo>
                    <a:pt x="349" y="152"/>
                  </a:lnTo>
                  <a:lnTo>
                    <a:pt x="350" y="148"/>
                  </a:lnTo>
                  <a:lnTo>
                    <a:pt x="351" y="144"/>
                  </a:lnTo>
                  <a:lnTo>
                    <a:pt x="354" y="142"/>
                  </a:lnTo>
                  <a:lnTo>
                    <a:pt x="357" y="140"/>
                  </a:lnTo>
                  <a:lnTo>
                    <a:pt x="360" y="138"/>
                  </a:lnTo>
                  <a:lnTo>
                    <a:pt x="364" y="137"/>
                  </a:lnTo>
                  <a:lnTo>
                    <a:pt x="367" y="137"/>
                  </a:lnTo>
                  <a:lnTo>
                    <a:pt x="372" y="137"/>
                  </a:lnTo>
                  <a:lnTo>
                    <a:pt x="375" y="138"/>
                  </a:lnTo>
                  <a:lnTo>
                    <a:pt x="378" y="140"/>
                  </a:lnTo>
                  <a:lnTo>
                    <a:pt x="381" y="142"/>
                  </a:lnTo>
                  <a:lnTo>
                    <a:pt x="383" y="144"/>
                  </a:lnTo>
                  <a:lnTo>
                    <a:pt x="384" y="148"/>
                  </a:lnTo>
                  <a:lnTo>
                    <a:pt x="385" y="152"/>
                  </a:lnTo>
                  <a:lnTo>
                    <a:pt x="387" y="155"/>
                  </a:lnTo>
                  <a:lnTo>
                    <a:pt x="385" y="159"/>
                  </a:lnTo>
                  <a:lnTo>
                    <a:pt x="384" y="163"/>
                  </a:lnTo>
                  <a:lnTo>
                    <a:pt x="383" y="166"/>
                  </a:lnTo>
                  <a:lnTo>
                    <a:pt x="381" y="169"/>
                  </a:lnTo>
                  <a:lnTo>
                    <a:pt x="378" y="171"/>
                  </a:lnTo>
                  <a:lnTo>
                    <a:pt x="375" y="173"/>
                  </a:lnTo>
                  <a:lnTo>
                    <a:pt x="372" y="174"/>
                  </a:lnTo>
                  <a:lnTo>
                    <a:pt x="367" y="174"/>
                  </a:lnTo>
                  <a:lnTo>
                    <a:pt x="367" y="174"/>
                  </a:lnTo>
                  <a:close/>
                  <a:moveTo>
                    <a:pt x="273" y="174"/>
                  </a:moveTo>
                  <a:lnTo>
                    <a:pt x="269" y="174"/>
                  </a:lnTo>
                  <a:lnTo>
                    <a:pt x="265" y="172"/>
                  </a:lnTo>
                  <a:lnTo>
                    <a:pt x="262" y="171"/>
                  </a:lnTo>
                  <a:lnTo>
                    <a:pt x="259" y="169"/>
                  </a:lnTo>
                  <a:lnTo>
                    <a:pt x="257" y="166"/>
                  </a:lnTo>
                  <a:lnTo>
                    <a:pt x="256" y="163"/>
                  </a:lnTo>
                  <a:lnTo>
                    <a:pt x="254" y="159"/>
                  </a:lnTo>
                  <a:lnTo>
                    <a:pt x="254" y="155"/>
                  </a:lnTo>
                  <a:lnTo>
                    <a:pt x="254" y="152"/>
                  </a:lnTo>
                  <a:lnTo>
                    <a:pt x="256" y="148"/>
                  </a:lnTo>
                  <a:lnTo>
                    <a:pt x="257" y="144"/>
                  </a:lnTo>
                  <a:lnTo>
                    <a:pt x="259" y="142"/>
                  </a:lnTo>
                  <a:lnTo>
                    <a:pt x="262" y="140"/>
                  </a:lnTo>
                  <a:lnTo>
                    <a:pt x="265" y="138"/>
                  </a:lnTo>
                  <a:lnTo>
                    <a:pt x="269" y="137"/>
                  </a:lnTo>
                  <a:lnTo>
                    <a:pt x="273" y="137"/>
                  </a:lnTo>
                  <a:lnTo>
                    <a:pt x="276" y="137"/>
                  </a:lnTo>
                  <a:lnTo>
                    <a:pt x="280" y="138"/>
                  </a:lnTo>
                  <a:lnTo>
                    <a:pt x="284" y="140"/>
                  </a:lnTo>
                  <a:lnTo>
                    <a:pt x="286" y="142"/>
                  </a:lnTo>
                  <a:lnTo>
                    <a:pt x="288" y="144"/>
                  </a:lnTo>
                  <a:lnTo>
                    <a:pt x="290" y="148"/>
                  </a:lnTo>
                  <a:lnTo>
                    <a:pt x="291" y="152"/>
                  </a:lnTo>
                  <a:lnTo>
                    <a:pt x="291" y="155"/>
                  </a:lnTo>
                  <a:lnTo>
                    <a:pt x="291" y="159"/>
                  </a:lnTo>
                  <a:lnTo>
                    <a:pt x="290" y="163"/>
                  </a:lnTo>
                  <a:lnTo>
                    <a:pt x="288" y="166"/>
                  </a:lnTo>
                  <a:lnTo>
                    <a:pt x="286" y="169"/>
                  </a:lnTo>
                  <a:lnTo>
                    <a:pt x="284" y="171"/>
                  </a:lnTo>
                  <a:lnTo>
                    <a:pt x="280" y="173"/>
                  </a:lnTo>
                  <a:lnTo>
                    <a:pt x="276" y="174"/>
                  </a:lnTo>
                  <a:lnTo>
                    <a:pt x="273" y="174"/>
                  </a:lnTo>
                  <a:lnTo>
                    <a:pt x="273" y="174"/>
                  </a:lnTo>
                  <a:close/>
                  <a:moveTo>
                    <a:pt x="177" y="174"/>
                  </a:moveTo>
                  <a:lnTo>
                    <a:pt x="174" y="174"/>
                  </a:lnTo>
                  <a:lnTo>
                    <a:pt x="171" y="172"/>
                  </a:lnTo>
                  <a:lnTo>
                    <a:pt x="168" y="171"/>
                  </a:lnTo>
                  <a:lnTo>
                    <a:pt x="165" y="169"/>
                  </a:lnTo>
                  <a:lnTo>
                    <a:pt x="162" y="166"/>
                  </a:lnTo>
                  <a:lnTo>
                    <a:pt x="160" y="163"/>
                  </a:lnTo>
                  <a:lnTo>
                    <a:pt x="159" y="159"/>
                  </a:lnTo>
                  <a:lnTo>
                    <a:pt x="159" y="155"/>
                  </a:lnTo>
                  <a:lnTo>
                    <a:pt x="159" y="152"/>
                  </a:lnTo>
                  <a:lnTo>
                    <a:pt x="160" y="148"/>
                  </a:lnTo>
                  <a:lnTo>
                    <a:pt x="162" y="144"/>
                  </a:lnTo>
                  <a:lnTo>
                    <a:pt x="165" y="142"/>
                  </a:lnTo>
                  <a:lnTo>
                    <a:pt x="168" y="140"/>
                  </a:lnTo>
                  <a:lnTo>
                    <a:pt x="171" y="138"/>
                  </a:lnTo>
                  <a:lnTo>
                    <a:pt x="174" y="137"/>
                  </a:lnTo>
                  <a:lnTo>
                    <a:pt x="177" y="137"/>
                  </a:lnTo>
                  <a:lnTo>
                    <a:pt x="182" y="137"/>
                  </a:lnTo>
                  <a:lnTo>
                    <a:pt x="185" y="138"/>
                  </a:lnTo>
                  <a:lnTo>
                    <a:pt x="188" y="140"/>
                  </a:lnTo>
                  <a:lnTo>
                    <a:pt x="191" y="142"/>
                  </a:lnTo>
                  <a:lnTo>
                    <a:pt x="193" y="144"/>
                  </a:lnTo>
                  <a:lnTo>
                    <a:pt x="196" y="148"/>
                  </a:lnTo>
                  <a:lnTo>
                    <a:pt x="197" y="152"/>
                  </a:lnTo>
                  <a:lnTo>
                    <a:pt x="197" y="155"/>
                  </a:lnTo>
                  <a:lnTo>
                    <a:pt x="197" y="159"/>
                  </a:lnTo>
                  <a:lnTo>
                    <a:pt x="196" y="163"/>
                  </a:lnTo>
                  <a:lnTo>
                    <a:pt x="193" y="166"/>
                  </a:lnTo>
                  <a:lnTo>
                    <a:pt x="191" y="169"/>
                  </a:lnTo>
                  <a:lnTo>
                    <a:pt x="188" y="171"/>
                  </a:lnTo>
                  <a:lnTo>
                    <a:pt x="185" y="173"/>
                  </a:lnTo>
                  <a:lnTo>
                    <a:pt x="182" y="174"/>
                  </a:lnTo>
                  <a:lnTo>
                    <a:pt x="177" y="174"/>
                  </a:lnTo>
                  <a:lnTo>
                    <a:pt x="177" y="174"/>
                  </a:lnTo>
                  <a:close/>
                  <a:moveTo>
                    <a:pt x="497" y="0"/>
                  </a:moveTo>
                  <a:lnTo>
                    <a:pt x="45" y="0"/>
                  </a:lnTo>
                  <a:lnTo>
                    <a:pt x="37" y="1"/>
                  </a:lnTo>
                  <a:lnTo>
                    <a:pt x="29" y="4"/>
                  </a:lnTo>
                  <a:lnTo>
                    <a:pt x="22" y="8"/>
                  </a:lnTo>
                  <a:lnTo>
                    <a:pt x="14" y="14"/>
                  </a:lnTo>
                  <a:lnTo>
                    <a:pt x="9" y="21"/>
                  </a:lnTo>
                  <a:lnTo>
                    <a:pt x="5" y="29"/>
                  </a:lnTo>
                  <a:lnTo>
                    <a:pt x="2" y="36"/>
                  </a:lnTo>
                  <a:lnTo>
                    <a:pt x="0" y="45"/>
                  </a:lnTo>
                  <a:lnTo>
                    <a:pt x="0" y="255"/>
                  </a:lnTo>
                  <a:lnTo>
                    <a:pt x="2" y="264"/>
                  </a:lnTo>
                  <a:lnTo>
                    <a:pt x="5" y="272"/>
                  </a:lnTo>
                  <a:lnTo>
                    <a:pt x="9" y="280"/>
                  </a:lnTo>
                  <a:lnTo>
                    <a:pt x="14" y="287"/>
                  </a:lnTo>
                  <a:lnTo>
                    <a:pt x="22" y="292"/>
                  </a:lnTo>
                  <a:lnTo>
                    <a:pt x="29" y="297"/>
                  </a:lnTo>
                  <a:lnTo>
                    <a:pt x="37" y="300"/>
                  </a:lnTo>
                  <a:lnTo>
                    <a:pt x="45" y="301"/>
                  </a:lnTo>
                  <a:lnTo>
                    <a:pt x="76" y="301"/>
                  </a:lnTo>
                  <a:lnTo>
                    <a:pt x="91" y="301"/>
                  </a:lnTo>
                  <a:lnTo>
                    <a:pt x="167" y="301"/>
                  </a:lnTo>
                  <a:lnTo>
                    <a:pt x="169" y="301"/>
                  </a:lnTo>
                  <a:lnTo>
                    <a:pt x="172" y="302"/>
                  </a:lnTo>
                  <a:lnTo>
                    <a:pt x="174" y="303"/>
                  </a:lnTo>
                  <a:lnTo>
                    <a:pt x="176" y="305"/>
                  </a:lnTo>
                  <a:lnTo>
                    <a:pt x="178" y="307"/>
                  </a:lnTo>
                  <a:lnTo>
                    <a:pt x="180" y="310"/>
                  </a:lnTo>
                  <a:lnTo>
                    <a:pt x="181" y="313"/>
                  </a:lnTo>
                  <a:lnTo>
                    <a:pt x="182" y="316"/>
                  </a:lnTo>
                  <a:lnTo>
                    <a:pt x="182" y="400"/>
                  </a:lnTo>
                  <a:lnTo>
                    <a:pt x="278" y="305"/>
                  </a:lnTo>
                  <a:lnTo>
                    <a:pt x="280" y="303"/>
                  </a:lnTo>
                  <a:lnTo>
                    <a:pt x="283" y="302"/>
                  </a:lnTo>
                  <a:lnTo>
                    <a:pt x="286" y="301"/>
                  </a:lnTo>
                  <a:lnTo>
                    <a:pt x="288" y="301"/>
                  </a:lnTo>
                  <a:lnTo>
                    <a:pt x="497" y="301"/>
                  </a:lnTo>
                  <a:lnTo>
                    <a:pt x="506" y="300"/>
                  </a:lnTo>
                  <a:lnTo>
                    <a:pt x="513" y="297"/>
                  </a:lnTo>
                  <a:lnTo>
                    <a:pt x="522" y="292"/>
                  </a:lnTo>
                  <a:lnTo>
                    <a:pt x="528" y="287"/>
                  </a:lnTo>
                  <a:lnTo>
                    <a:pt x="533" y="280"/>
                  </a:lnTo>
                  <a:lnTo>
                    <a:pt x="538" y="272"/>
                  </a:lnTo>
                  <a:lnTo>
                    <a:pt x="541" y="264"/>
                  </a:lnTo>
                  <a:lnTo>
                    <a:pt x="542" y="255"/>
                  </a:lnTo>
                  <a:lnTo>
                    <a:pt x="542" y="45"/>
                  </a:lnTo>
                  <a:lnTo>
                    <a:pt x="541" y="36"/>
                  </a:lnTo>
                  <a:lnTo>
                    <a:pt x="538" y="29"/>
                  </a:lnTo>
                  <a:lnTo>
                    <a:pt x="533" y="21"/>
                  </a:lnTo>
                  <a:lnTo>
                    <a:pt x="528" y="14"/>
                  </a:lnTo>
                  <a:lnTo>
                    <a:pt x="522" y="8"/>
                  </a:lnTo>
                  <a:lnTo>
                    <a:pt x="513" y="4"/>
                  </a:lnTo>
                  <a:lnTo>
                    <a:pt x="506" y="1"/>
                  </a:lnTo>
                  <a:lnTo>
                    <a:pt x="497" y="0"/>
                  </a:lnTo>
                  <a:lnTo>
                    <a:pt x="49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06" name="Group 105" descr="Icon of paper. ">
            <a:extLst>
              <a:ext uri="{FF2B5EF4-FFF2-40B4-BE49-F238E27FC236}">
                <a16:creationId xmlns:a16="http://schemas.microsoft.com/office/drawing/2014/main" id="{5A7B4376-F48C-4D8D-B85C-E30B7B3E6434}"/>
              </a:ext>
            </a:extLst>
          </p:cNvPr>
          <p:cNvGrpSpPr/>
          <p:nvPr/>
        </p:nvGrpSpPr>
        <p:grpSpPr>
          <a:xfrm>
            <a:off x="8841182" y="1368977"/>
            <a:ext cx="220663" cy="285750"/>
            <a:chOff x="4926013" y="796925"/>
            <a:chExt cx="220663" cy="285750"/>
          </a:xfrm>
          <a:solidFill>
            <a:schemeClr val="bg1"/>
          </a:solidFill>
        </p:grpSpPr>
        <p:sp>
          <p:nvSpPr>
            <p:cNvPr id="107" name="Rectangle 946">
              <a:extLst>
                <a:ext uri="{FF2B5EF4-FFF2-40B4-BE49-F238E27FC236}">
                  <a16:creationId xmlns:a16="http://schemas.microsoft.com/office/drawing/2014/main" id="{E782BD69-3279-4D29-AD06-A103E2126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6025" y="996950"/>
              <a:ext cx="30163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8" name="Rectangle 947">
              <a:extLst>
                <a:ext uri="{FF2B5EF4-FFF2-40B4-BE49-F238E27FC236}">
                  <a16:creationId xmlns:a16="http://schemas.microsoft.com/office/drawing/2014/main" id="{F640AD22-6F68-4745-898A-0D4AADEA2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125" y="930275"/>
              <a:ext cx="28575" cy="952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9" name="Rectangle 948">
              <a:extLst>
                <a:ext uri="{FF2B5EF4-FFF2-40B4-BE49-F238E27FC236}">
                  <a16:creationId xmlns:a16="http://schemas.microsoft.com/office/drawing/2014/main" id="{78786D45-C595-4A69-9D2B-EB0280EF2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7925" y="977900"/>
              <a:ext cx="28575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0" name="Freeform 949">
              <a:extLst>
                <a:ext uri="{FF2B5EF4-FFF2-40B4-BE49-F238E27FC236}">
                  <a16:creationId xmlns:a16="http://schemas.microsoft.com/office/drawing/2014/main" id="{CF9052AD-F144-4CD7-B6F9-E2E57C7EB7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26013" y="796925"/>
              <a:ext cx="220663" cy="285750"/>
            </a:xfrm>
            <a:custGeom>
              <a:avLst/>
              <a:gdLst>
                <a:gd name="T0" fmla="*/ 349 w 553"/>
                <a:gd name="T1" fmla="*/ 11 h 722"/>
                <a:gd name="T2" fmla="*/ 349 w 553"/>
                <a:gd name="T3" fmla="*/ 204 h 722"/>
                <a:gd name="T4" fmla="*/ 445 w 553"/>
                <a:gd name="T5" fmla="*/ 590 h 722"/>
                <a:gd name="T6" fmla="*/ 445 w 553"/>
                <a:gd name="T7" fmla="*/ 590 h 722"/>
                <a:gd name="T8" fmla="*/ 444 w 553"/>
                <a:gd name="T9" fmla="*/ 595 h 722"/>
                <a:gd name="T10" fmla="*/ 438 w 553"/>
                <a:gd name="T11" fmla="*/ 601 h 722"/>
                <a:gd name="T12" fmla="*/ 145 w 553"/>
                <a:gd name="T13" fmla="*/ 602 h 722"/>
                <a:gd name="T14" fmla="*/ 135 w 553"/>
                <a:gd name="T15" fmla="*/ 599 h 722"/>
                <a:gd name="T16" fmla="*/ 132 w 553"/>
                <a:gd name="T17" fmla="*/ 590 h 722"/>
                <a:gd name="T18" fmla="*/ 133 w 553"/>
                <a:gd name="T19" fmla="*/ 236 h 722"/>
                <a:gd name="T20" fmla="*/ 139 w 553"/>
                <a:gd name="T21" fmla="*/ 230 h 722"/>
                <a:gd name="T22" fmla="*/ 149 w 553"/>
                <a:gd name="T23" fmla="*/ 230 h 722"/>
                <a:gd name="T24" fmla="*/ 155 w 553"/>
                <a:gd name="T25" fmla="*/ 236 h 722"/>
                <a:gd name="T26" fmla="*/ 156 w 553"/>
                <a:gd name="T27" fmla="*/ 434 h 722"/>
                <a:gd name="T28" fmla="*/ 238 w 553"/>
                <a:gd name="T29" fmla="*/ 434 h 722"/>
                <a:gd name="T30" fmla="*/ 239 w 553"/>
                <a:gd name="T31" fmla="*/ 434 h 722"/>
                <a:gd name="T32" fmla="*/ 246 w 553"/>
                <a:gd name="T33" fmla="*/ 435 h 722"/>
                <a:gd name="T34" fmla="*/ 252 w 553"/>
                <a:gd name="T35" fmla="*/ 441 h 722"/>
                <a:gd name="T36" fmla="*/ 253 w 553"/>
                <a:gd name="T37" fmla="*/ 481 h 722"/>
                <a:gd name="T38" fmla="*/ 325 w 553"/>
                <a:gd name="T39" fmla="*/ 324 h 722"/>
                <a:gd name="T40" fmla="*/ 328 w 553"/>
                <a:gd name="T41" fmla="*/ 316 h 722"/>
                <a:gd name="T42" fmla="*/ 337 w 553"/>
                <a:gd name="T43" fmla="*/ 313 h 722"/>
                <a:gd name="T44" fmla="*/ 438 w 553"/>
                <a:gd name="T45" fmla="*/ 314 h 722"/>
                <a:gd name="T46" fmla="*/ 444 w 553"/>
                <a:gd name="T47" fmla="*/ 320 h 722"/>
                <a:gd name="T48" fmla="*/ 445 w 553"/>
                <a:gd name="T49" fmla="*/ 590 h 722"/>
                <a:gd name="T50" fmla="*/ 358 w 553"/>
                <a:gd name="T51" fmla="*/ 3 h 722"/>
                <a:gd name="T52" fmla="*/ 349 w 553"/>
                <a:gd name="T53" fmla="*/ 0 h 722"/>
                <a:gd name="T54" fmla="*/ 7 w 553"/>
                <a:gd name="T55" fmla="*/ 1 h 722"/>
                <a:gd name="T56" fmla="*/ 1 w 553"/>
                <a:gd name="T57" fmla="*/ 7 h 722"/>
                <a:gd name="T58" fmla="*/ 0 w 553"/>
                <a:gd name="T59" fmla="*/ 710 h 722"/>
                <a:gd name="T60" fmla="*/ 3 w 553"/>
                <a:gd name="T61" fmla="*/ 719 h 722"/>
                <a:gd name="T62" fmla="*/ 12 w 553"/>
                <a:gd name="T63" fmla="*/ 722 h 722"/>
                <a:gd name="T64" fmla="*/ 546 w 553"/>
                <a:gd name="T65" fmla="*/ 721 h 722"/>
                <a:gd name="T66" fmla="*/ 552 w 553"/>
                <a:gd name="T67" fmla="*/ 715 h 722"/>
                <a:gd name="T68" fmla="*/ 553 w 553"/>
                <a:gd name="T69" fmla="*/ 204 h 722"/>
                <a:gd name="T70" fmla="*/ 550 w 553"/>
                <a:gd name="T71" fmla="*/ 196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3" h="722">
                  <a:moveTo>
                    <a:pt x="349" y="204"/>
                  </a:moveTo>
                  <a:lnTo>
                    <a:pt x="349" y="11"/>
                  </a:lnTo>
                  <a:lnTo>
                    <a:pt x="541" y="204"/>
                  </a:lnTo>
                  <a:lnTo>
                    <a:pt x="349" y="204"/>
                  </a:lnTo>
                  <a:close/>
                  <a:moveTo>
                    <a:pt x="445" y="590"/>
                  </a:moveTo>
                  <a:lnTo>
                    <a:pt x="445" y="590"/>
                  </a:lnTo>
                  <a:lnTo>
                    <a:pt x="445" y="590"/>
                  </a:lnTo>
                  <a:lnTo>
                    <a:pt x="445" y="590"/>
                  </a:lnTo>
                  <a:lnTo>
                    <a:pt x="445" y="590"/>
                  </a:lnTo>
                  <a:lnTo>
                    <a:pt x="444" y="595"/>
                  </a:lnTo>
                  <a:lnTo>
                    <a:pt x="441" y="599"/>
                  </a:lnTo>
                  <a:lnTo>
                    <a:pt x="438" y="601"/>
                  </a:lnTo>
                  <a:lnTo>
                    <a:pt x="433" y="602"/>
                  </a:lnTo>
                  <a:lnTo>
                    <a:pt x="145" y="602"/>
                  </a:lnTo>
                  <a:lnTo>
                    <a:pt x="139" y="601"/>
                  </a:lnTo>
                  <a:lnTo>
                    <a:pt x="135" y="599"/>
                  </a:lnTo>
                  <a:lnTo>
                    <a:pt x="133" y="595"/>
                  </a:lnTo>
                  <a:lnTo>
                    <a:pt x="132" y="590"/>
                  </a:lnTo>
                  <a:lnTo>
                    <a:pt x="132" y="241"/>
                  </a:lnTo>
                  <a:lnTo>
                    <a:pt x="133" y="236"/>
                  </a:lnTo>
                  <a:lnTo>
                    <a:pt x="135" y="232"/>
                  </a:lnTo>
                  <a:lnTo>
                    <a:pt x="139" y="230"/>
                  </a:lnTo>
                  <a:lnTo>
                    <a:pt x="145" y="229"/>
                  </a:lnTo>
                  <a:lnTo>
                    <a:pt x="149" y="230"/>
                  </a:lnTo>
                  <a:lnTo>
                    <a:pt x="153" y="232"/>
                  </a:lnTo>
                  <a:lnTo>
                    <a:pt x="155" y="236"/>
                  </a:lnTo>
                  <a:lnTo>
                    <a:pt x="156" y="241"/>
                  </a:lnTo>
                  <a:lnTo>
                    <a:pt x="156" y="434"/>
                  </a:lnTo>
                  <a:lnTo>
                    <a:pt x="238" y="434"/>
                  </a:lnTo>
                  <a:lnTo>
                    <a:pt x="238" y="434"/>
                  </a:lnTo>
                  <a:lnTo>
                    <a:pt x="239" y="435"/>
                  </a:lnTo>
                  <a:lnTo>
                    <a:pt x="239" y="434"/>
                  </a:lnTo>
                  <a:lnTo>
                    <a:pt x="240" y="434"/>
                  </a:lnTo>
                  <a:lnTo>
                    <a:pt x="246" y="435"/>
                  </a:lnTo>
                  <a:lnTo>
                    <a:pt x="249" y="437"/>
                  </a:lnTo>
                  <a:lnTo>
                    <a:pt x="252" y="441"/>
                  </a:lnTo>
                  <a:lnTo>
                    <a:pt x="253" y="446"/>
                  </a:lnTo>
                  <a:lnTo>
                    <a:pt x="253" y="481"/>
                  </a:lnTo>
                  <a:lnTo>
                    <a:pt x="325" y="481"/>
                  </a:lnTo>
                  <a:lnTo>
                    <a:pt x="325" y="324"/>
                  </a:lnTo>
                  <a:lnTo>
                    <a:pt x="326" y="320"/>
                  </a:lnTo>
                  <a:lnTo>
                    <a:pt x="328" y="316"/>
                  </a:lnTo>
                  <a:lnTo>
                    <a:pt x="332" y="314"/>
                  </a:lnTo>
                  <a:lnTo>
                    <a:pt x="337" y="313"/>
                  </a:lnTo>
                  <a:lnTo>
                    <a:pt x="433" y="313"/>
                  </a:lnTo>
                  <a:lnTo>
                    <a:pt x="438" y="314"/>
                  </a:lnTo>
                  <a:lnTo>
                    <a:pt x="441" y="316"/>
                  </a:lnTo>
                  <a:lnTo>
                    <a:pt x="444" y="320"/>
                  </a:lnTo>
                  <a:lnTo>
                    <a:pt x="445" y="324"/>
                  </a:lnTo>
                  <a:lnTo>
                    <a:pt x="445" y="590"/>
                  </a:lnTo>
                  <a:close/>
                  <a:moveTo>
                    <a:pt x="550" y="196"/>
                  </a:moveTo>
                  <a:lnTo>
                    <a:pt x="358" y="3"/>
                  </a:lnTo>
                  <a:lnTo>
                    <a:pt x="354" y="0"/>
                  </a:lnTo>
                  <a:lnTo>
                    <a:pt x="349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710"/>
                  </a:lnTo>
                  <a:lnTo>
                    <a:pt x="1" y="715"/>
                  </a:lnTo>
                  <a:lnTo>
                    <a:pt x="3" y="719"/>
                  </a:lnTo>
                  <a:lnTo>
                    <a:pt x="7" y="721"/>
                  </a:lnTo>
                  <a:lnTo>
                    <a:pt x="12" y="722"/>
                  </a:lnTo>
                  <a:lnTo>
                    <a:pt x="541" y="722"/>
                  </a:lnTo>
                  <a:lnTo>
                    <a:pt x="546" y="721"/>
                  </a:lnTo>
                  <a:lnTo>
                    <a:pt x="550" y="719"/>
                  </a:lnTo>
                  <a:lnTo>
                    <a:pt x="552" y="715"/>
                  </a:lnTo>
                  <a:lnTo>
                    <a:pt x="553" y="710"/>
                  </a:lnTo>
                  <a:lnTo>
                    <a:pt x="553" y="204"/>
                  </a:lnTo>
                  <a:lnTo>
                    <a:pt x="552" y="200"/>
                  </a:lnTo>
                  <a:lnTo>
                    <a:pt x="55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1" name="Group 110" descr="Icon of symbol representing email.">
            <a:extLst>
              <a:ext uri="{FF2B5EF4-FFF2-40B4-BE49-F238E27FC236}">
                <a16:creationId xmlns:a16="http://schemas.microsoft.com/office/drawing/2014/main" id="{20CE09B7-A9E8-4791-ABE4-6FEC5916661D}"/>
              </a:ext>
            </a:extLst>
          </p:cNvPr>
          <p:cNvGrpSpPr/>
          <p:nvPr/>
        </p:nvGrpSpPr>
        <p:grpSpPr>
          <a:xfrm>
            <a:off x="7698977" y="1368977"/>
            <a:ext cx="285750" cy="285750"/>
            <a:chOff x="11028363" y="771525"/>
            <a:chExt cx="285750" cy="285750"/>
          </a:xfrm>
          <a:solidFill>
            <a:schemeClr val="bg1"/>
          </a:solidFill>
        </p:grpSpPr>
        <p:sp>
          <p:nvSpPr>
            <p:cNvPr id="112" name="Freeform 3620">
              <a:extLst>
                <a:ext uri="{FF2B5EF4-FFF2-40B4-BE49-F238E27FC236}">
                  <a16:creationId xmlns:a16="http://schemas.microsoft.com/office/drawing/2014/main" id="{849DA0EF-7528-4EE0-8C56-4F1997586C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33125" y="776288"/>
              <a:ext cx="277812" cy="276225"/>
            </a:xfrm>
            <a:custGeom>
              <a:avLst/>
              <a:gdLst>
                <a:gd name="T0" fmla="*/ 158 w 697"/>
                <a:gd name="T1" fmla="*/ 510 h 698"/>
                <a:gd name="T2" fmla="*/ 133 w 697"/>
                <a:gd name="T3" fmla="*/ 481 h 698"/>
                <a:gd name="T4" fmla="*/ 136 w 697"/>
                <a:gd name="T5" fmla="*/ 237 h 698"/>
                <a:gd name="T6" fmla="*/ 167 w 697"/>
                <a:gd name="T7" fmla="*/ 208 h 698"/>
                <a:gd name="T8" fmla="*/ 517 w 697"/>
                <a:gd name="T9" fmla="*/ 206 h 698"/>
                <a:gd name="T10" fmla="*/ 555 w 697"/>
                <a:gd name="T11" fmla="*/ 225 h 698"/>
                <a:gd name="T12" fmla="*/ 565 w 697"/>
                <a:gd name="T13" fmla="*/ 469 h 698"/>
                <a:gd name="T14" fmla="*/ 548 w 697"/>
                <a:gd name="T15" fmla="*/ 504 h 698"/>
                <a:gd name="T16" fmla="*/ 505 w 697"/>
                <a:gd name="T17" fmla="*/ 518 h 698"/>
                <a:gd name="T18" fmla="*/ 550 w 697"/>
                <a:gd name="T19" fmla="*/ 533 h 698"/>
                <a:gd name="T20" fmla="*/ 571 w 697"/>
                <a:gd name="T21" fmla="*/ 533 h 698"/>
                <a:gd name="T22" fmla="*/ 633 w 697"/>
                <a:gd name="T23" fmla="*/ 550 h 698"/>
                <a:gd name="T24" fmla="*/ 669 w 697"/>
                <a:gd name="T25" fmla="*/ 484 h 698"/>
                <a:gd name="T26" fmla="*/ 688 w 697"/>
                <a:gd name="T27" fmla="*/ 427 h 698"/>
                <a:gd name="T28" fmla="*/ 696 w 697"/>
                <a:gd name="T29" fmla="*/ 365 h 698"/>
                <a:gd name="T30" fmla="*/ 693 w 697"/>
                <a:gd name="T31" fmla="*/ 302 h 698"/>
                <a:gd name="T32" fmla="*/ 681 w 697"/>
                <a:gd name="T33" fmla="*/ 242 h 698"/>
                <a:gd name="T34" fmla="*/ 656 w 697"/>
                <a:gd name="T35" fmla="*/ 187 h 698"/>
                <a:gd name="T36" fmla="*/ 582 w 697"/>
                <a:gd name="T37" fmla="*/ 158 h 698"/>
                <a:gd name="T38" fmla="*/ 560 w 697"/>
                <a:gd name="T39" fmla="*/ 167 h 698"/>
                <a:gd name="T40" fmla="*/ 539 w 697"/>
                <a:gd name="T41" fmla="*/ 158 h 698"/>
                <a:gd name="T42" fmla="*/ 530 w 697"/>
                <a:gd name="T43" fmla="*/ 136 h 698"/>
                <a:gd name="T44" fmla="*/ 539 w 697"/>
                <a:gd name="T45" fmla="*/ 116 h 698"/>
                <a:gd name="T46" fmla="*/ 511 w 697"/>
                <a:gd name="T47" fmla="*/ 41 h 698"/>
                <a:gd name="T48" fmla="*/ 456 w 697"/>
                <a:gd name="T49" fmla="*/ 17 h 698"/>
                <a:gd name="T50" fmla="*/ 395 w 697"/>
                <a:gd name="T51" fmla="*/ 4 h 698"/>
                <a:gd name="T52" fmla="*/ 333 w 697"/>
                <a:gd name="T53" fmla="*/ 2 h 698"/>
                <a:gd name="T54" fmla="*/ 271 w 697"/>
                <a:gd name="T55" fmla="*/ 9 h 698"/>
                <a:gd name="T56" fmla="*/ 213 w 697"/>
                <a:gd name="T57" fmla="*/ 29 h 698"/>
                <a:gd name="T58" fmla="*/ 148 w 697"/>
                <a:gd name="T59" fmla="*/ 65 h 698"/>
                <a:gd name="T60" fmla="*/ 164 w 697"/>
                <a:gd name="T61" fmla="*/ 126 h 698"/>
                <a:gd name="T62" fmla="*/ 164 w 697"/>
                <a:gd name="T63" fmla="*/ 148 h 698"/>
                <a:gd name="T64" fmla="*/ 148 w 697"/>
                <a:gd name="T65" fmla="*/ 165 h 698"/>
                <a:gd name="T66" fmla="*/ 124 w 697"/>
                <a:gd name="T67" fmla="*/ 165 h 698"/>
                <a:gd name="T68" fmla="*/ 63 w 697"/>
                <a:gd name="T69" fmla="*/ 148 h 698"/>
                <a:gd name="T70" fmla="*/ 27 w 697"/>
                <a:gd name="T71" fmla="*/ 214 h 698"/>
                <a:gd name="T72" fmla="*/ 9 w 697"/>
                <a:gd name="T73" fmla="*/ 271 h 698"/>
                <a:gd name="T74" fmla="*/ 0 w 697"/>
                <a:gd name="T75" fmla="*/ 333 h 698"/>
                <a:gd name="T76" fmla="*/ 2 w 697"/>
                <a:gd name="T77" fmla="*/ 396 h 698"/>
                <a:gd name="T78" fmla="*/ 17 w 697"/>
                <a:gd name="T79" fmla="*/ 456 h 698"/>
                <a:gd name="T80" fmla="*/ 40 w 697"/>
                <a:gd name="T81" fmla="*/ 511 h 698"/>
                <a:gd name="T82" fmla="*/ 115 w 697"/>
                <a:gd name="T83" fmla="*/ 540 h 698"/>
                <a:gd name="T84" fmla="*/ 136 w 697"/>
                <a:gd name="T85" fmla="*/ 532 h 698"/>
                <a:gd name="T86" fmla="*/ 158 w 697"/>
                <a:gd name="T87" fmla="*/ 540 h 698"/>
                <a:gd name="T88" fmla="*/ 167 w 697"/>
                <a:gd name="T89" fmla="*/ 562 h 698"/>
                <a:gd name="T90" fmla="*/ 158 w 697"/>
                <a:gd name="T91" fmla="*/ 582 h 698"/>
                <a:gd name="T92" fmla="*/ 186 w 697"/>
                <a:gd name="T93" fmla="*/ 658 h 698"/>
                <a:gd name="T94" fmla="*/ 241 w 697"/>
                <a:gd name="T95" fmla="*/ 681 h 698"/>
                <a:gd name="T96" fmla="*/ 302 w 697"/>
                <a:gd name="T97" fmla="*/ 695 h 698"/>
                <a:gd name="T98" fmla="*/ 365 w 697"/>
                <a:gd name="T99" fmla="*/ 698 h 698"/>
                <a:gd name="T100" fmla="*/ 426 w 697"/>
                <a:gd name="T101" fmla="*/ 689 h 698"/>
                <a:gd name="T102" fmla="*/ 484 w 697"/>
                <a:gd name="T103" fmla="*/ 671 h 698"/>
                <a:gd name="T104" fmla="*/ 550 w 697"/>
                <a:gd name="T105" fmla="*/ 635 h 698"/>
                <a:gd name="T106" fmla="*/ 533 w 697"/>
                <a:gd name="T107" fmla="*/ 573 h 698"/>
                <a:gd name="T108" fmla="*/ 533 w 697"/>
                <a:gd name="T109" fmla="*/ 55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97" h="698">
                  <a:moveTo>
                    <a:pt x="193" y="518"/>
                  </a:moveTo>
                  <a:lnTo>
                    <a:pt x="180" y="517"/>
                  </a:lnTo>
                  <a:lnTo>
                    <a:pt x="168" y="514"/>
                  </a:lnTo>
                  <a:lnTo>
                    <a:pt x="158" y="510"/>
                  </a:lnTo>
                  <a:lnTo>
                    <a:pt x="149" y="504"/>
                  </a:lnTo>
                  <a:lnTo>
                    <a:pt x="141" y="497"/>
                  </a:lnTo>
                  <a:lnTo>
                    <a:pt x="136" y="490"/>
                  </a:lnTo>
                  <a:lnTo>
                    <a:pt x="133" y="481"/>
                  </a:lnTo>
                  <a:lnTo>
                    <a:pt x="132" y="470"/>
                  </a:lnTo>
                  <a:lnTo>
                    <a:pt x="132" y="258"/>
                  </a:lnTo>
                  <a:lnTo>
                    <a:pt x="133" y="247"/>
                  </a:lnTo>
                  <a:lnTo>
                    <a:pt x="136" y="237"/>
                  </a:lnTo>
                  <a:lnTo>
                    <a:pt x="141" y="228"/>
                  </a:lnTo>
                  <a:lnTo>
                    <a:pt x="149" y="220"/>
                  </a:lnTo>
                  <a:lnTo>
                    <a:pt x="157" y="214"/>
                  </a:lnTo>
                  <a:lnTo>
                    <a:pt x="167" y="208"/>
                  </a:lnTo>
                  <a:lnTo>
                    <a:pt x="178" y="206"/>
                  </a:lnTo>
                  <a:lnTo>
                    <a:pt x="193" y="205"/>
                  </a:lnTo>
                  <a:lnTo>
                    <a:pt x="505" y="205"/>
                  </a:lnTo>
                  <a:lnTo>
                    <a:pt x="517" y="206"/>
                  </a:lnTo>
                  <a:lnTo>
                    <a:pt x="529" y="208"/>
                  </a:lnTo>
                  <a:lnTo>
                    <a:pt x="539" y="212"/>
                  </a:lnTo>
                  <a:lnTo>
                    <a:pt x="548" y="219"/>
                  </a:lnTo>
                  <a:lnTo>
                    <a:pt x="555" y="225"/>
                  </a:lnTo>
                  <a:lnTo>
                    <a:pt x="560" y="234"/>
                  </a:lnTo>
                  <a:lnTo>
                    <a:pt x="564" y="243"/>
                  </a:lnTo>
                  <a:lnTo>
                    <a:pt x="565" y="253"/>
                  </a:lnTo>
                  <a:lnTo>
                    <a:pt x="565" y="469"/>
                  </a:lnTo>
                  <a:lnTo>
                    <a:pt x="564" y="479"/>
                  </a:lnTo>
                  <a:lnTo>
                    <a:pt x="560" y="490"/>
                  </a:lnTo>
                  <a:lnTo>
                    <a:pt x="555" y="497"/>
                  </a:lnTo>
                  <a:lnTo>
                    <a:pt x="548" y="504"/>
                  </a:lnTo>
                  <a:lnTo>
                    <a:pt x="539" y="510"/>
                  </a:lnTo>
                  <a:lnTo>
                    <a:pt x="529" y="514"/>
                  </a:lnTo>
                  <a:lnTo>
                    <a:pt x="517" y="517"/>
                  </a:lnTo>
                  <a:lnTo>
                    <a:pt x="505" y="518"/>
                  </a:lnTo>
                  <a:lnTo>
                    <a:pt x="193" y="518"/>
                  </a:lnTo>
                  <a:close/>
                  <a:moveTo>
                    <a:pt x="539" y="540"/>
                  </a:moveTo>
                  <a:lnTo>
                    <a:pt x="544" y="536"/>
                  </a:lnTo>
                  <a:lnTo>
                    <a:pt x="550" y="533"/>
                  </a:lnTo>
                  <a:lnTo>
                    <a:pt x="555" y="532"/>
                  </a:lnTo>
                  <a:lnTo>
                    <a:pt x="560" y="532"/>
                  </a:lnTo>
                  <a:lnTo>
                    <a:pt x="566" y="532"/>
                  </a:lnTo>
                  <a:lnTo>
                    <a:pt x="571" y="533"/>
                  </a:lnTo>
                  <a:lnTo>
                    <a:pt x="577" y="536"/>
                  </a:lnTo>
                  <a:lnTo>
                    <a:pt x="582" y="540"/>
                  </a:lnTo>
                  <a:lnTo>
                    <a:pt x="615" y="573"/>
                  </a:lnTo>
                  <a:lnTo>
                    <a:pt x="633" y="550"/>
                  </a:lnTo>
                  <a:lnTo>
                    <a:pt x="650" y="524"/>
                  </a:lnTo>
                  <a:lnTo>
                    <a:pt x="656" y="511"/>
                  </a:lnTo>
                  <a:lnTo>
                    <a:pt x="664" y="499"/>
                  </a:lnTo>
                  <a:lnTo>
                    <a:pt x="669" y="484"/>
                  </a:lnTo>
                  <a:lnTo>
                    <a:pt x="675" y="470"/>
                  </a:lnTo>
                  <a:lnTo>
                    <a:pt x="681" y="456"/>
                  </a:lnTo>
                  <a:lnTo>
                    <a:pt x="684" y="442"/>
                  </a:lnTo>
                  <a:lnTo>
                    <a:pt x="688" y="427"/>
                  </a:lnTo>
                  <a:lnTo>
                    <a:pt x="691" y="411"/>
                  </a:lnTo>
                  <a:lnTo>
                    <a:pt x="693" y="396"/>
                  </a:lnTo>
                  <a:lnTo>
                    <a:pt x="696" y="380"/>
                  </a:lnTo>
                  <a:lnTo>
                    <a:pt x="696" y="365"/>
                  </a:lnTo>
                  <a:lnTo>
                    <a:pt x="697" y="350"/>
                  </a:lnTo>
                  <a:lnTo>
                    <a:pt x="696" y="333"/>
                  </a:lnTo>
                  <a:lnTo>
                    <a:pt x="696" y="318"/>
                  </a:lnTo>
                  <a:lnTo>
                    <a:pt x="693" y="302"/>
                  </a:lnTo>
                  <a:lnTo>
                    <a:pt x="691" y="287"/>
                  </a:lnTo>
                  <a:lnTo>
                    <a:pt x="688" y="271"/>
                  </a:lnTo>
                  <a:lnTo>
                    <a:pt x="684" y="257"/>
                  </a:lnTo>
                  <a:lnTo>
                    <a:pt x="681" y="242"/>
                  </a:lnTo>
                  <a:lnTo>
                    <a:pt x="675" y="228"/>
                  </a:lnTo>
                  <a:lnTo>
                    <a:pt x="669" y="214"/>
                  </a:lnTo>
                  <a:lnTo>
                    <a:pt x="664" y="201"/>
                  </a:lnTo>
                  <a:lnTo>
                    <a:pt x="656" y="187"/>
                  </a:lnTo>
                  <a:lnTo>
                    <a:pt x="650" y="174"/>
                  </a:lnTo>
                  <a:lnTo>
                    <a:pt x="633" y="148"/>
                  </a:lnTo>
                  <a:lnTo>
                    <a:pt x="615" y="125"/>
                  </a:lnTo>
                  <a:lnTo>
                    <a:pt x="582" y="158"/>
                  </a:lnTo>
                  <a:lnTo>
                    <a:pt x="577" y="162"/>
                  </a:lnTo>
                  <a:lnTo>
                    <a:pt x="571" y="165"/>
                  </a:lnTo>
                  <a:lnTo>
                    <a:pt x="566" y="167"/>
                  </a:lnTo>
                  <a:lnTo>
                    <a:pt x="560" y="167"/>
                  </a:lnTo>
                  <a:lnTo>
                    <a:pt x="555" y="166"/>
                  </a:lnTo>
                  <a:lnTo>
                    <a:pt x="550" y="165"/>
                  </a:lnTo>
                  <a:lnTo>
                    <a:pt x="544" y="162"/>
                  </a:lnTo>
                  <a:lnTo>
                    <a:pt x="539" y="158"/>
                  </a:lnTo>
                  <a:lnTo>
                    <a:pt x="535" y="153"/>
                  </a:lnTo>
                  <a:lnTo>
                    <a:pt x="533" y="148"/>
                  </a:lnTo>
                  <a:lnTo>
                    <a:pt x="532" y="143"/>
                  </a:lnTo>
                  <a:lnTo>
                    <a:pt x="530" y="136"/>
                  </a:lnTo>
                  <a:lnTo>
                    <a:pt x="532" y="131"/>
                  </a:lnTo>
                  <a:lnTo>
                    <a:pt x="533" y="126"/>
                  </a:lnTo>
                  <a:lnTo>
                    <a:pt x="535" y="121"/>
                  </a:lnTo>
                  <a:lnTo>
                    <a:pt x="539" y="116"/>
                  </a:lnTo>
                  <a:lnTo>
                    <a:pt x="573" y="83"/>
                  </a:lnTo>
                  <a:lnTo>
                    <a:pt x="550" y="65"/>
                  </a:lnTo>
                  <a:lnTo>
                    <a:pt x="524" y="48"/>
                  </a:lnTo>
                  <a:lnTo>
                    <a:pt x="511" y="41"/>
                  </a:lnTo>
                  <a:lnTo>
                    <a:pt x="497" y="34"/>
                  </a:lnTo>
                  <a:lnTo>
                    <a:pt x="484" y="29"/>
                  </a:lnTo>
                  <a:lnTo>
                    <a:pt x="470" y="22"/>
                  </a:lnTo>
                  <a:lnTo>
                    <a:pt x="456" y="17"/>
                  </a:lnTo>
                  <a:lnTo>
                    <a:pt x="440" y="13"/>
                  </a:lnTo>
                  <a:lnTo>
                    <a:pt x="426" y="9"/>
                  </a:lnTo>
                  <a:lnTo>
                    <a:pt x="411" y="7"/>
                  </a:lnTo>
                  <a:lnTo>
                    <a:pt x="395" y="4"/>
                  </a:lnTo>
                  <a:lnTo>
                    <a:pt x="380" y="2"/>
                  </a:lnTo>
                  <a:lnTo>
                    <a:pt x="365" y="2"/>
                  </a:lnTo>
                  <a:lnTo>
                    <a:pt x="348" y="0"/>
                  </a:lnTo>
                  <a:lnTo>
                    <a:pt x="333" y="2"/>
                  </a:lnTo>
                  <a:lnTo>
                    <a:pt x="317" y="2"/>
                  </a:lnTo>
                  <a:lnTo>
                    <a:pt x="302" y="4"/>
                  </a:lnTo>
                  <a:lnTo>
                    <a:pt x="286" y="7"/>
                  </a:lnTo>
                  <a:lnTo>
                    <a:pt x="271" y="9"/>
                  </a:lnTo>
                  <a:lnTo>
                    <a:pt x="255" y="13"/>
                  </a:lnTo>
                  <a:lnTo>
                    <a:pt x="241" y="17"/>
                  </a:lnTo>
                  <a:lnTo>
                    <a:pt x="227" y="22"/>
                  </a:lnTo>
                  <a:lnTo>
                    <a:pt x="213" y="29"/>
                  </a:lnTo>
                  <a:lnTo>
                    <a:pt x="199" y="34"/>
                  </a:lnTo>
                  <a:lnTo>
                    <a:pt x="186" y="41"/>
                  </a:lnTo>
                  <a:lnTo>
                    <a:pt x="173" y="48"/>
                  </a:lnTo>
                  <a:lnTo>
                    <a:pt x="148" y="65"/>
                  </a:lnTo>
                  <a:lnTo>
                    <a:pt x="124" y="83"/>
                  </a:lnTo>
                  <a:lnTo>
                    <a:pt x="158" y="116"/>
                  </a:lnTo>
                  <a:lnTo>
                    <a:pt x="162" y="121"/>
                  </a:lnTo>
                  <a:lnTo>
                    <a:pt x="164" y="126"/>
                  </a:lnTo>
                  <a:lnTo>
                    <a:pt x="166" y="131"/>
                  </a:lnTo>
                  <a:lnTo>
                    <a:pt x="167" y="136"/>
                  </a:lnTo>
                  <a:lnTo>
                    <a:pt x="166" y="143"/>
                  </a:lnTo>
                  <a:lnTo>
                    <a:pt x="164" y="148"/>
                  </a:lnTo>
                  <a:lnTo>
                    <a:pt x="162" y="153"/>
                  </a:lnTo>
                  <a:lnTo>
                    <a:pt x="158" y="158"/>
                  </a:lnTo>
                  <a:lnTo>
                    <a:pt x="153" y="162"/>
                  </a:lnTo>
                  <a:lnTo>
                    <a:pt x="148" y="165"/>
                  </a:lnTo>
                  <a:lnTo>
                    <a:pt x="142" y="167"/>
                  </a:lnTo>
                  <a:lnTo>
                    <a:pt x="136" y="167"/>
                  </a:lnTo>
                  <a:lnTo>
                    <a:pt x="131" y="166"/>
                  </a:lnTo>
                  <a:lnTo>
                    <a:pt x="124" y="165"/>
                  </a:lnTo>
                  <a:lnTo>
                    <a:pt x="119" y="162"/>
                  </a:lnTo>
                  <a:lnTo>
                    <a:pt x="115" y="158"/>
                  </a:lnTo>
                  <a:lnTo>
                    <a:pt x="82" y="125"/>
                  </a:lnTo>
                  <a:lnTo>
                    <a:pt x="63" y="148"/>
                  </a:lnTo>
                  <a:lnTo>
                    <a:pt x="47" y="174"/>
                  </a:lnTo>
                  <a:lnTo>
                    <a:pt x="40" y="187"/>
                  </a:lnTo>
                  <a:lnTo>
                    <a:pt x="33" y="201"/>
                  </a:lnTo>
                  <a:lnTo>
                    <a:pt x="27" y="214"/>
                  </a:lnTo>
                  <a:lnTo>
                    <a:pt x="22" y="228"/>
                  </a:lnTo>
                  <a:lnTo>
                    <a:pt x="17" y="242"/>
                  </a:lnTo>
                  <a:lnTo>
                    <a:pt x="13" y="257"/>
                  </a:lnTo>
                  <a:lnTo>
                    <a:pt x="9" y="271"/>
                  </a:lnTo>
                  <a:lnTo>
                    <a:pt x="5" y="287"/>
                  </a:lnTo>
                  <a:lnTo>
                    <a:pt x="2" y="302"/>
                  </a:lnTo>
                  <a:lnTo>
                    <a:pt x="1" y="318"/>
                  </a:lnTo>
                  <a:lnTo>
                    <a:pt x="0" y="333"/>
                  </a:lnTo>
                  <a:lnTo>
                    <a:pt x="0" y="350"/>
                  </a:lnTo>
                  <a:lnTo>
                    <a:pt x="0" y="365"/>
                  </a:lnTo>
                  <a:lnTo>
                    <a:pt x="1" y="380"/>
                  </a:lnTo>
                  <a:lnTo>
                    <a:pt x="2" y="396"/>
                  </a:lnTo>
                  <a:lnTo>
                    <a:pt x="5" y="411"/>
                  </a:lnTo>
                  <a:lnTo>
                    <a:pt x="9" y="427"/>
                  </a:lnTo>
                  <a:lnTo>
                    <a:pt x="13" y="442"/>
                  </a:lnTo>
                  <a:lnTo>
                    <a:pt x="17" y="456"/>
                  </a:lnTo>
                  <a:lnTo>
                    <a:pt x="22" y="470"/>
                  </a:lnTo>
                  <a:lnTo>
                    <a:pt x="27" y="484"/>
                  </a:lnTo>
                  <a:lnTo>
                    <a:pt x="33" y="499"/>
                  </a:lnTo>
                  <a:lnTo>
                    <a:pt x="40" y="511"/>
                  </a:lnTo>
                  <a:lnTo>
                    <a:pt x="47" y="524"/>
                  </a:lnTo>
                  <a:lnTo>
                    <a:pt x="63" y="550"/>
                  </a:lnTo>
                  <a:lnTo>
                    <a:pt x="82" y="573"/>
                  </a:lnTo>
                  <a:lnTo>
                    <a:pt x="115" y="540"/>
                  </a:lnTo>
                  <a:lnTo>
                    <a:pt x="119" y="536"/>
                  </a:lnTo>
                  <a:lnTo>
                    <a:pt x="124" y="533"/>
                  </a:lnTo>
                  <a:lnTo>
                    <a:pt x="131" y="532"/>
                  </a:lnTo>
                  <a:lnTo>
                    <a:pt x="136" y="532"/>
                  </a:lnTo>
                  <a:lnTo>
                    <a:pt x="142" y="532"/>
                  </a:lnTo>
                  <a:lnTo>
                    <a:pt x="148" y="533"/>
                  </a:lnTo>
                  <a:lnTo>
                    <a:pt x="153" y="536"/>
                  </a:lnTo>
                  <a:lnTo>
                    <a:pt x="158" y="540"/>
                  </a:lnTo>
                  <a:lnTo>
                    <a:pt x="162" y="545"/>
                  </a:lnTo>
                  <a:lnTo>
                    <a:pt x="164" y="550"/>
                  </a:lnTo>
                  <a:lnTo>
                    <a:pt x="166" y="555"/>
                  </a:lnTo>
                  <a:lnTo>
                    <a:pt x="167" y="562"/>
                  </a:lnTo>
                  <a:lnTo>
                    <a:pt x="166" y="567"/>
                  </a:lnTo>
                  <a:lnTo>
                    <a:pt x="164" y="573"/>
                  </a:lnTo>
                  <a:lnTo>
                    <a:pt x="162" y="578"/>
                  </a:lnTo>
                  <a:lnTo>
                    <a:pt x="158" y="582"/>
                  </a:lnTo>
                  <a:lnTo>
                    <a:pt x="124" y="615"/>
                  </a:lnTo>
                  <a:lnTo>
                    <a:pt x="148" y="635"/>
                  </a:lnTo>
                  <a:lnTo>
                    <a:pt x="173" y="650"/>
                  </a:lnTo>
                  <a:lnTo>
                    <a:pt x="186" y="658"/>
                  </a:lnTo>
                  <a:lnTo>
                    <a:pt x="199" y="664"/>
                  </a:lnTo>
                  <a:lnTo>
                    <a:pt x="213" y="671"/>
                  </a:lnTo>
                  <a:lnTo>
                    <a:pt x="227" y="676"/>
                  </a:lnTo>
                  <a:lnTo>
                    <a:pt x="241" y="681"/>
                  </a:lnTo>
                  <a:lnTo>
                    <a:pt x="255" y="685"/>
                  </a:lnTo>
                  <a:lnTo>
                    <a:pt x="271" y="689"/>
                  </a:lnTo>
                  <a:lnTo>
                    <a:pt x="286" y="693"/>
                  </a:lnTo>
                  <a:lnTo>
                    <a:pt x="302" y="695"/>
                  </a:lnTo>
                  <a:lnTo>
                    <a:pt x="317" y="696"/>
                  </a:lnTo>
                  <a:lnTo>
                    <a:pt x="333" y="698"/>
                  </a:lnTo>
                  <a:lnTo>
                    <a:pt x="348" y="698"/>
                  </a:lnTo>
                  <a:lnTo>
                    <a:pt x="365" y="698"/>
                  </a:lnTo>
                  <a:lnTo>
                    <a:pt x="380" y="696"/>
                  </a:lnTo>
                  <a:lnTo>
                    <a:pt x="395" y="695"/>
                  </a:lnTo>
                  <a:lnTo>
                    <a:pt x="411" y="693"/>
                  </a:lnTo>
                  <a:lnTo>
                    <a:pt x="426" y="689"/>
                  </a:lnTo>
                  <a:lnTo>
                    <a:pt x="440" y="685"/>
                  </a:lnTo>
                  <a:lnTo>
                    <a:pt x="456" y="681"/>
                  </a:lnTo>
                  <a:lnTo>
                    <a:pt x="470" y="676"/>
                  </a:lnTo>
                  <a:lnTo>
                    <a:pt x="484" y="671"/>
                  </a:lnTo>
                  <a:lnTo>
                    <a:pt x="497" y="664"/>
                  </a:lnTo>
                  <a:lnTo>
                    <a:pt x="511" y="658"/>
                  </a:lnTo>
                  <a:lnTo>
                    <a:pt x="524" y="650"/>
                  </a:lnTo>
                  <a:lnTo>
                    <a:pt x="550" y="635"/>
                  </a:lnTo>
                  <a:lnTo>
                    <a:pt x="573" y="615"/>
                  </a:lnTo>
                  <a:lnTo>
                    <a:pt x="539" y="582"/>
                  </a:lnTo>
                  <a:lnTo>
                    <a:pt x="535" y="578"/>
                  </a:lnTo>
                  <a:lnTo>
                    <a:pt x="533" y="573"/>
                  </a:lnTo>
                  <a:lnTo>
                    <a:pt x="532" y="567"/>
                  </a:lnTo>
                  <a:lnTo>
                    <a:pt x="530" y="562"/>
                  </a:lnTo>
                  <a:lnTo>
                    <a:pt x="532" y="555"/>
                  </a:lnTo>
                  <a:lnTo>
                    <a:pt x="533" y="550"/>
                  </a:lnTo>
                  <a:lnTo>
                    <a:pt x="535" y="545"/>
                  </a:lnTo>
                  <a:lnTo>
                    <a:pt x="539" y="5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3" name="Freeform 3621">
              <a:extLst>
                <a:ext uri="{FF2B5EF4-FFF2-40B4-BE49-F238E27FC236}">
                  <a16:creationId xmlns:a16="http://schemas.microsoft.com/office/drawing/2014/main" id="{AD76D8F2-24A8-45C7-93D1-4E507EA27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9325" y="885825"/>
              <a:ext cx="123825" cy="71438"/>
            </a:xfrm>
            <a:custGeom>
              <a:avLst/>
              <a:gdLst>
                <a:gd name="T0" fmla="*/ 220 w 312"/>
                <a:gd name="T1" fmla="*/ 82 h 180"/>
                <a:gd name="T2" fmla="*/ 295 w 312"/>
                <a:gd name="T3" fmla="*/ 20 h 180"/>
                <a:gd name="T4" fmla="*/ 299 w 312"/>
                <a:gd name="T5" fmla="*/ 16 h 180"/>
                <a:gd name="T6" fmla="*/ 300 w 312"/>
                <a:gd name="T7" fmla="*/ 13 h 180"/>
                <a:gd name="T8" fmla="*/ 299 w 312"/>
                <a:gd name="T9" fmla="*/ 7 h 180"/>
                <a:gd name="T10" fmla="*/ 296 w 312"/>
                <a:gd name="T11" fmla="*/ 4 h 180"/>
                <a:gd name="T12" fmla="*/ 294 w 312"/>
                <a:gd name="T13" fmla="*/ 1 h 180"/>
                <a:gd name="T14" fmla="*/ 288 w 312"/>
                <a:gd name="T15" fmla="*/ 0 h 180"/>
                <a:gd name="T16" fmla="*/ 285 w 312"/>
                <a:gd name="T17" fmla="*/ 0 h 180"/>
                <a:gd name="T18" fmla="*/ 279 w 312"/>
                <a:gd name="T19" fmla="*/ 2 h 180"/>
                <a:gd name="T20" fmla="*/ 155 w 312"/>
                <a:gd name="T21" fmla="*/ 104 h 180"/>
                <a:gd name="T22" fmla="*/ 30 w 312"/>
                <a:gd name="T23" fmla="*/ 2 h 180"/>
                <a:gd name="T24" fmla="*/ 26 w 312"/>
                <a:gd name="T25" fmla="*/ 0 h 180"/>
                <a:gd name="T26" fmla="*/ 21 w 312"/>
                <a:gd name="T27" fmla="*/ 0 h 180"/>
                <a:gd name="T28" fmla="*/ 18 w 312"/>
                <a:gd name="T29" fmla="*/ 1 h 180"/>
                <a:gd name="T30" fmla="*/ 14 w 312"/>
                <a:gd name="T31" fmla="*/ 4 h 180"/>
                <a:gd name="T32" fmla="*/ 11 w 312"/>
                <a:gd name="T33" fmla="*/ 7 h 180"/>
                <a:gd name="T34" fmla="*/ 11 w 312"/>
                <a:gd name="T35" fmla="*/ 13 h 180"/>
                <a:gd name="T36" fmla="*/ 12 w 312"/>
                <a:gd name="T37" fmla="*/ 16 h 180"/>
                <a:gd name="T38" fmla="*/ 15 w 312"/>
                <a:gd name="T39" fmla="*/ 20 h 180"/>
                <a:gd name="T40" fmla="*/ 91 w 312"/>
                <a:gd name="T41" fmla="*/ 82 h 180"/>
                <a:gd name="T42" fmla="*/ 3 w 312"/>
                <a:gd name="T43" fmla="*/ 159 h 180"/>
                <a:gd name="T44" fmla="*/ 1 w 312"/>
                <a:gd name="T45" fmla="*/ 162 h 180"/>
                <a:gd name="T46" fmla="*/ 0 w 312"/>
                <a:gd name="T47" fmla="*/ 167 h 180"/>
                <a:gd name="T48" fmla="*/ 0 w 312"/>
                <a:gd name="T49" fmla="*/ 172 h 180"/>
                <a:gd name="T50" fmla="*/ 2 w 312"/>
                <a:gd name="T51" fmla="*/ 176 h 180"/>
                <a:gd name="T52" fmla="*/ 6 w 312"/>
                <a:gd name="T53" fmla="*/ 178 h 180"/>
                <a:gd name="T54" fmla="*/ 11 w 312"/>
                <a:gd name="T55" fmla="*/ 180 h 180"/>
                <a:gd name="T56" fmla="*/ 15 w 312"/>
                <a:gd name="T57" fmla="*/ 178 h 180"/>
                <a:gd name="T58" fmla="*/ 19 w 312"/>
                <a:gd name="T59" fmla="*/ 177 h 180"/>
                <a:gd name="T60" fmla="*/ 110 w 312"/>
                <a:gd name="T61" fmla="*/ 97 h 180"/>
                <a:gd name="T62" fmla="*/ 147 w 312"/>
                <a:gd name="T63" fmla="*/ 128 h 180"/>
                <a:gd name="T64" fmla="*/ 151 w 312"/>
                <a:gd name="T65" fmla="*/ 131 h 180"/>
                <a:gd name="T66" fmla="*/ 155 w 312"/>
                <a:gd name="T67" fmla="*/ 132 h 180"/>
                <a:gd name="T68" fmla="*/ 159 w 312"/>
                <a:gd name="T69" fmla="*/ 131 h 180"/>
                <a:gd name="T70" fmla="*/ 163 w 312"/>
                <a:gd name="T71" fmla="*/ 128 h 180"/>
                <a:gd name="T72" fmla="*/ 201 w 312"/>
                <a:gd name="T73" fmla="*/ 97 h 180"/>
                <a:gd name="T74" fmla="*/ 291 w 312"/>
                <a:gd name="T75" fmla="*/ 177 h 180"/>
                <a:gd name="T76" fmla="*/ 295 w 312"/>
                <a:gd name="T77" fmla="*/ 178 h 180"/>
                <a:gd name="T78" fmla="*/ 300 w 312"/>
                <a:gd name="T79" fmla="*/ 180 h 180"/>
                <a:gd name="T80" fmla="*/ 304 w 312"/>
                <a:gd name="T81" fmla="*/ 178 h 180"/>
                <a:gd name="T82" fmla="*/ 309 w 312"/>
                <a:gd name="T83" fmla="*/ 176 h 180"/>
                <a:gd name="T84" fmla="*/ 310 w 312"/>
                <a:gd name="T85" fmla="*/ 172 h 180"/>
                <a:gd name="T86" fmla="*/ 312 w 312"/>
                <a:gd name="T87" fmla="*/ 167 h 180"/>
                <a:gd name="T88" fmla="*/ 310 w 312"/>
                <a:gd name="T89" fmla="*/ 162 h 180"/>
                <a:gd name="T90" fmla="*/ 308 w 312"/>
                <a:gd name="T91" fmla="*/ 159 h 180"/>
                <a:gd name="T92" fmla="*/ 220 w 312"/>
                <a:gd name="T93" fmla="*/ 82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12" h="180">
                  <a:moveTo>
                    <a:pt x="220" y="82"/>
                  </a:moveTo>
                  <a:lnTo>
                    <a:pt x="295" y="20"/>
                  </a:lnTo>
                  <a:lnTo>
                    <a:pt x="299" y="16"/>
                  </a:lnTo>
                  <a:lnTo>
                    <a:pt x="300" y="13"/>
                  </a:lnTo>
                  <a:lnTo>
                    <a:pt x="299" y="7"/>
                  </a:lnTo>
                  <a:lnTo>
                    <a:pt x="296" y="4"/>
                  </a:lnTo>
                  <a:lnTo>
                    <a:pt x="294" y="1"/>
                  </a:lnTo>
                  <a:lnTo>
                    <a:pt x="288" y="0"/>
                  </a:lnTo>
                  <a:lnTo>
                    <a:pt x="285" y="0"/>
                  </a:lnTo>
                  <a:lnTo>
                    <a:pt x="279" y="2"/>
                  </a:lnTo>
                  <a:lnTo>
                    <a:pt x="155" y="104"/>
                  </a:lnTo>
                  <a:lnTo>
                    <a:pt x="30" y="2"/>
                  </a:lnTo>
                  <a:lnTo>
                    <a:pt x="26" y="0"/>
                  </a:lnTo>
                  <a:lnTo>
                    <a:pt x="21" y="0"/>
                  </a:lnTo>
                  <a:lnTo>
                    <a:pt x="18" y="1"/>
                  </a:lnTo>
                  <a:lnTo>
                    <a:pt x="14" y="4"/>
                  </a:lnTo>
                  <a:lnTo>
                    <a:pt x="11" y="7"/>
                  </a:lnTo>
                  <a:lnTo>
                    <a:pt x="11" y="13"/>
                  </a:lnTo>
                  <a:lnTo>
                    <a:pt x="12" y="16"/>
                  </a:lnTo>
                  <a:lnTo>
                    <a:pt x="15" y="20"/>
                  </a:lnTo>
                  <a:lnTo>
                    <a:pt x="91" y="82"/>
                  </a:lnTo>
                  <a:lnTo>
                    <a:pt x="3" y="159"/>
                  </a:lnTo>
                  <a:lnTo>
                    <a:pt x="1" y="162"/>
                  </a:lnTo>
                  <a:lnTo>
                    <a:pt x="0" y="167"/>
                  </a:lnTo>
                  <a:lnTo>
                    <a:pt x="0" y="172"/>
                  </a:lnTo>
                  <a:lnTo>
                    <a:pt x="2" y="176"/>
                  </a:lnTo>
                  <a:lnTo>
                    <a:pt x="6" y="178"/>
                  </a:lnTo>
                  <a:lnTo>
                    <a:pt x="11" y="180"/>
                  </a:lnTo>
                  <a:lnTo>
                    <a:pt x="15" y="178"/>
                  </a:lnTo>
                  <a:lnTo>
                    <a:pt x="19" y="177"/>
                  </a:lnTo>
                  <a:lnTo>
                    <a:pt x="110" y="97"/>
                  </a:lnTo>
                  <a:lnTo>
                    <a:pt x="147" y="128"/>
                  </a:lnTo>
                  <a:lnTo>
                    <a:pt x="151" y="131"/>
                  </a:lnTo>
                  <a:lnTo>
                    <a:pt x="155" y="132"/>
                  </a:lnTo>
                  <a:lnTo>
                    <a:pt x="159" y="131"/>
                  </a:lnTo>
                  <a:lnTo>
                    <a:pt x="163" y="128"/>
                  </a:lnTo>
                  <a:lnTo>
                    <a:pt x="201" y="97"/>
                  </a:lnTo>
                  <a:lnTo>
                    <a:pt x="291" y="177"/>
                  </a:lnTo>
                  <a:lnTo>
                    <a:pt x="295" y="178"/>
                  </a:lnTo>
                  <a:lnTo>
                    <a:pt x="300" y="180"/>
                  </a:lnTo>
                  <a:lnTo>
                    <a:pt x="304" y="178"/>
                  </a:lnTo>
                  <a:lnTo>
                    <a:pt x="309" y="176"/>
                  </a:lnTo>
                  <a:lnTo>
                    <a:pt x="310" y="172"/>
                  </a:lnTo>
                  <a:lnTo>
                    <a:pt x="312" y="167"/>
                  </a:lnTo>
                  <a:lnTo>
                    <a:pt x="310" y="162"/>
                  </a:lnTo>
                  <a:lnTo>
                    <a:pt x="308" y="159"/>
                  </a:lnTo>
                  <a:lnTo>
                    <a:pt x="220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4" name="Freeform 3622">
              <a:extLst>
                <a:ext uri="{FF2B5EF4-FFF2-40B4-BE49-F238E27FC236}">
                  <a16:creationId xmlns:a16="http://schemas.microsoft.com/office/drawing/2014/main" id="{BFC5AFB5-B934-4878-815B-12196286A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0613" y="993775"/>
              <a:ext cx="63500" cy="63500"/>
            </a:xfrm>
            <a:custGeom>
              <a:avLst/>
              <a:gdLst>
                <a:gd name="T0" fmla="*/ 21 w 161"/>
                <a:gd name="T1" fmla="*/ 3 h 159"/>
                <a:gd name="T2" fmla="*/ 17 w 161"/>
                <a:gd name="T3" fmla="*/ 0 h 159"/>
                <a:gd name="T4" fmla="*/ 13 w 161"/>
                <a:gd name="T5" fmla="*/ 0 h 159"/>
                <a:gd name="T6" fmla="*/ 8 w 161"/>
                <a:gd name="T7" fmla="*/ 0 h 159"/>
                <a:gd name="T8" fmla="*/ 4 w 161"/>
                <a:gd name="T9" fmla="*/ 3 h 159"/>
                <a:gd name="T10" fmla="*/ 2 w 161"/>
                <a:gd name="T11" fmla="*/ 6 h 159"/>
                <a:gd name="T12" fmla="*/ 0 w 161"/>
                <a:gd name="T13" fmla="*/ 12 h 159"/>
                <a:gd name="T14" fmla="*/ 2 w 161"/>
                <a:gd name="T15" fmla="*/ 15 h 159"/>
                <a:gd name="T16" fmla="*/ 4 w 161"/>
                <a:gd name="T17" fmla="*/ 21 h 159"/>
                <a:gd name="T18" fmla="*/ 140 w 161"/>
                <a:gd name="T19" fmla="*/ 157 h 159"/>
                <a:gd name="T20" fmla="*/ 144 w 161"/>
                <a:gd name="T21" fmla="*/ 159 h 159"/>
                <a:gd name="T22" fmla="*/ 149 w 161"/>
                <a:gd name="T23" fmla="*/ 159 h 159"/>
                <a:gd name="T24" fmla="*/ 153 w 161"/>
                <a:gd name="T25" fmla="*/ 159 h 159"/>
                <a:gd name="T26" fmla="*/ 157 w 161"/>
                <a:gd name="T27" fmla="*/ 157 h 159"/>
                <a:gd name="T28" fmla="*/ 160 w 161"/>
                <a:gd name="T29" fmla="*/ 153 h 159"/>
                <a:gd name="T30" fmla="*/ 161 w 161"/>
                <a:gd name="T31" fmla="*/ 148 h 159"/>
                <a:gd name="T32" fmla="*/ 160 w 161"/>
                <a:gd name="T33" fmla="*/ 144 h 159"/>
                <a:gd name="T34" fmla="*/ 157 w 161"/>
                <a:gd name="T35" fmla="*/ 139 h 159"/>
                <a:gd name="T36" fmla="*/ 21 w 161"/>
                <a:gd name="T37" fmla="*/ 3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1" h="159">
                  <a:moveTo>
                    <a:pt x="21" y="3"/>
                  </a:moveTo>
                  <a:lnTo>
                    <a:pt x="17" y="0"/>
                  </a:lnTo>
                  <a:lnTo>
                    <a:pt x="13" y="0"/>
                  </a:lnTo>
                  <a:lnTo>
                    <a:pt x="8" y="0"/>
                  </a:lnTo>
                  <a:lnTo>
                    <a:pt x="4" y="3"/>
                  </a:lnTo>
                  <a:lnTo>
                    <a:pt x="2" y="6"/>
                  </a:lnTo>
                  <a:lnTo>
                    <a:pt x="0" y="12"/>
                  </a:lnTo>
                  <a:lnTo>
                    <a:pt x="2" y="15"/>
                  </a:lnTo>
                  <a:lnTo>
                    <a:pt x="4" y="21"/>
                  </a:lnTo>
                  <a:lnTo>
                    <a:pt x="140" y="157"/>
                  </a:lnTo>
                  <a:lnTo>
                    <a:pt x="144" y="159"/>
                  </a:lnTo>
                  <a:lnTo>
                    <a:pt x="149" y="159"/>
                  </a:lnTo>
                  <a:lnTo>
                    <a:pt x="153" y="159"/>
                  </a:lnTo>
                  <a:lnTo>
                    <a:pt x="157" y="157"/>
                  </a:lnTo>
                  <a:lnTo>
                    <a:pt x="160" y="153"/>
                  </a:lnTo>
                  <a:lnTo>
                    <a:pt x="161" y="148"/>
                  </a:lnTo>
                  <a:lnTo>
                    <a:pt x="160" y="144"/>
                  </a:lnTo>
                  <a:lnTo>
                    <a:pt x="157" y="139"/>
                  </a:lnTo>
                  <a:lnTo>
                    <a:pt x="2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3623">
              <a:extLst>
                <a:ext uri="{FF2B5EF4-FFF2-40B4-BE49-F238E27FC236}">
                  <a16:creationId xmlns:a16="http://schemas.microsoft.com/office/drawing/2014/main" id="{6FEA2310-F55A-42DA-913D-4342D4C4A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3" y="993775"/>
              <a:ext cx="63500" cy="63500"/>
            </a:xfrm>
            <a:custGeom>
              <a:avLst/>
              <a:gdLst>
                <a:gd name="T0" fmla="*/ 157 w 160"/>
                <a:gd name="T1" fmla="*/ 3 h 159"/>
                <a:gd name="T2" fmla="*/ 153 w 160"/>
                <a:gd name="T3" fmla="*/ 0 h 159"/>
                <a:gd name="T4" fmla="*/ 148 w 160"/>
                <a:gd name="T5" fmla="*/ 0 h 159"/>
                <a:gd name="T6" fmla="*/ 144 w 160"/>
                <a:gd name="T7" fmla="*/ 0 h 159"/>
                <a:gd name="T8" fmla="*/ 139 w 160"/>
                <a:gd name="T9" fmla="*/ 3 h 159"/>
                <a:gd name="T10" fmla="*/ 3 w 160"/>
                <a:gd name="T11" fmla="*/ 139 h 159"/>
                <a:gd name="T12" fmla="*/ 0 w 160"/>
                <a:gd name="T13" fmla="*/ 144 h 159"/>
                <a:gd name="T14" fmla="*/ 0 w 160"/>
                <a:gd name="T15" fmla="*/ 148 h 159"/>
                <a:gd name="T16" fmla="*/ 0 w 160"/>
                <a:gd name="T17" fmla="*/ 153 h 159"/>
                <a:gd name="T18" fmla="*/ 3 w 160"/>
                <a:gd name="T19" fmla="*/ 157 h 159"/>
                <a:gd name="T20" fmla="*/ 7 w 160"/>
                <a:gd name="T21" fmla="*/ 159 h 159"/>
                <a:gd name="T22" fmla="*/ 12 w 160"/>
                <a:gd name="T23" fmla="*/ 159 h 159"/>
                <a:gd name="T24" fmla="*/ 16 w 160"/>
                <a:gd name="T25" fmla="*/ 159 h 159"/>
                <a:gd name="T26" fmla="*/ 21 w 160"/>
                <a:gd name="T27" fmla="*/ 157 h 159"/>
                <a:gd name="T28" fmla="*/ 157 w 160"/>
                <a:gd name="T29" fmla="*/ 21 h 159"/>
                <a:gd name="T30" fmla="*/ 160 w 160"/>
                <a:gd name="T31" fmla="*/ 15 h 159"/>
                <a:gd name="T32" fmla="*/ 160 w 160"/>
                <a:gd name="T33" fmla="*/ 12 h 159"/>
                <a:gd name="T34" fmla="*/ 160 w 160"/>
                <a:gd name="T35" fmla="*/ 6 h 159"/>
                <a:gd name="T36" fmla="*/ 157 w 160"/>
                <a:gd name="T37" fmla="*/ 3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0" h="159">
                  <a:moveTo>
                    <a:pt x="157" y="3"/>
                  </a:moveTo>
                  <a:lnTo>
                    <a:pt x="153" y="0"/>
                  </a:lnTo>
                  <a:lnTo>
                    <a:pt x="148" y="0"/>
                  </a:lnTo>
                  <a:lnTo>
                    <a:pt x="144" y="0"/>
                  </a:lnTo>
                  <a:lnTo>
                    <a:pt x="139" y="3"/>
                  </a:lnTo>
                  <a:lnTo>
                    <a:pt x="3" y="139"/>
                  </a:lnTo>
                  <a:lnTo>
                    <a:pt x="0" y="144"/>
                  </a:lnTo>
                  <a:lnTo>
                    <a:pt x="0" y="148"/>
                  </a:lnTo>
                  <a:lnTo>
                    <a:pt x="0" y="153"/>
                  </a:lnTo>
                  <a:lnTo>
                    <a:pt x="3" y="157"/>
                  </a:lnTo>
                  <a:lnTo>
                    <a:pt x="7" y="159"/>
                  </a:lnTo>
                  <a:lnTo>
                    <a:pt x="12" y="159"/>
                  </a:lnTo>
                  <a:lnTo>
                    <a:pt x="16" y="159"/>
                  </a:lnTo>
                  <a:lnTo>
                    <a:pt x="21" y="157"/>
                  </a:lnTo>
                  <a:lnTo>
                    <a:pt x="157" y="21"/>
                  </a:lnTo>
                  <a:lnTo>
                    <a:pt x="160" y="15"/>
                  </a:lnTo>
                  <a:lnTo>
                    <a:pt x="160" y="12"/>
                  </a:lnTo>
                  <a:lnTo>
                    <a:pt x="160" y="6"/>
                  </a:lnTo>
                  <a:lnTo>
                    <a:pt x="157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6" name="Freeform 3624">
              <a:extLst>
                <a:ext uri="{FF2B5EF4-FFF2-40B4-BE49-F238E27FC236}">
                  <a16:creationId xmlns:a16="http://schemas.microsoft.com/office/drawing/2014/main" id="{A80953AC-975D-4E59-BEC4-4B21BEA83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0613" y="771525"/>
              <a:ext cx="63500" cy="63500"/>
            </a:xfrm>
            <a:custGeom>
              <a:avLst/>
              <a:gdLst>
                <a:gd name="T0" fmla="*/ 4 w 161"/>
                <a:gd name="T1" fmla="*/ 156 h 160"/>
                <a:gd name="T2" fmla="*/ 8 w 161"/>
                <a:gd name="T3" fmla="*/ 159 h 160"/>
                <a:gd name="T4" fmla="*/ 12 w 161"/>
                <a:gd name="T5" fmla="*/ 160 h 160"/>
                <a:gd name="T6" fmla="*/ 17 w 161"/>
                <a:gd name="T7" fmla="*/ 159 h 160"/>
                <a:gd name="T8" fmla="*/ 21 w 161"/>
                <a:gd name="T9" fmla="*/ 156 h 160"/>
                <a:gd name="T10" fmla="*/ 157 w 161"/>
                <a:gd name="T11" fmla="*/ 20 h 160"/>
                <a:gd name="T12" fmla="*/ 160 w 161"/>
                <a:gd name="T13" fmla="*/ 16 h 160"/>
                <a:gd name="T14" fmla="*/ 161 w 161"/>
                <a:gd name="T15" fmla="*/ 11 h 160"/>
                <a:gd name="T16" fmla="*/ 160 w 161"/>
                <a:gd name="T17" fmla="*/ 7 h 160"/>
                <a:gd name="T18" fmla="*/ 157 w 161"/>
                <a:gd name="T19" fmla="*/ 4 h 160"/>
                <a:gd name="T20" fmla="*/ 153 w 161"/>
                <a:gd name="T21" fmla="*/ 1 h 160"/>
                <a:gd name="T22" fmla="*/ 149 w 161"/>
                <a:gd name="T23" fmla="*/ 0 h 160"/>
                <a:gd name="T24" fmla="*/ 144 w 161"/>
                <a:gd name="T25" fmla="*/ 1 h 160"/>
                <a:gd name="T26" fmla="*/ 140 w 161"/>
                <a:gd name="T27" fmla="*/ 4 h 160"/>
                <a:gd name="T28" fmla="*/ 4 w 161"/>
                <a:gd name="T29" fmla="*/ 140 h 160"/>
                <a:gd name="T30" fmla="*/ 2 w 161"/>
                <a:gd name="T31" fmla="*/ 144 h 160"/>
                <a:gd name="T32" fmla="*/ 0 w 161"/>
                <a:gd name="T33" fmla="*/ 147 h 160"/>
                <a:gd name="T34" fmla="*/ 2 w 161"/>
                <a:gd name="T35" fmla="*/ 153 h 160"/>
                <a:gd name="T36" fmla="*/ 4 w 161"/>
                <a:gd name="T37" fmla="*/ 15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1" h="160">
                  <a:moveTo>
                    <a:pt x="4" y="156"/>
                  </a:moveTo>
                  <a:lnTo>
                    <a:pt x="8" y="159"/>
                  </a:lnTo>
                  <a:lnTo>
                    <a:pt x="12" y="160"/>
                  </a:lnTo>
                  <a:lnTo>
                    <a:pt x="17" y="159"/>
                  </a:lnTo>
                  <a:lnTo>
                    <a:pt x="21" y="156"/>
                  </a:lnTo>
                  <a:lnTo>
                    <a:pt x="157" y="20"/>
                  </a:lnTo>
                  <a:lnTo>
                    <a:pt x="160" y="16"/>
                  </a:lnTo>
                  <a:lnTo>
                    <a:pt x="161" y="11"/>
                  </a:lnTo>
                  <a:lnTo>
                    <a:pt x="160" y="7"/>
                  </a:lnTo>
                  <a:lnTo>
                    <a:pt x="157" y="4"/>
                  </a:lnTo>
                  <a:lnTo>
                    <a:pt x="153" y="1"/>
                  </a:lnTo>
                  <a:lnTo>
                    <a:pt x="149" y="0"/>
                  </a:lnTo>
                  <a:lnTo>
                    <a:pt x="144" y="1"/>
                  </a:lnTo>
                  <a:lnTo>
                    <a:pt x="140" y="4"/>
                  </a:lnTo>
                  <a:lnTo>
                    <a:pt x="4" y="140"/>
                  </a:lnTo>
                  <a:lnTo>
                    <a:pt x="2" y="144"/>
                  </a:lnTo>
                  <a:lnTo>
                    <a:pt x="0" y="147"/>
                  </a:lnTo>
                  <a:lnTo>
                    <a:pt x="2" y="153"/>
                  </a:lnTo>
                  <a:lnTo>
                    <a:pt x="4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7" name="Freeform 3625">
              <a:extLst>
                <a:ext uri="{FF2B5EF4-FFF2-40B4-BE49-F238E27FC236}">
                  <a16:creationId xmlns:a16="http://schemas.microsoft.com/office/drawing/2014/main" id="{DCEEE9E8-A5B3-4D81-814B-3132C0A5C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3" y="771525"/>
              <a:ext cx="63500" cy="63500"/>
            </a:xfrm>
            <a:custGeom>
              <a:avLst/>
              <a:gdLst>
                <a:gd name="T0" fmla="*/ 139 w 160"/>
                <a:gd name="T1" fmla="*/ 156 h 160"/>
                <a:gd name="T2" fmla="*/ 144 w 160"/>
                <a:gd name="T3" fmla="*/ 159 h 160"/>
                <a:gd name="T4" fmla="*/ 148 w 160"/>
                <a:gd name="T5" fmla="*/ 160 h 160"/>
                <a:gd name="T6" fmla="*/ 153 w 160"/>
                <a:gd name="T7" fmla="*/ 159 h 160"/>
                <a:gd name="T8" fmla="*/ 157 w 160"/>
                <a:gd name="T9" fmla="*/ 156 h 160"/>
                <a:gd name="T10" fmla="*/ 160 w 160"/>
                <a:gd name="T11" fmla="*/ 153 h 160"/>
                <a:gd name="T12" fmla="*/ 160 w 160"/>
                <a:gd name="T13" fmla="*/ 149 h 160"/>
                <a:gd name="T14" fmla="*/ 160 w 160"/>
                <a:gd name="T15" fmla="*/ 144 h 160"/>
                <a:gd name="T16" fmla="*/ 157 w 160"/>
                <a:gd name="T17" fmla="*/ 140 h 160"/>
                <a:gd name="T18" fmla="*/ 21 w 160"/>
                <a:gd name="T19" fmla="*/ 4 h 160"/>
                <a:gd name="T20" fmla="*/ 16 w 160"/>
                <a:gd name="T21" fmla="*/ 1 h 160"/>
                <a:gd name="T22" fmla="*/ 12 w 160"/>
                <a:gd name="T23" fmla="*/ 0 h 160"/>
                <a:gd name="T24" fmla="*/ 7 w 160"/>
                <a:gd name="T25" fmla="*/ 1 h 160"/>
                <a:gd name="T26" fmla="*/ 3 w 160"/>
                <a:gd name="T27" fmla="*/ 4 h 160"/>
                <a:gd name="T28" fmla="*/ 0 w 160"/>
                <a:gd name="T29" fmla="*/ 7 h 160"/>
                <a:gd name="T30" fmla="*/ 0 w 160"/>
                <a:gd name="T31" fmla="*/ 11 h 160"/>
                <a:gd name="T32" fmla="*/ 0 w 160"/>
                <a:gd name="T33" fmla="*/ 16 h 160"/>
                <a:gd name="T34" fmla="*/ 3 w 160"/>
                <a:gd name="T35" fmla="*/ 20 h 160"/>
                <a:gd name="T36" fmla="*/ 139 w 160"/>
                <a:gd name="T37" fmla="*/ 15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0" h="160">
                  <a:moveTo>
                    <a:pt x="139" y="156"/>
                  </a:moveTo>
                  <a:lnTo>
                    <a:pt x="144" y="159"/>
                  </a:lnTo>
                  <a:lnTo>
                    <a:pt x="148" y="160"/>
                  </a:lnTo>
                  <a:lnTo>
                    <a:pt x="153" y="159"/>
                  </a:lnTo>
                  <a:lnTo>
                    <a:pt x="157" y="156"/>
                  </a:lnTo>
                  <a:lnTo>
                    <a:pt x="160" y="153"/>
                  </a:lnTo>
                  <a:lnTo>
                    <a:pt x="160" y="149"/>
                  </a:lnTo>
                  <a:lnTo>
                    <a:pt x="160" y="144"/>
                  </a:lnTo>
                  <a:lnTo>
                    <a:pt x="157" y="140"/>
                  </a:lnTo>
                  <a:lnTo>
                    <a:pt x="21" y="4"/>
                  </a:lnTo>
                  <a:lnTo>
                    <a:pt x="16" y="1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4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3" y="20"/>
                  </a:lnTo>
                  <a:lnTo>
                    <a:pt x="139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8" name="Group 117" descr="Icon of boxes. ">
            <a:extLst>
              <a:ext uri="{FF2B5EF4-FFF2-40B4-BE49-F238E27FC236}">
                <a16:creationId xmlns:a16="http://schemas.microsoft.com/office/drawing/2014/main" id="{75BF619E-615D-4C1A-A3A1-04DFC90E2F3F}"/>
              </a:ext>
            </a:extLst>
          </p:cNvPr>
          <p:cNvGrpSpPr/>
          <p:nvPr/>
        </p:nvGrpSpPr>
        <p:grpSpPr>
          <a:xfrm>
            <a:off x="11058919" y="1368977"/>
            <a:ext cx="287337" cy="285750"/>
            <a:chOff x="5465763" y="3068638"/>
            <a:chExt cx="287337" cy="285750"/>
          </a:xfrm>
          <a:solidFill>
            <a:schemeClr val="bg1"/>
          </a:solidFill>
        </p:grpSpPr>
        <p:sp>
          <p:nvSpPr>
            <p:cNvPr id="119" name="Freeform 617">
              <a:extLst>
                <a:ext uri="{FF2B5EF4-FFF2-40B4-BE49-F238E27FC236}">
                  <a16:creationId xmlns:a16="http://schemas.microsoft.com/office/drawing/2014/main" id="{01C5157B-D811-44C7-8E5F-D3F25F989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4188" y="3068638"/>
              <a:ext cx="119063" cy="38100"/>
            </a:xfrm>
            <a:custGeom>
              <a:avLst/>
              <a:gdLst>
                <a:gd name="T0" fmla="*/ 375 w 375"/>
                <a:gd name="T1" fmla="*/ 62 h 120"/>
                <a:gd name="T2" fmla="*/ 374 w 375"/>
                <a:gd name="T3" fmla="*/ 62 h 120"/>
                <a:gd name="T4" fmla="*/ 373 w 375"/>
                <a:gd name="T5" fmla="*/ 61 h 120"/>
                <a:gd name="T6" fmla="*/ 193 w 375"/>
                <a:gd name="T7" fmla="*/ 1 h 120"/>
                <a:gd name="T8" fmla="*/ 188 w 375"/>
                <a:gd name="T9" fmla="*/ 0 h 120"/>
                <a:gd name="T10" fmla="*/ 183 w 375"/>
                <a:gd name="T11" fmla="*/ 1 h 120"/>
                <a:gd name="T12" fmla="*/ 2 w 375"/>
                <a:gd name="T13" fmla="*/ 61 h 120"/>
                <a:gd name="T14" fmla="*/ 1 w 375"/>
                <a:gd name="T15" fmla="*/ 62 h 120"/>
                <a:gd name="T16" fmla="*/ 0 w 375"/>
                <a:gd name="T17" fmla="*/ 62 h 120"/>
                <a:gd name="T18" fmla="*/ 188 w 375"/>
                <a:gd name="T19" fmla="*/ 120 h 120"/>
                <a:gd name="T20" fmla="*/ 375 w 375"/>
                <a:gd name="T21" fmla="*/ 6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" h="120">
                  <a:moveTo>
                    <a:pt x="375" y="62"/>
                  </a:moveTo>
                  <a:lnTo>
                    <a:pt x="374" y="62"/>
                  </a:lnTo>
                  <a:lnTo>
                    <a:pt x="373" y="61"/>
                  </a:lnTo>
                  <a:lnTo>
                    <a:pt x="193" y="1"/>
                  </a:lnTo>
                  <a:lnTo>
                    <a:pt x="188" y="0"/>
                  </a:lnTo>
                  <a:lnTo>
                    <a:pt x="183" y="1"/>
                  </a:lnTo>
                  <a:lnTo>
                    <a:pt x="2" y="61"/>
                  </a:lnTo>
                  <a:lnTo>
                    <a:pt x="1" y="62"/>
                  </a:lnTo>
                  <a:lnTo>
                    <a:pt x="0" y="62"/>
                  </a:lnTo>
                  <a:lnTo>
                    <a:pt x="188" y="120"/>
                  </a:lnTo>
                  <a:lnTo>
                    <a:pt x="37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618">
              <a:extLst>
                <a:ext uri="{FF2B5EF4-FFF2-40B4-BE49-F238E27FC236}">
                  <a16:creationId xmlns:a16="http://schemas.microsoft.com/office/drawing/2014/main" id="{90385080-F77C-4175-BA14-BE696271A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275" y="3097213"/>
              <a:ext cx="57150" cy="93663"/>
            </a:xfrm>
            <a:custGeom>
              <a:avLst/>
              <a:gdLst>
                <a:gd name="T0" fmla="*/ 181 w 181"/>
                <a:gd name="T1" fmla="*/ 210 h 295"/>
                <a:gd name="T2" fmla="*/ 181 w 181"/>
                <a:gd name="T3" fmla="*/ 0 h 295"/>
                <a:gd name="T4" fmla="*/ 0 w 181"/>
                <a:gd name="T5" fmla="*/ 56 h 295"/>
                <a:gd name="T6" fmla="*/ 0 w 181"/>
                <a:gd name="T7" fmla="*/ 295 h 295"/>
                <a:gd name="T8" fmla="*/ 171 w 181"/>
                <a:gd name="T9" fmla="*/ 224 h 295"/>
                <a:gd name="T10" fmla="*/ 174 w 181"/>
                <a:gd name="T11" fmla="*/ 222 h 295"/>
                <a:gd name="T12" fmla="*/ 178 w 181"/>
                <a:gd name="T13" fmla="*/ 219 h 295"/>
                <a:gd name="T14" fmla="*/ 180 w 181"/>
                <a:gd name="T15" fmla="*/ 215 h 295"/>
                <a:gd name="T16" fmla="*/ 181 w 181"/>
                <a:gd name="T17" fmla="*/ 21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181" y="210"/>
                  </a:moveTo>
                  <a:lnTo>
                    <a:pt x="181" y="0"/>
                  </a:lnTo>
                  <a:lnTo>
                    <a:pt x="0" y="56"/>
                  </a:lnTo>
                  <a:lnTo>
                    <a:pt x="0" y="295"/>
                  </a:lnTo>
                  <a:lnTo>
                    <a:pt x="171" y="224"/>
                  </a:lnTo>
                  <a:lnTo>
                    <a:pt x="174" y="222"/>
                  </a:lnTo>
                  <a:lnTo>
                    <a:pt x="178" y="219"/>
                  </a:lnTo>
                  <a:lnTo>
                    <a:pt x="180" y="215"/>
                  </a:lnTo>
                  <a:lnTo>
                    <a:pt x="181" y="2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619">
              <a:extLst>
                <a:ext uri="{FF2B5EF4-FFF2-40B4-BE49-F238E27FC236}">
                  <a16:creationId xmlns:a16="http://schemas.microsoft.com/office/drawing/2014/main" id="{B5ABC7AD-DBA6-420E-8EDC-F8D70A034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2600" y="3097213"/>
              <a:ext cx="57150" cy="93663"/>
            </a:xfrm>
            <a:custGeom>
              <a:avLst/>
              <a:gdLst>
                <a:gd name="T0" fmla="*/ 9 w 181"/>
                <a:gd name="T1" fmla="*/ 224 h 295"/>
                <a:gd name="T2" fmla="*/ 181 w 181"/>
                <a:gd name="T3" fmla="*/ 295 h 295"/>
                <a:gd name="T4" fmla="*/ 181 w 181"/>
                <a:gd name="T5" fmla="*/ 56 h 295"/>
                <a:gd name="T6" fmla="*/ 0 w 181"/>
                <a:gd name="T7" fmla="*/ 0 h 295"/>
                <a:gd name="T8" fmla="*/ 0 w 181"/>
                <a:gd name="T9" fmla="*/ 210 h 295"/>
                <a:gd name="T10" fmla="*/ 0 w 181"/>
                <a:gd name="T11" fmla="*/ 215 h 295"/>
                <a:gd name="T12" fmla="*/ 2 w 181"/>
                <a:gd name="T13" fmla="*/ 219 h 295"/>
                <a:gd name="T14" fmla="*/ 6 w 181"/>
                <a:gd name="T15" fmla="*/ 222 h 295"/>
                <a:gd name="T16" fmla="*/ 9 w 181"/>
                <a:gd name="T17" fmla="*/ 22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9" y="224"/>
                  </a:moveTo>
                  <a:lnTo>
                    <a:pt x="181" y="295"/>
                  </a:lnTo>
                  <a:lnTo>
                    <a:pt x="181" y="56"/>
                  </a:lnTo>
                  <a:lnTo>
                    <a:pt x="0" y="0"/>
                  </a:lnTo>
                  <a:lnTo>
                    <a:pt x="0" y="210"/>
                  </a:lnTo>
                  <a:lnTo>
                    <a:pt x="0" y="215"/>
                  </a:lnTo>
                  <a:lnTo>
                    <a:pt x="2" y="219"/>
                  </a:lnTo>
                  <a:lnTo>
                    <a:pt x="6" y="222"/>
                  </a:lnTo>
                  <a:lnTo>
                    <a:pt x="9" y="2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620">
              <a:extLst>
                <a:ext uri="{FF2B5EF4-FFF2-40B4-BE49-F238E27FC236}">
                  <a16:creationId xmlns:a16="http://schemas.microsoft.com/office/drawing/2014/main" id="{9AF2E18D-3033-4D0D-B36E-B08820967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5475" y="3217863"/>
              <a:ext cx="47625" cy="77788"/>
            </a:xfrm>
            <a:custGeom>
              <a:avLst/>
              <a:gdLst>
                <a:gd name="T0" fmla="*/ 0 w 150"/>
                <a:gd name="T1" fmla="*/ 67 h 249"/>
                <a:gd name="T2" fmla="*/ 0 w 150"/>
                <a:gd name="T3" fmla="*/ 249 h 249"/>
                <a:gd name="T4" fmla="*/ 141 w 150"/>
                <a:gd name="T5" fmla="*/ 177 h 249"/>
                <a:gd name="T6" fmla="*/ 146 w 150"/>
                <a:gd name="T7" fmla="*/ 175 h 249"/>
                <a:gd name="T8" fmla="*/ 148 w 150"/>
                <a:gd name="T9" fmla="*/ 171 h 249"/>
                <a:gd name="T10" fmla="*/ 149 w 150"/>
                <a:gd name="T11" fmla="*/ 168 h 249"/>
                <a:gd name="T12" fmla="*/ 150 w 150"/>
                <a:gd name="T13" fmla="*/ 164 h 249"/>
                <a:gd name="T14" fmla="*/ 150 w 150"/>
                <a:gd name="T15" fmla="*/ 0 h 249"/>
                <a:gd name="T16" fmla="*/ 0 w 150"/>
                <a:gd name="T17" fmla="*/ 67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0" h="249">
                  <a:moveTo>
                    <a:pt x="0" y="67"/>
                  </a:moveTo>
                  <a:lnTo>
                    <a:pt x="0" y="249"/>
                  </a:lnTo>
                  <a:lnTo>
                    <a:pt x="141" y="177"/>
                  </a:lnTo>
                  <a:lnTo>
                    <a:pt x="146" y="175"/>
                  </a:lnTo>
                  <a:lnTo>
                    <a:pt x="148" y="171"/>
                  </a:lnTo>
                  <a:lnTo>
                    <a:pt x="149" y="168"/>
                  </a:lnTo>
                  <a:lnTo>
                    <a:pt x="150" y="164"/>
                  </a:lnTo>
                  <a:lnTo>
                    <a:pt x="150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Freeform 621">
              <a:extLst>
                <a:ext uri="{FF2B5EF4-FFF2-40B4-BE49-F238E27FC236}">
                  <a16:creationId xmlns:a16="http://schemas.microsoft.com/office/drawing/2014/main" id="{10DED026-CA17-4314-AA7F-A291474A6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6263" y="3192463"/>
              <a:ext cx="88900" cy="38100"/>
            </a:xfrm>
            <a:custGeom>
              <a:avLst/>
              <a:gdLst>
                <a:gd name="T0" fmla="*/ 146 w 281"/>
                <a:gd name="T1" fmla="*/ 2 h 120"/>
                <a:gd name="T2" fmla="*/ 143 w 281"/>
                <a:gd name="T3" fmla="*/ 0 h 120"/>
                <a:gd name="T4" fmla="*/ 141 w 281"/>
                <a:gd name="T5" fmla="*/ 0 h 120"/>
                <a:gd name="T6" fmla="*/ 138 w 281"/>
                <a:gd name="T7" fmla="*/ 0 h 120"/>
                <a:gd name="T8" fmla="*/ 134 w 281"/>
                <a:gd name="T9" fmla="*/ 2 h 120"/>
                <a:gd name="T10" fmla="*/ 0 w 281"/>
                <a:gd name="T11" fmla="*/ 55 h 120"/>
                <a:gd name="T12" fmla="*/ 141 w 281"/>
                <a:gd name="T13" fmla="*/ 120 h 120"/>
                <a:gd name="T14" fmla="*/ 281 w 281"/>
                <a:gd name="T15" fmla="*/ 55 h 120"/>
                <a:gd name="T16" fmla="*/ 146 w 281"/>
                <a:gd name="T17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1" h="120">
                  <a:moveTo>
                    <a:pt x="146" y="2"/>
                  </a:moveTo>
                  <a:lnTo>
                    <a:pt x="143" y="0"/>
                  </a:lnTo>
                  <a:lnTo>
                    <a:pt x="141" y="0"/>
                  </a:lnTo>
                  <a:lnTo>
                    <a:pt x="138" y="0"/>
                  </a:lnTo>
                  <a:lnTo>
                    <a:pt x="134" y="2"/>
                  </a:lnTo>
                  <a:lnTo>
                    <a:pt x="0" y="55"/>
                  </a:lnTo>
                  <a:lnTo>
                    <a:pt x="141" y="120"/>
                  </a:lnTo>
                  <a:lnTo>
                    <a:pt x="281" y="55"/>
                  </a:lnTo>
                  <a:lnTo>
                    <a:pt x="146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622">
              <a:extLst>
                <a:ext uri="{FF2B5EF4-FFF2-40B4-BE49-F238E27FC236}">
                  <a16:creationId xmlns:a16="http://schemas.microsoft.com/office/drawing/2014/main" id="{AC238F9B-3904-4E03-9BCD-C8546D347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8325" y="3217863"/>
              <a:ext cx="47625" cy="77788"/>
            </a:xfrm>
            <a:custGeom>
              <a:avLst/>
              <a:gdLst>
                <a:gd name="T0" fmla="*/ 0 w 151"/>
                <a:gd name="T1" fmla="*/ 164 h 249"/>
                <a:gd name="T2" fmla="*/ 1 w 151"/>
                <a:gd name="T3" fmla="*/ 167 h 249"/>
                <a:gd name="T4" fmla="*/ 2 w 151"/>
                <a:gd name="T5" fmla="*/ 171 h 249"/>
                <a:gd name="T6" fmla="*/ 5 w 151"/>
                <a:gd name="T7" fmla="*/ 175 h 249"/>
                <a:gd name="T8" fmla="*/ 8 w 151"/>
                <a:gd name="T9" fmla="*/ 177 h 249"/>
                <a:gd name="T10" fmla="*/ 151 w 151"/>
                <a:gd name="T11" fmla="*/ 249 h 249"/>
                <a:gd name="T12" fmla="*/ 151 w 151"/>
                <a:gd name="T13" fmla="*/ 67 h 249"/>
                <a:gd name="T14" fmla="*/ 0 w 151"/>
                <a:gd name="T15" fmla="*/ 0 h 249"/>
                <a:gd name="T16" fmla="*/ 0 w 151"/>
                <a:gd name="T17" fmla="*/ 164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1" h="249">
                  <a:moveTo>
                    <a:pt x="0" y="164"/>
                  </a:moveTo>
                  <a:lnTo>
                    <a:pt x="1" y="167"/>
                  </a:lnTo>
                  <a:lnTo>
                    <a:pt x="2" y="171"/>
                  </a:lnTo>
                  <a:lnTo>
                    <a:pt x="5" y="175"/>
                  </a:lnTo>
                  <a:lnTo>
                    <a:pt x="8" y="177"/>
                  </a:lnTo>
                  <a:lnTo>
                    <a:pt x="151" y="249"/>
                  </a:lnTo>
                  <a:lnTo>
                    <a:pt x="151" y="67"/>
                  </a:lnTo>
                  <a:lnTo>
                    <a:pt x="0" y="0"/>
                  </a:lnTo>
                  <a:lnTo>
                    <a:pt x="0" y="1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623">
              <a:extLst>
                <a:ext uri="{FF2B5EF4-FFF2-40B4-BE49-F238E27FC236}">
                  <a16:creationId xmlns:a16="http://schemas.microsoft.com/office/drawing/2014/main" id="{19E2AFFE-6F2F-4A41-BE44-30D95498E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5288" y="3201988"/>
              <a:ext cx="144463" cy="47625"/>
            </a:xfrm>
            <a:custGeom>
              <a:avLst/>
              <a:gdLst>
                <a:gd name="T0" fmla="*/ 231 w 452"/>
                <a:gd name="T1" fmla="*/ 2 h 151"/>
                <a:gd name="T2" fmla="*/ 225 w 452"/>
                <a:gd name="T3" fmla="*/ 0 h 151"/>
                <a:gd name="T4" fmla="*/ 221 w 452"/>
                <a:gd name="T5" fmla="*/ 2 h 151"/>
                <a:gd name="T6" fmla="*/ 0 w 452"/>
                <a:gd name="T7" fmla="*/ 70 h 151"/>
                <a:gd name="T8" fmla="*/ 225 w 452"/>
                <a:gd name="T9" fmla="*/ 151 h 151"/>
                <a:gd name="T10" fmla="*/ 452 w 452"/>
                <a:gd name="T11" fmla="*/ 70 h 151"/>
                <a:gd name="T12" fmla="*/ 231 w 452"/>
                <a:gd name="T13" fmla="*/ 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151">
                  <a:moveTo>
                    <a:pt x="231" y="2"/>
                  </a:moveTo>
                  <a:lnTo>
                    <a:pt x="225" y="0"/>
                  </a:lnTo>
                  <a:lnTo>
                    <a:pt x="221" y="2"/>
                  </a:lnTo>
                  <a:lnTo>
                    <a:pt x="0" y="70"/>
                  </a:lnTo>
                  <a:lnTo>
                    <a:pt x="225" y="151"/>
                  </a:lnTo>
                  <a:lnTo>
                    <a:pt x="452" y="70"/>
                  </a:lnTo>
                  <a:lnTo>
                    <a:pt x="231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624">
              <a:extLst>
                <a:ext uri="{FF2B5EF4-FFF2-40B4-BE49-F238E27FC236}">
                  <a16:creationId xmlns:a16="http://schemas.microsoft.com/office/drawing/2014/main" id="{5BB7C855-93D5-43D5-9ED8-FD815B08E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230563"/>
              <a:ext cx="76200" cy="123825"/>
            </a:xfrm>
            <a:custGeom>
              <a:avLst/>
              <a:gdLst>
                <a:gd name="T0" fmla="*/ 0 w 240"/>
                <a:gd name="T1" fmla="*/ 285 h 386"/>
                <a:gd name="T2" fmla="*/ 1 w 240"/>
                <a:gd name="T3" fmla="*/ 289 h 386"/>
                <a:gd name="T4" fmla="*/ 2 w 240"/>
                <a:gd name="T5" fmla="*/ 294 h 386"/>
                <a:gd name="T6" fmla="*/ 5 w 240"/>
                <a:gd name="T7" fmla="*/ 297 h 386"/>
                <a:gd name="T8" fmla="*/ 10 w 240"/>
                <a:gd name="T9" fmla="*/ 299 h 386"/>
                <a:gd name="T10" fmla="*/ 240 w 240"/>
                <a:gd name="T11" fmla="*/ 386 h 386"/>
                <a:gd name="T12" fmla="*/ 240 w 240"/>
                <a:gd name="T13" fmla="*/ 84 h 386"/>
                <a:gd name="T14" fmla="*/ 0 w 240"/>
                <a:gd name="T15" fmla="*/ 0 h 386"/>
                <a:gd name="T16" fmla="*/ 0 w 240"/>
                <a:gd name="T17" fmla="*/ 285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386">
                  <a:moveTo>
                    <a:pt x="0" y="285"/>
                  </a:moveTo>
                  <a:lnTo>
                    <a:pt x="1" y="289"/>
                  </a:lnTo>
                  <a:lnTo>
                    <a:pt x="2" y="294"/>
                  </a:lnTo>
                  <a:lnTo>
                    <a:pt x="5" y="297"/>
                  </a:lnTo>
                  <a:lnTo>
                    <a:pt x="10" y="299"/>
                  </a:lnTo>
                  <a:lnTo>
                    <a:pt x="240" y="386"/>
                  </a:lnTo>
                  <a:lnTo>
                    <a:pt x="240" y="84"/>
                  </a:lnTo>
                  <a:lnTo>
                    <a:pt x="0" y="0"/>
                  </a:lnTo>
                  <a:lnTo>
                    <a:pt x="0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Freeform 625">
              <a:extLst>
                <a:ext uri="{FF2B5EF4-FFF2-40B4-BE49-F238E27FC236}">
                  <a16:creationId xmlns:a16="http://schemas.microsoft.com/office/drawing/2014/main" id="{AE6F08CF-736A-40B8-AEB8-D64B67F37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3075" y="3230563"/>
              <a:ext cx="76200" cy="123825"/>
            </a:xfrm>
            <a:custGeom>
              <a:avLst/>
              <a:gdLst>
                <a:gd name="T0" fmla="*/ 0 w 241"/>
                <a:gd name="T1" fmla="*/ 386 h 386"/>
                <a:gd name="T2" fmla="*/ 231 w 241"/>
                <a:gd name="T3" fmla="*/ 299 h 386"/>
                <a:gd name="T4" fmla="*/ 235 w 241"/>
                <a:gd name="T5" fmla="*/ 297 h 386"/>
                <a:gd name="T6" fmla="*/ 238 w 241"/>
                <a:gd name="T7" fmla="*/ 294 h 386"/>
                <a:gd name="T8" fmla="*/ 239 w 241"/>
                <a:gd name="T9" fmla="*/ 289 h 386"/>
                <a:gd name="T10" fmla="*/ 241 w 241"/>
                <a:gd name="T11" fmla="*/ 285 h 386"/>
                <a:gd name="T12" fmla="*/ 241 w 241"/>
                <a:gd name="T13" fmla="*/ 0 h 386"/>
                <a:gd name="T14" fmla="*/ 0 w 241"/>
                <a:gd name="T15" fmla="*/ 84 h 386"/>
                <a:gd name="T16" fmla="*/ 0 w 241"/>
                <a:gd name="T17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1" h="386">
                  <a:moveTo>
                    <a:pt x="0" y="386"/>
                  </a:moveTo>
                  <a:lnTo>
                    <a:pt x="231" y="299"/>
                  </a:lnTo>
                  <a:lnTo>
                    <a:pt x="235" y="297"/>
                  </a:lnTo>
                  <a:lnTo>
                    <a:pt x="238" y="294"/>
                  </a:lnTo>
                  <a:lnTo>
                    <a:pt x="239" y="289"/>
                  </a:lnTo>
                  <a:lnTo>
                    <a:pt x="241" y="285"/>
                  </a:lnTo>
                  <a:lnTo>
                    <a:pt x="241" y="0"/>
                  </a:lnTo>
                  <a:lnTo>
                    <a:pt x="0" y="84"/>
                  </a:lnTo>
                  <a:lnTo>
                    <a:pt x="0" y="3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28" name="Group 127" descr="Icon of human being and speech bubble. ">
            <a:extLst>
              <a:ext uri="{FF2B5EF4-FFF2-40B4-BE49-F238E27FC236}">
                <a16:creationId xmlns:a16="http://schemas.microsoft.com/office/drawing/2014/main" id="{E7EE81F4-E278-4BA7-8923-0D6DD1FEBDFA}"/>
              </a:ext>
            </a:extLst>
          </p:cNvPr>
          <p:cNvGrpSpPr/>
          <p:nvPr/>
        </p:nvGrpSpPr>
        <p:grpSpPr>
          <a:xfrm>
            <a:off x="9918300" y="1368977"/>
            <a:ext cx="284163" cy="285751"/>
            <a:chOff x="3171788" y="779462"/>
            <a:chExt cx="284163" cy="285751"/>
          </a:xfrm>
          <a:solidFill>
            <a:schemeClr val="bg1"/>
          </a:solidFill>
        </p:grpSpPr>
        <p:sp>
          <p:nvSpPr>
            <p:cNvPr id="129" name="Freeform 2993">
              <a:extLst>
                <a:ext uri="{FF2B5EF4-FFF2-40B4-BE49-F238E27FC236}">
                  <a16:creationId xmlns:a16="http://schemas.microsoft.com/office/drawing/2014/main" id="{DA50A160-1A41-427D-BA06-CB32B8C49A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Freeform 2994">
              <a:extLst>
                <a:ext uri="{FF2B5EF4-FFF2-40B4-BE49-F238E27FC236}">
                  <a16:creationId xmlns:a16="http://schemas.microsoft.com/office/drawing/2014/main" id="{983071EF-DBDF-4331-848B-74957C821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3D7D3F3-ED08-4CA9-8310-32E50A7B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987283" y="5462588"/>
            <a:ext cx="0" cy="795337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31EA4B-59D6-B447-7315-4B5BDFFC7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853521"/>
              </p:ext>
            </p:extLst>
          </p:nvPr>
        </p:nvGraphicFramePr>
        <p:xfrm>
          <a:off x="351237" y="842476"/>
          <a:ext cx="3717926" cy="2814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7926">
                  <a:extLst>
                    <a:ext uri="{9D8B030D-6E8A-4147-A177-3AD203B41FA5}">
                      <a16:colId xmlns:a16="http://schemas.microsoft.com/office/drawing/2014/main" val="2216975310"/>
                    </a:ext>
                  </a:extLst>
                </a:gridCol>
              </a:tblGrid>
              <a:tr h="2814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weather in which casual and registered clients are travelling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7174153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75C64E-5EFF-361F-5071-16B9F1195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880998"/>
              </p:ext>
            </p:extLst>
          </p:nvPr>
        </p:nvGraphicFramePr>
        <p:xfrm>
          <a:off x="360760" y="1351832"/>
          <a:ext cx="3352800" cy="838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634892713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1996555914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82257225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Weather type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Casual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Registered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0423827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3211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34162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82746109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1538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16568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556796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171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2618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387314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35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1514279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77A9AE9-355E-4BFD-B10C-F0A2F32C6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696" y="1276271"/>
            <a:ext cx="3267531" cy="1124107"/>
          </a:xfrm>
          <a:prstGeom prst="rect">
            <a:avLst/>
          </a:prstGeom>
        </p:spPr>
      </p:pic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CCCAC6D-6EF9-D4B9-63C9-5EFB91E664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1419535"/>
              </p:ext>
            </p:extLst>
          </p:nvPr>
        </p:nvGraphicFramePr>
        <p:xfrm>
          <a:off x="405608" y="2704014"/>
          <a:ext cx="6436913" cy="37729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75445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A588A72A-976E-478A-9DD3-765AB3ED4C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330200" y="311203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B881E1-78A4-4AB0-22B2-A5427AA6C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371003"/>
              </p:ext>
            </p:extLst>
          </p:nvPr>
        </p:nvGraphicFramePr>
        <p:xfrm>
          <a:off x="330200" y="699631"/>
          <a:ext cx="1968500" cy="502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2788">
                  <a:extLst>
                    <a:ext uri="{9D8B030D-6E8A-4147-A177-3AD203B41FA5}">
                      <a16:colId xmlns:a16="http://schemas.microsoft.com/office/drawing/2014/main" val="1073738136"/>
                    </a:ext>
                  </a:extLst>
                </a:gridCol>
                <a:gridCol w="506412">
                  <a:extLst>
                    <a:ext uri="{9D8B030D-6E8A-4147-A177-3AD203B41FA5}">
                      <a16:colId xmlns:a16="http://schemas.microsoft.com/office/drawing/2014/main" val="2381004551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4072027252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Casual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Registered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297771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Non-holiday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4804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52500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4560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Holiday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117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883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55329665"/>
                  </a:ext>
                </a:extLst>
              </a:tr>
            </a:tbl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E744994-F1CC-B9B3-0097-B8A1C70870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2547247"/>
              </p:ext>
            </p:extLst>
          </p:nvPr>
        </p:nvGraphicFramePr>
        <p:xfrm>
          <a:off x="330200" y="1294130"/>
          <a:ext cx="4604422" cy="2821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28BB5AC-0001-4932-7400-2404A889D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748" y="1202551"/>
            <a:ext cx="3600953" cy="195289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DA30524-C118-975A-33C8-64C64292026A}"/>
              </a:ext>
            </a:extLst>
          </p:cNvPr>
          <p:cNvSpPr txBox="1"/>
          <p:nvPr/>
        </p:nvSpPr>
        <p:spPr>
          <a:xfrm>
            <a:off x="5545931" y="765733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800" u="none" strike="noStrike" dirty="0">
                <a:effectLst/>
              </a:rPr>
              <a:t>Weekdays VS Weekends</a:t>
            </a: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F6C69407-9084-618B-6F96-C5FC816F95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6509659"/>
              </p:ext>
            </p:extLst>
          </p:nvPr>
        </p:nvGraphicFramePr>
        <p:xfrm>
          <a:off x="2367915" y="4207649"/>
          <a:ext cx="343662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D51321B5-0329-0EAA-A484-E5A582C970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8891170"/>
              </p:ext>
            </p:extLst>
          </p:nvPr>
        </p:nvGraphicFramePr>
        <p:xfrm>
          <a:off x="6096000" y="4207649"/>
          <a:ext cx="5084445" cy="2339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727364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7C70995F-D8C5-410A-AA8B-1EE172A294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10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A2C1B674-1148-840B-BDB8-198F0AA7A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34012" y="966656"/>
            <a:ext cx="1838325" cy="2247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4BB295-FBFF-BCE3-E6AC-96627CA793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966656"/>
            <a:ext cx="4991797" cy="1876687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B806A938-7D86-8855-3C68-1099D9C172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94964"/>
              </p:ext>
            </p:extLst>
          </p:nvPr>
        </p:nvGraphicFramePr>
        <p:xfrm>
          <a:off x="7485952" y="85529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061713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1775" y="123153"/>
            <a:ext cx="6791325" cy="664797"/>
          </a:xfrm>
        </p:spPr>
        <p:txBody>
          <a:bodyPr wrap="square" lIns="0" tIns="0" rIns="0" bIns="0" anchor="ctr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>
              <a:solidFill>
                <a:schemeClr val="accent4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34740F-9BCC-7986-C870-6C21FD3B0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951283"/>
            <a:ext cx="11182350" cy="513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609EDA-869E-4BE5-AE5D-B898C584B6F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51</TotalTime>
  <Words>653</Words>
  <Application>Microsoft Office PowerPoint</Application>
  <PresentationFormat>Widescreen</PresentationFormat>
  <Paragraphs>286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Segoe UI</vt:lpstr>
      <vt:lpstr>Segoe UI Light</vt:lpstr>
      <vt:lpstr>Office Theme</vt:lpstr>
      <vt:lpstr>Project Analysis Of Bike Sharing Data Analysis </vt:lpstr>
      <vt:lpstr>Project analysis slide 2</vt:lpstr>
      <vt:lpstr>Project analysis slide 6</vt:lpstr>
      <vt:lpstr>Project analysis slide 3</vt:lpstr>
      <vt:lpstr>Project analysis slide 4</vt:lpstr>
      <vt:lpstr>Project analysis slide 5</vt:lpstr>
      <vt:lpstr>Project analysis slide 6</vt:lpstr>
      <vt:lpstr>Project analysis slide 7</vt:lpstr>
      <vt:lpstr>Project analysis slide 8</vt:lpstr>
      <vt:lpstr>Project analysis slide 10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Roshani</dc:creator>
  <cp:lastModifiedBy>Roshni Mor</cp:lastModifiedBy>
  <cp:revision>1</cp:revision>
  <dcterms:created xsi:type="dcterms:W3CDTF">2025-10-15T20:07:20Z</dcterms:created>
  <dcterms:modified xsi:type="dcterms:W3CDTF">2025-10-15T20:58:34Z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